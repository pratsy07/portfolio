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317"/>
    <p:restoredTop sz="94610"/>
  </p:normalViewPr>
  <p:slideViewPr>
    <p:cSldViewPr snapToGrid="0" snapToObjects="1">
      <p:cViewPr varScale="1">
        <p:scale>
          <a:sx n="107" d="100"/>
          <a:sy n="107" d="100"/>
        </p:scale>
        <p:origin x="52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6236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Internal concept visual created for this deck: /mnt/data/dunnes_assets/cover.png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Kantar, “Irish grocery sales hit record-breaking €1.5bn in festive spending spree”, 12 Jan 2026.
- Dunnes Stores Company Overview, accessed 2026-04-02.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Dunnes Stores Our Story / Company Overview, accessed 2026-04-02: first store opened 31 March 1944; 134 stores; fashion, food and homewares.
- Kantar, “Irish grocery sales hit record-breaking €1.5bn in festive spending spree”, published 12 Jan 2026.
- Dunnes Stores VALUEclub, App and Value Club Promotions pages, accessed 2026-04-02.
[/Sources]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Tesco Clubcard official site, accessed 2026-04-02: points, vouchers and reward partners.
- Dunnes Stores Company Overview, Our Brands and VALUEclub pages, accessed 2026-04-02.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Dunnes Stores Simply Better page, accessed 2026-04-02.
- Dunnes Stores Simply Better Producers page, accessed 2026-04-02.
- Dunnes Stores Our Brands / Our Story / App / VALUEclub pages, accessed 2026-04-02.
- Internal concept crops for food, fashion and home visuals created from prior deck imagery.
[/Sources]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Strategic audience synthesis based on the user brief, official Dunnes offer architecture and observed competitor dynamics. No external statistics are asserted on this slide.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Internal campaign concept and cover visual created for this deck.
[/Sources]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Strategic framing and before/after state are recommendations developed for this deck. No external statistics are asserted on this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Internal packaging concept visual created for this deck: /mnt/data/dunnes_assets/packaging_slide.png
[/Sources]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Re-turn official site, accessed 2026-04-02: eligible containers, retailer role, cost-neutral handling fee and returns behaviour.
- Dunnes Stores Grocery product listing: Baxter &amp; Greene Freshly Squeezed Orange Juice 500ml, accessed 2026-04-02.
- Strategic activation recommendations on this slide are proposed, not current Dunnes executions.
[/Sources]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Dunnes Stores App / VALUEclub pages, accessed 2026-04-02.
- Kantar online grocery share line used as context for digital relevance.
- Media roles and recommendations are proposed strategy for this campaign.
[/Sources]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 architecture and channel roles on this slide are proposed planning recommendations for the campaign.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KPI figures on this slide are proposed campaign targets for planning purposes, not externally sourced historical results.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Strategic rollout recommendation prepared for this deck.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12188952" cy="36576"/>
          </a:xfrm>
          <a:prstGeom prst="rect">
            <a:avLst/>
          </a:prstGeom>
          <a:solidFill>
            <a:srgbClr val="C8B998"/>
          </a:solidFill>
          <a:ln w="12700">
            <a:solidFill>
              <a:srgbClr val="C8B998"/>
            </a:solidFill>
            <a:prstDash val="solid"/>
          </a:ln>
        </p:spPr>
        <p:txBody>
          <a:bodyPr/>
          <a:lstStyle/>
          <a:p>
            <a:endParaRPr lang="en-US"/>
          </a:p>
        </p:txBody>
      </p:sp>
      <p:sp>
        <p:nvSpPr>
          <p:cNvPr id="3" name="Shape 1"/>
          <p:cNvSpPr/>
          <p:nvPr/>
        </p:nvSpPr>
        <p:spPr>
          <a:xfrm>
            <a:off x="0" y="6812280"/>
            <a:ext cx="12188952" cy="45720"/>
          </a:xfrm>
          <a:prstGeom prst="rect">
            <a:avLst/>
          </a:prstGeom>
          <a:solidFill>
            <a:srgbClr val="E2D8C7"/>
          </a:solidFill>
          <a:ln w="12700">
            <a:solidFill>
              <a:srgbClr val="E2D8C7"/>
            </a:solidFill>
            <a:prstDash val="solid"/>
          </a:ln>
        </p:spPr>
        <p:txBody>
          <a:bodyPr/>
          <a:lstStyle/>
          <a:p>
            <a:endParaRPr lang="en-US"/>
          </a:p>
        </p:txBody>
      </p:sp>
      <p:sp>
        <p:nvSpPr>
          <p:cNvPr id="25" name="Slide Number Placeholder 0"/>
          <p:cNvSpPr>
            <a:spLocks noGrp="1"/>
          </p:cNvSpPr>
          <p:nvPr>
            <p:ph type="sldNum" sz="quarter" idx="4294967295"/>
          </p:nvPr>
        </p:nvSpPr>
        <p:spPr>
          <a:xfrm>
            <a:off x="11658600" y="109728"/>
            <a:ext cx="32004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7D746A"/>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58600" y="109728"/>
            <a:ext cx="32004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7D746A"/>
                </a:solidFill>
                <a:latin typeface="Aptos"/>
                <a:ea typeface="Aptos"/>
                <a:cs typeface="Apto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mnt/data/dunnes_assets/cover.png"/>
          <p:cNvPicPr>
            <a:picLocks noChangeAspect="1"/>
          </p:cNvPicPr>
          <p:nvPr/>
        </p:nvPicPr>
        <p:blipFill>
          <a:blip r:embed="rId3"/>
          <a:srcRect l="1945" t="2195" b="1344"/>
          <a:stretch>
            <a:fillRect/>
          </a:stretch>
        </p:blipFill>
        <p:spPr>
          <a:xfrm>
            <a:off x="1" y="0"/>
            <a:ext cx="12191999" cy="6272784"/>
          </a:xfrm>
          <a:prstGeom prst="rect">
            <a:avLst/>
          </a:prstGeom>
        </p:spPr>
      </p:pic>
      <p:sp>
        <p:nvSpPr>
          <p:cNvPr id="3" name="Shape 0"/>
          <p:cNvSpPr/>
          <p:nvPr/>
        </p:nvSpPr>
        <p:spPr>
          <a:xfrm>
            <a:off x="0" y="6272784"/>
            <a:ext cx="12188952" cy="585216"/>
          </a:xfrm>
          <a:prstGeom prst="rect">
            <a:avLst/>
          </a:prstGeom>
          <a:solidFill>
            <a:srgbClr val="0D322B">
              <a:alpha val="92000"/>
            </a:srgbClr>
          </a:solidFill>
          <a:ln w="12700">
            <a:solidFill>
              <a:srgbClr val="0D322B">
                <a:alpha val="0"/>
              </a:srgbClr>
            </a:solidFill>
            <a:prstDash val="solid"/>
          </a:ln>
        </p:spPr>
        <p:txBody>
          <a:bodyPr/>
          <a:lstStyle/>
          <a:p>
            <a:endParaRPr lang="en-US"/>
          </a:p>
        </p:txBody>
      </p:sp>
      <p:sp>
        <p:nvSpPr>
          <p:cNvPr id="4" name="Text 1"/>
          <p:cNvSpPr/>
          <p:nvPr/>
        </p:nvSpPr>
        <p:spPr>
          <a:xfrm>
            <a:off x="548640" y="6391656"/>
            <a:ext cx="4389120" cy="164592"/>
          </a:xfrm>
          <a:prstGeom prst="rect">
            <a:avLst/>
          </a:prstGeom>
          <a:noFill/>
          <a:ln/>
        </p:spPr>
        <p:txBody>
          <a:bodyPr wrap="square" rtlCol="0" anchor="ctr"/>
          <a:lstStyle/>
          <a:p>
            <a:pPr marL="0" indent="0">
              <a:buNone/>
            </a:pPr>
            <a:r>
              <a:rPr lang="en-US" sz="1000" dirty="0">
                <a:solidFill>
                  <a:srgbClr val="D9E5DE"/>
                </a:solidFill>
                <a:latin typeface="Aptos" pitchFamily="34" charset="0"/>
                <a:ea typeface="Aptos" pitchFamily="34" charset="-122"/>
                <a:cs typeface="Aptos" pitchFamily="34" charset="-120"/>
              </a:rPr>
              <a:t>Strategic campaign, packaging and media plan</a:t>
            </a:r>
            <a:endParaRPr lang="en-US" sz="1000" dirty="0"/>
          </a:p>
        </p:txBody>
      </p:sp>
      <p:sp>
        <p:nvSpPr>
          <p:cNvPr id="5" name="Text 2"/>
          <p:cNvSpPr/>
          <p:nvPr/>
        </p:nvSpPr>
        <p:spPr>
          <a:xfrm>
            <a:off x="9326880" y="6391656"/>
            <a:ext cx="2377440" cy="164592"/>
          </a:xfrm>
          <a:prstGeom prst="rect">
            <a:avLst/>
          </a:prstGeom>
          <a:noFill/>
          <a:ln/>
        </p:spPr>
        <p:txBody>
          <a:bodyPr wrap="square" rtlCol="0" anchor="ctr"/>
          <a:lstStyle/>
          <a:p>
            <a:pPr marL="0" indent="0" algn="r">
              <a:buNone/>
            </a:pPr>
            <a:r>
              <a:rPr lang="en-US" sz="1000" dirty="0">
                <a:solidFill>
                  <a:srgbClr val="D9E5DE"/>
                </a:solidFill>
                <a:latin typeface="Aptos" pitchFamily="34" charset="0"/>
                <a:ea typeface="Aptos" pitchFamily="34" charset="-122"/>
                <a:cs typeface="Aptos" pitchFamily="34" charset="-120"/>
              </a:rPr>
              <a:t>Dunnes Stores | April 2026</a:t>
            </a:r>
            <a:endParaRPr lang="en-US" sz="1000" dirty="0"/>
          </a:p>
        </p:txBody>
      </p:sp>
      <p:sp>
        <p:nvSpPr>
          <p:cNvPr id="25" name="Slide Number Placeholder 0"/>
          <p:cNvSpPr>
            <a:spLocks noGrp="1"/>
          </p:cNvSpPr>
          <p:nvPr>
            <p:ph type="sldNum" sz="quarter" idx="4294967295"/>
          </p:nvPr>
        </p:nvSpPr>
        <p:spPr>
          <a:xfrm>
            <a:off x="11658600" y="109728"/>
            <a:ext cx="32004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7D746A"/>
                </a:solidFill>
                <a:latin typeface="Aptos"/>
                <a:ea typeface="Aptos"/>
                <a:cs typeface="Aptos"/>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1"/>
          <p:cNvSpPr/>
          <p:nvPr/>
        </p:nvSpPr>
        <p:spPr>
          <a:xfrm>
            <a:off x="914400" y="310896"/>
            <a:ext cx="2286000" cy="164592"/>
          </a:xfrm>
          <a:prstGeom prst="rect">
            <a:avLst/>
          </a:prstGeom>
          <a:noFill/>
          <a:ln/>
        </p:spPr>
        <p:txBody>
          <a:bodyPr wrap="square" rtlCol="0" anchor="ctr"/>
          <a:lstStyle/>
          <a:p>
            <a:pPr marL="0" indent="0">
              <a:buNone/>
            </a:pPr>
            <a:r>
              <a:rPr lang="en-US" sz="900" b="1" dirty="0">
                <a:solidFill>
                  <a:srgbClr val="C96E4D"/>
                </a:solidFill>
                <a:latin typeface="Aptos" pitchFamily="34" charset="0"/>
                <a:ea typeface="Aptos" pitchFamily="34" charset="-122"/>
                <a:cs typeface="Aptos" pitchFamily="34" charset="-120"/>
              </a:rPr>
              <a:t>STRATEGIC SUMMARY</a:t>
            </a:r>
            <a:endParaRPr lang="en-US" sz="900" dirty="0"/>
          </a:p>
        </p:txBody>
      </p:sp>
      <p:sp>
        <p:nvSpPr>
          <p:cNvPr id="4" name="Text 2"/>
          <p:cNvSpPr/>
          <p:nvPr/>
        </p:nvSpPr>
        <p:spPr>
          <a:xfrm>
            <a:off x="868680" y="530352"/>
            <a:ext cx="10424160" cy="502920"/>
          </a:xfrm>
          <a:prstGeom prst="rect">
            <a:avLst/>
          </a:prstGeom>
          <a:noFill/>
          <a:ln/>
        </p:spPr>
        <p:txBody>
          <a:bodyPr wrap="square" rtlCol="0" anchor="ctr"/>
          <a:lstStyle/>
          <a:p>
            <a:pPr marL="0" indent="0">
              <a:buNone/>
            </a:pPr>
            <a:r>
              <a:rPr lang="en-US" sz="2400" b="1" dirty="0">
                <a:solidFill>
                  <a:srgbClr val="113E36"/>
                </a:solidFill>
                <a:latin typeface="Georgia" pitchFamily="34" charset="0"/>
                <a:ea typeface="Georgia" pitchFamily="34" charset="-122"/>
                <a:cs typeface="Georgia" pitchFamily="34" charset="-120"/>
              </a:rPr>
              <a:t>What this campaign is designed to fix</a:t>
            </a:r>
            <a:endParaRPr lang="en-US" sz="2400" dirty="0"/>
          </a:p>
        </p:txBody>
      </p:sp>
      <p:sp>
        <p:nvSpPr>
          <p:cNvPr id="5" name="Shape 3"/>
          <p:cNvSpPr/>
          <p:nvPr/>
        </p:nvSpPr>
        <p:spPr>
          <a:xfrm>
            <a:off x="868680" y="1078992"/>
            <a:ext cx="10698480" cy="0"/>
          </a:xfrm>
          <a:prstGeom prst="line">
            <a:avLst/>
          </a:prstGeom>
          <a:noFill/>
          <a:ln w="12700">
            <a:solidFill>
              <a:srgbClr val="D8CDBA"/>
            </a:solidFill>
            <a:prstDash val="solid"/>
          </a:ln>
        </p:spPr>
        <p:txBody>
          <a:bodyPr/>
          <a:lstStyle/>
          <a:p>
            <a:endParaRPr lang="en-US"/>
          </a:p>
        </p:txBody>
      </p:sp>
      <p:sp>
        <p:nvSpPr>
          <p:cNvPr id="6" name="Shape 4"/>
          <p:cNvSpPr/>
          <p:nvPr/>
        </p:nvSpPr>
        <p:spPr>
          <a:xfrm>
            <a:off x="868680" y="1325880"/>
            <a:ext cx="2743200" cy="1325880"/>
          </a:xfrm>
          <a:prstGeom prst="roundRect">
            <a:avLst>
              <a:gd name="adj" fmla="val 5517"/>
            </a:avLst>
          </a:prstGeom>
          <a:solidFill>
            <a:srgbClr val="FBF8F1"/>
          </a:solidFill>
          <a:ln w="12700">
            <a:solidFill>
              <a:srgbClr val="D8CDBA"/>
            </a:solidFill>
            <a:prstDash val="solid"/>
          </a:ln>
          <a:effectLst>
            <a:outerShdw blurRad="19050" dist="12700" dir="2700000" algn="bl" rotWithShape="0">
              <a:srgbClr val="000000">
                <a:alpha val="12000"/>
              </a:srgbClr>
            </a:outerShdw>
          </a:effectLst>
        </p:spPr>
        <p:txBody>
          <a:bodyPr/>
          <a:lstStyle/>
          <a:p>
            <a:endParaRPr lang="en-US"/>
          </a:p>
        </p:txBody>
      </p:sp>
      <p:sp>
        <p:nvSpPr>
          <p:cNvPr id="7" name="Text 5"/>
          <p:cNvSpPr/>
          <p:nvPr/>
        </p:nvSpPr>
        <p:spPr>
          <a:xfrm>
            <a:off x="1033272" y="1463040"/>
            <a:ext cx="2414016"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The challenge</a:t>
            </a:r>
            <a:endParaRPr lang="en-US" sz="1300" dirty="0"/>
          </a:p>
        </p:txBody>
      </p:sp>
      <p:sp>
        <p:nvSpPr>
          <p:cNvPr id="8" name="Text 6"/>
          <p:cNvSpPr/>
          <p:nvPr/>
        </p:nvSpPr>
        <p:spPr>
          <a:xfrm>
            <a:off x="1033272" y="1737360"/>
            <a:ext cx="2414016" cy="795528"/>
          </a:xfrm>
          <a:prstGeom prst="rect">
            <a:avLst/>
          </a:prstGeom>
          <a:noFill/>
          <a:ln/>
        </p:spPr>
        <p:txBody>
          <a:bodyPr wrap="square" lIns="0" tIns="0" rIns="0" bIns="0" rtlCol="0" anchor="t"/>
          <a:lstStyle/>
          <a:p>
            <a:pPr marL="0" indent="0">
              <a:buNone/>
            </a:pPr>
            <a:r>
              <a:rPr lang="en-US" sz="1050" dirty="0">
                <a:solidFill>
                  <a:srgbClr val="2C2C2C"/>
                </a:solidFill>
                <a:latin typeface="Aptos" pitchFamily="34" charset="0"/>
                <a:ea typeface="Aptos" pitchFamily="34" charset="-122"/>
                <a:cs typeface="Aptos" pitchFamily="34" charset="-120"/>
              </a:rPr>
              <a:t>Dunnes is leading Irish grocery by a hair, but the battle with Tesco is too close to win on routine alone. The brand needs a clearer emotional meaning beyond “the weekly shop”.</a:t>
            </a:r>
            <a:endParaRPr lang="en-US" sz="1050" dirty="0"/>
          </a:p>
        </p:txBody>
      </p:sp>
      <p:sp>
        <p:nvSpPr>
          <p:cNvPr id="9" name="Shape 7"/>
          <p:cNvSpPr/>
          <p:nvPr/>
        </p:nvSpPr>
        <p:spPr>
          <a:xfrm>
            <a:off x="3813048" y="1325880"/>
            <a:ext cx="2743200" cy="1325880"/>
          </a:xfrm>
          <a:prstGeom prst="roundRect">
            <a:avLst>
              <a:gd name="adj" fmla="val 5517"/>
            </a:avLst>
          </a:prstGeom>
          <a:solidFill>
            <a:srgbClr val="FBF8F1"/>
          </a:solidFill>
          <a:ln w="12700">
            <a:solidFill>
              <a:srgbClr val="D8CDBA"/>
            </a:solidFill>
            <a:prstDash val="solid"/>
          </a:ln>
          <a:effectLst>
            <a:outerShdw blurRad="19050" dist="12700" dir="2700000" algn="bl" rotWithShape="0">
              <a:srgbClr val="000000">
                <a:alpha val="12000"/>
              </a:srgbClr>
            </a:outerShdw>
          </a:effectLst>
        </p:spPr>
        <p:txBody>
          <a:bodyPr/>
          <a:lstStyle/>
          <a:p>
            <a:endParaRPr lang="en-US"/>
          </a:p>
        </p:txBody>
      </p:sp>
      <p:sp>
        <p:nvSpPr>
          <p:cNvPr id="10" name="Text 8"/>
          <p:cNvSpPr/>
          <p:nvPr/>
        </p:nvSpPr>
        <p:spPr>
          <a:xfrm>
            <a:off x="3977640" y="1463040"/>
            <a:ext cx="2414016"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The opportunity</a:t>
            </a:r>
            <a:endParaRPr lang="en-US" sz="1300" dirty="0"/>
          </a:p>
        </p:txBody>
      </p:sp>
      <p:sp>
        <p:nvSpPr>
          <p:cNvPr id="11" name="Text 9"/>
          <p:cNvSpPr/>
          <p:nvPr/>
        </p:nvSpPr>
        <p:spPr>
          <a:xfrm>
            <a:off x="3977640" y="1737360"/>
            <a:ext cx="2414016" cy="795528"/>
          </a:xfrm>
          <a:prstGeom prst="rect">
            <a:avLst/>
          </a:prstGeom>
          <a:noFill/>
          <a:ln/>
        </p:spPr>
        <p:txBody>
          <a:bodyPr wrap="square" lIns="0" tIns="0" rIns="0" bIns="0" rtlCol="0" anchor="t"/>
          <a:lstStyle/>
          <a:p>
            <a:pPr marL="0" indent="0">
              <a:buNone/>
            </a:pPr>
            <a:r>
              <a:rPr lang="en-US" sz="1050" dirty="0">
                <a:solidFill>
                  <a:srgbClr val="2C2C2C"/>
                </a:solidFill>
                <a:latin typeface="Aptos" pitchFamily="34" charset="0"/>
                <a:ea typeface="Aptos" pitchFamily="34" charset="-122"/>
                <a:cs typeface="Aptos" pitchFamily="34" charset="-120"/>
              </a:rPr>
              <a:t>Unlike Tesco, Dunnes can sell one broader story across fresh food, premium own-label, fashion, home and Irish design. That gives it permission to feel more curated and lifestyle-led.</a:t>
            </a:r>
            <a:endParaRPr lang="en-US" sz="1050" dirty="0"/>
          </a:p>
        </p:txBody>
      </p:sp>
      <p:sp>
        <p:nvSpPr>
          <p:cNvPr id="12" name="Shape 10"/>
          <p:cNvSpPr/>
          <p:nvPr/>
        </p:nvSpPr>
        <p:spPr>
          <a:xfrm>
            <a:off x="6757416" y="1325880"/>
            <a:ext cx="2697480" cy="1325880"/>
          </a:xfrm>
          <a:prstGeom prst="roundRect">
            <a:avLst>
              <a:gd name="adj" fmla="val 5517"/>
            </a:avLst>
          </a:prstGeom>
          <a:solidFill>
            <a:srgbClr val="FBF8F1"/>
          </a:solidFill>
          <a:ln w="12700">
            <a:solidFill>
              <a:srgbClr val="D8CDBA"/>
            </a:solidFill>
            <a:prstDash val="solid"/>
          </a:ln>
          <a:effectLst>
            <a:outerShdw blurRad="19050" dist="12700" dir="2700000" algn="bl" rotWithShape="0">
              <a:srgbClr val="000000">
                <a:alpha val="12000"/>
              </a:srgbClr>
            </a:outerShdw>
          </a:effectLst>
        </p:spPr>
        <p:txBody>
          <a:bodyPr/>
          <a:lstStyle/>
          <a:p>
            <a:endParaRPr lang="en-US"/>
          </a:p>
        </p:txBody>
      </p:sp>
      <p:sp>
        <p:nvSpPr>
          <p:cNvPr id="13" name="Text 11"/>
          <p:cNvSpPr/>
          <p:nvPr/>
        </p:nvSpPr>
        <p:spPr>
          <a:xfrm>
            <a:off x="6922008" y="1463040"/>
            <a:ext cx="2368296"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The answer</a:t>
            </a:r>
            <a:endParaRPr lang="en-US" sz="1300" dirty="0"/>
          </a:p>
        </p:txBody>
      </p:sp>
      <p:sp>
        <p:nvSpPr>
          <p:cNvPr id="14" name="Text 12"/>
          <p:cNvSpPr/>
          <p:nvPr/>
        </p:nvSpPr>
        <p:spPr>
          <a:xfrm>
            <a:off x="6922008" y="1737360"/>
            <a:ext cx="2368296" cy="795528"/>
          </a:xfrm>
          <a:prstGeom prst="rect">
            <a:avLst/>
          </a:prstGeom>
          <a:noFill/>
          <a:ln/>
        </p:spPr>
        <p:txBody>
          <a:bodyPr wrap="square" lIns="0" tIns="0" rIns="0" bIns="0" rtlCol="0" anchor="t"/>
          <a:lstStyle/>
          <a:p>
            <a:pPr marL="0" indent="0">
              <a:buNone/>
            </a:pPr>
            <a:r>
              <a:rPr lang="en-US" sz="1050" dirty="0">
                <a:solidFill>
                  <a:srgbClr val="2C2C2C"/>
                </a:solidFill>
                <a:latin typeface="Aptos" pitchFamily="34" charset="0"/>
                <a:ea typeface="Aptos" pitchFamily="34" charset="-122"/>
                <a:cs typeface="Aptos" pitchFamily="34" charset="-120"/>
              </a:rPr>
              <a:t>Launch a masterbrand platform — Worth Bringing Home — that makes every basket, bag and touchpoint signal better choices, better taste and everyday style.</a:t>
            </a:r>
            <a:endParaRPr lang="en-US" sz="1050" dirty="0"/>
          </a:p>
        </p:txBody>
      </p:sp>
      <p:sp>
        <p:nvSpPr>
          <p:cNvPr id="15" name="Shape 13"/>
          <p:cNvSpPr/>
          <p:nvPr/>
        </p:nvSpPr>
        <p:spPr>
          <a:xfrm>
            <a:off x="9656064" y="1325880"/>
            <a:ext cx="1664208" cy="1325880"/>
          </a:xfrm>
          <a:prstGeom prst="roundRect">
            <a:avLst>
              <a:gd name="adj" fmla="val 5517"/>
            </a:avLst>
          </a:prstGeom>
          <a:solidFill>
            <a:srgbClr val="FBF8F1"/>
          </a:solidFill>
          <a:ln w="12700">
            <a:solidFill>
              <a:srgbClr val="D8CDBA"/>
            </a:solidFill>
            <a:prstDash val="solid"/>
          </a:ln>
          <a:effectLst>
            <a:outerShdw blurRad="19050" dist="12700" dir="2700000" algn="bl" rotWithShape="0">
              <a:srgbClr val="000000">
                <a:alpha val="12000"/>
              </a:srgbClr>
            </a:outerShdw>
          </a:effectLst>
        </p:spPr>
        <p:txBody>
          <a:bodyPr/>
          <a:lstStyle/>
          <a:p>
            <a:endParaRPr lang="en-US"/>
          </a:p>
        </p:txBody>
      </p:sp>
      <p:sp>
        <p:nvSpPr>
          <p:cNvPr id="16" name="Text 14"/>
          <p:cNvSpPr/>
          <p:nvPr/>
        </p:nvSpPr>
        <p:spPr>
          <a:xfrm>
            <a:off x="9820656" y="1463040"/>
            <a:ext cx="1335024"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The result</a:t>
            </a:r>
            <a:endParaRPr lang="en-US" sz="1300" dirty="0"/>
          </a:p>
        </p:txBody>
      </p:sp>
      <p:sp>
        <p:nvSpPr>
          <p:cNvPr id="17" name="Text 15"/>
          <p:cNvSpPr/>
          <p:nvPr/>
        </p:nvSpPr>
        <p:spPr>
          <a:xfrm>
            <a:off x="9820656" y="1737360"/>
            <a:ext cx="1335024" cy="795528"/>
          </a:xfrm>
          <a:prstGeom prst="rect">
            <a:avLst/>
          </a:prstGeom>
          <a:noFill/>
          <a:ln/>
        </p:spPr>
        <p:txBody>
          <a:bodyPr wrap="square" lIns="0" tIns="0" rIns="0" bIns="0" rtlCol="0" anchor="t"/>
          <a:lstStyle/>
          <a:p>
            <a:pPr marL="0" indent="0">
              <a:buNone/>
            </a:pPr>
            <a:r>
              <a:rPr lang="en-US" sz="1050" dirty="0">
                <a:solidFill>
                  <a:srgbClr val="2C2C2C"/>
                </a:solidFill>
                <a:latin typeface="Aptos" pitchFamily="34" charset="0"/>
                <a:ea typeface="Aptos" pitchFamily="34" charset="-122"/>
                <a:cs typeface="Aptos" pitchFamily="34" charset="-120"/>
              </a:rPr>
              <a:t>Shift perception from functional retailer to more considered, more desirable everyday destination.</a:t>
            </a:r>
            <a:endParaRPr lang="en-US" sz="1050" dirty="0"/>
          </a:p>
        </p:txBody>
      </p:sp>
      <p:sp>
        <p:nvSpPr>
          <p:cNvPr id="18" name="Shape 16"/>
          <p:cNvSpPr/>
          <p:nvPr/>
        </p:nvSpPr>
        <p:spPr>
          <a:xfrm>
            <a:off x="868680" y="2926080"/>
            <a:ext cx="1737360" cy="256032"/>
          </a:xfrm>
          <a:prstGeom prst="roundRect">
            <a:avLst>
              <a:gd name="adj" fmla="val 28571"/>
            </a:avLst>
          </a:prstGeom>
          <a:solidFill>
            <a:srgbClr val="EDE6DA"/>
          </a:solidFill>
          <a:ln w="12700">
            <a:solidFill>
              <a:srgbClr val="D9CCB8"/>
            </a:solidFill>
            <a:prstDash val="solid"/>
          </a:ln>
        </p:spPr>
        <p:txBody>
          <a:bodyPr/>
          <a:lstStyle/>
          <a:p>
            <a:endParaRPr lang="en-US"/>
          </a:p>
        </p:txBody>
      </p:sp>
      <p:sp>
        <p:nvSpPr>
          <p:cNvPr id="19" name="Text 17"/>
          <p:cNvSpPr/>
          <p:nvPr/>
        </p:nvSpPr>
        <p:spPr>
          <a:xfrm>
            <a:off x="941832" y="2980944"/>
            <a:ext cx="1591056" cy="146304"/>
          </a:xfrm>
          <a:prstGeom prst="rect">
            <a:avLst/>
          </a:prstGeom>
          <a:noFill/>
          <a:ln/>
        </p:spPr>
        <p:txBody>
          <a:bodyPr wrap="square" rtlCol="0" anchor="ctr"/>
          <a:lstStyle/>
          <a:p>
            <a:pPr marL="0" indent="0" algn="ctr">
              <a:buNone/>
            </a:pPr>
            <a:r>
              <a:rPr lang="en-US" sz="800" b="1" dirty="0">
                <a:solidFill>
                  <a:srgbClr val="113E36"/>
                </a:solidFill>
                <a:latin typeface="Aptos" pitchFamily="34" charset="0"/>
                <a:ea typeface="Aptos" pitchFamily="34" charset="-122"/>
                <a:cs typeface="Aptos" pitchFamily="34" charset="-120"/>
              </a:rPr>
              <a:t>WHAT SUCCESS LOOKS LIKE</a:t>
            </a:r>
            <a:endParaRPr lang="en-US" sz="800" dirty="0"/>
          </a:p>
        </p:txBody>
      </p:sp>
      <p:sp>
        <p:nvSpPr>
          <p:cNvPr id="20" name="Shape 18"/>
          <p:cNvSpPr/>
          <p:nvPr/>
        </p:nvSpPr>
        <p:spPr>
          <a:xfrm>
            <a:off x="868680" y="3218688"/>
            <a:ext cx="3291840" cy="2057400"/>
          </a:xfrm>
          <a:prstGeom prst="roundRect">
            <a:avLst>
              <a:gd name="adj" fmla="val 3556"/>
            </a:avLst>
          </a:prstGeom>
          <a:solidFill>
            <a:srgbClr val="F9F6EF"/>
          </a:solidFill>
          <a:ln w="12700">
            <a:solidFill>
              <a:srgbClr val="D8CDBA"/>
            </a:solidFill>
            <a:prstDash val="solid"/>
          </a:ln>
        </p:spPr>
        <p:txBody>
          <a:bodyPr/>
          <a:lstStyle/>
          <a:p>
            <a:endParaRPr lang="en-US"/>
          </a:p>
        </p:txBody>
      </p:sp>
      <p:sp>
        <p:nvSpPr>
          <p:cNvPr id="21" name="Text 19"/>
          <p:cNvSpPr/>
          <p:nvPr/>
        </p:nvSpPr>
        <p:spPr>
          <a:xfrm>
            <a:off x="1033272" y="3355848"/>
            <a:ext cx="2962656"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Brand effect</a:t>
            </a:r>
            <a:endParaRPr lang="en-US" sz="1300" dirty="0"/>
          </a:p>
        </p:txBody>
      </p:sp>
      <p:sp>
        <p:nvSpPr>
          <p:cNvPr id="22" name="Text 20"/>
          <p:cNvSpPr/>
          <p:nvPr/>
        </p:nvSpPr>
        <p:spPr>
          <a:xfrm>
            <a:off x="1033272" y="3630168"/>
            <a:ext cx="2962656" cy="1527048"/>
          </a:xfrm>
          <a:prstGeom prst="rect">
            <a:avLst/>
          </a:prstGeom>
          <a:noFill/>
          <a:ln/>
        </p:spPr>
        <p:txBody>
          <a:bodyPr wrap="square" lIns="0" tIns="0" rIns="0" bIns="0" rtlCol="0" anchor="t"/>
          <a:lstStyle/>
          <a:p>
            <a:pPr marL="0" indent="0">
              <a:buNone/>
            </a:pPr>
            <a:r>
              <a:rPr lang="en-US" sz="1050" dirty="0">
                <a:solidFill>
                  <a:srgbClr val="2C2C2C"/>
                </a:solidFill>
                <a:latin typeface="Aptos" pitchFamily="34" charset="0"/>
                <a:ea typeface="Aptos" pitchFamily="34" charset="-122"/>
                <a:cs typeface="Aptos" pitchFamily="34" charset="-120"/>
              </a:rPr>
              <a:t>Stronger “quality / stylish / worth it” associations; clearer differentiation from Tesco; more ownable brand assets in market, especially the bag and the weekly edit world.</a:t>
            </a:r>
            <a:endParaRPr lang="en-US" sz="1050" dirty="0"/>
          </a:p>
        </p:txBody>
      </p:sp>
      <p:sp>
        <p:nvSpPr>
          <p:cNvPr id="23" name="Shape 21"/>
          <p:cNvSpPr/>
          <p:nvPr/>
        </p:nvSpPr>
        <p:spPr>
          <a:xfrm>
            <a:off x="4370832" y="3218688"/>
            <a:ext cx="3291840" cy="2057400"/>
          </a:xfrm>
          <a:prstGeom prst="roundRect">
            <a:avLst>
              <a:gd name="adj" fmla="val 3556"/>
            </a:avLst>
          </a:prstGeom>
          <a:solidFill>
            <a:srgbClr val="F9F6EF"/>
          </a:solidFill>
          <a:ln w="12700">
            <a:solidFill>
              <a:srgbClr val="D8CDBA"/>
            </a:solidFill>
            <a:prstDash val="solid"/>
          </a:ln>
        </p:spPr>
        <p:txBody>
          <a:bodyPr/>
          <a:lstStyle/>
          <a:p>
            <a:endParaRPr lang="en-US"/>
          </a:p>
        </p:txBody>
      </p:sp>
      <p:sp>
        <p:nvSpPr>
          <p:cNvPr id="24" name="Text 22"/>
          <p:cNvSpPr/>
          <p:nvPr/>
        </p:nvSpPr>
        <p:spPr>
          <a:xfrm>
            <a:off x="4535424" y="3355848"/>
            <a:ext cx="2962656"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Commercial effect</a:t>
            </a:r>
            <a:endParaRPr lang="en-US" sz="1300" dirty="0"/>
          </a:p>
        </p:txBody>
      </p:sp>
      <p:sp>
        <p:nvSpPr>
          <p:cNvPr id="25" name="Text 23"/>
          <p:cNvSpPr/>
          <p:nvPr/>
        </p:nvSpPr>
        <p:spPr>
          <a:xfrm>
            <a:off x="4535424" y="3630168"/>
            <a:ext cx="2962656" cy="1527048"/>
          </a:xfrm>
          <a:prstGeom prst="rect">
            <a:avLst/>
          </a:prstGeom>
          <a:noFill/>
          <a:ln/>
        </p:spPr>
        <p:txBody>
          <a:bodyPr wrap="square" lIns="0" tIns="0" rIns="0" bIns="0" rtlCol="0" anchor="t"/>
          <a:lstStyle/>
          <a:p>
            <a:pPr marL="0" indent="0">
              <a:buNone/>
            </a:pPr>
            <a:r>
              <a:rPr lang="en-US" sz="1050" dirty="0">
                <a:solidFill>
                  <a:srgbClr val="2C2C2C"/>
                </a:solidFill>
                <a:latin typeface="Aptos" pitchFamily="34" charset="0"/>
                <a:ea typeface="Aptos" pitchFamily="34" charset="-122"/>
                <a:cs typeface="Aptos" pitchFamily="34" charset="-120"/>
              </a:rPr>
              <a:t>More cross-category baskets, better conversion into VALUEclub/app, higher social memorability, and a more premium perception without abandoning value.</a:t>
            </a:r>
            <a:endParaRPr lang="en-US" sz="1050" dirty="0"/>
          </a:p>
        </p:txBody>
      </p:sp>
      <p:sp>
        <p:nvSpPr>
          <p:cNvPr id="26" name="Shape 24"/>
          <p:cNvSpPr/>
          <p:nvPr/>
        </p:nvSpPr>
        <p:spPr>
          <a:xfrm>
            <a:off x="7872984" y="3218688"/>
            <a:ext cx="3447288" cy="2057400"/>
          </a:xfrm>
          <a:prstGeom prst="roundRect">
            <a:avLst>
              <a:gd name="adj" fmla="val 3556"/>
            </a:avLst>
          </a:prstGeom>
          <a:solidFill>
            <a:srgbClr val="F9F6EF"/>
          </a:solidFill>
          <a:ln w="12700">
            <a:solidFill>
              <a:srgbClr val="D8CDBA"/>
            </a:solidFill>
            <a:prstDash val="solid"/>
          </a:ln>
        </p:spPr>
        <p:txBody>
          <a:bodyPr/>
          <a:lstStyle/>
          <a:p>
            <a:endParaRPr lang="en-US"/>
          </a:p>
        </p:txBody>
      </p:sp>
      <p:sp>
        <p:nvSpPr>
          <p:cNvPr id="27" name="Text 25"/>
          <p:cNvSpPr/>
          <p:nvPr/>
        </p:nvSpPr>
        <p:spPr>
          <a:xfrm>
            <a:off x="8037576" y="3355848"/>
            <a:ext cx="3118104"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Execution effect</a:t>
            </a:r>
            <a:endParaRPr lang="en-US" sz="1300" dirty="0"/>
          </a:p>
        </p:txBody>
      </p:sp>
      <p:sp>
        <p:nvSpPr>
          <p:cNvPr id="28" name="Text 26"/>
          <p:cNvSpPr/>
          <p:nvPr/>
        </p:nvSpPr>
        <p:spPr>
          <a:xfrm>
            <a:off x="8037576" y="3630168"/>
            <a:ext cx="3118104" cy="1527048"/>
          </a:xfrm>
          <a:prstGeom prst="rect">
            <a:avLst/>
          </a:prstGeom>
          <a:noFill/>
          <a:ln/>
        </p:spPr>
        <p:txBody>
          <a:bodyPr wrap="square" lIns="0" tIns="0" rIns="0" bIns="0" rtlCol="0" anchor="t"/>
          <a:lstStyle/>
          <a:p>
            <a:pPr marL="0" indent="0">
              <a:buNone/>
            </a:pPr>
            <a:r>
              <a:rPr lang="en-US" sz="1050" dirty="0">
                <a:solidFill>
                  <a:srgbClr val="2C2C2C"/>
                </a:solidFill>
                <a:latin typeface="Aptos" pitchFamily="34" charset="0"/>
                <a:ea typeface="Aptos" pitchFamily="34" charset="-122"/>
                <a:cs typeface="Aptos" pitchFamily="34" charset="-120"/>
              </a:rPr>
              <a:t>A campaign that works across digital, OOH, PR, in-store theatre, packaging, CRM and sustainability cues like Re-turn and bag reuse.</a:t>
            </a:r>
            <a:endParaRPr lang="en-US" sz="1050" dirty="0"/>
          </a:p>
        </p:txBody>
      </p:sp>
      <p:sp>
        <p:nvSpPr>
          <p:cNvPr id="29" name="Text 27"/>
          <p:cNvSpPr/>
          <p:nvPr/>
        </p:nvSpPr>
        <p:spPr>
          <a:xfrm>
            <a:off x="868680" y="5669280"/>
            <a:ext cx="10424160" cy="384048"/>
          </a:xfrm>
          <a:prstGeom prst="rect">
            <a:avLst/>
          </a:prstGeom>
          <a:noFill/>
          <a:ln/>
        </p:spPr>
        <p:txBody>
          <a:bodyPr wrap="square" rtlCol="0" anchor="ctr"/>
          <a:lstStyle/>
          <a:p>
            <a:pPr marL="0" indent="0" algn="ctr">
              <a:buNone/>
            </a:pPr>
            <a:r>
              <a:rPr lang="en-US" sz="1800" b="1" i="1" dirty="0">
                <a:solidFill>
                  <a:srgbClr val="113E36"/>
                </a:solidFill>
                <a:latin typeface="Georgia" pitchFamily="34" charset="0"/>
                <a:ea typeface="Georgia" pitchFamily="34" charset="-122"/>
                <a:cs typeface="Georgia" pitchFamily="34" charset="-120"/>
              </a:rPr>
              <a:t>Core strategic point: Dunnes does not need to out-Tesco Tesco on scale. It needs to make what comes home feel better chosen.</a:t>
            </a:r>
            <a:endParaRPr lang="en-US" sz="1800" dirty="0"/>
          </a:p>
        </p:txBody>
      </p:sp>
      <p:sp>
        <p:nvSpPr>
          <p:cNvPr id="30" name="Slide Number Placeholder 0"/>
          <p:cNvSpPr>
            <a:spLocks noGrp="1"/>
          </p:cNvSpPr>
          <p:nvPr>
            <p:ph type="sldNum" sz="quarter" idx="4294967295"/>
          </p:nvPr>
        </p:nvSpPr>
        <p:spPr>
          <a:xfrm>
            <a:off x="11658600" y="109728"/>
            <a:ext cx="32004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7D746A"/>
                </a:solidFill>
                <a:latin typeface="Aptos"/>
                <a:ea typeface="Aptos"/>
                <a:cs typeface="Aptos"/>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nvSpPr>
        <p:spPr>
          <a:xfrm>
            <a:off x="914400" y="310896"/>
            <a:ext cx="2286000" cy="164592"/>
          </a:xfrm>
          <a:prstGeom prst="rect">
            <a:avLst/>
          </a:prstGeom>
          <a:noFill/>
          <a:ln/>
        </p:spPr>
        <p:txBody>
          <a:bodyPr wrap="square" rtlCol="0" anchor="ctr"/>
          <a:lstStyle/>
          <a:p>
            <a:pPr marL="0" indent="0">
              <a:buNone/>
            </a:pPr>
            <a:r>
              <a:rPr lang="en-US" sz="900" b="1" dirty="0">
                <a:solidFill>
                  <a:srgbClr val="C96E4D"/>
                </a:solidFill>
                <a:latin typeface="Aptos" pitchFamily="34" charset="0"/>
                <a:ea typeface="Aptos" pitchFamily="34" charset="-122"/>
                <a:cs typeface="Aptos" pitchFamily="34" charset="-120"/>
              </a:rPr>
              <a:t>BRAND + MARKET CONTEXT</a:t>
            </a:r>
            <a:endParaRPr lang="en-US" sz="900" dirty="0"/>
          </a:p>
        </p:txBody>
      </p:sp>
      <p:sp>
        <p:nvSpPr>
          <p:cNvPr id="4" name="Text 2"/>
          <p:cNvSpPr/>
          <p:nvPr/>
        </p:nvSpPr>
        <p:spPr>
          <a:xfrm>
            <a:off x="868680" y="530352"/>
            <a:ext cx="10424160" cy="502920"/>
          </a:xfrm>
          <a:prstGeom prst="rect">
            <a:avLst/>
          </a:prstGeom>
          <a:noFill/>
          <a:ln/>
        </p:spPr>
        <p:txBody>
          <a:bodyPr wrap="square" rtlCol="0" anchor="ctr"/>
          <a:lstStyle/>
          <a:p>
            <a:pPr marL="0" indent="0">
              <a:buNone/>
            </a:pPr>
            <a:r>
              <a:rPr lang="en-US" sz="2400" b="1" dirty="0">
                <a:solidFill>
                  <a:srgbClr val="113E36"/>
                </a:solidFill>
                <a:latin typeface="Georgia" pitchFamily="34" charset="0"/>
                <a:ea typeface="Georgia" pitchFamily="34" charset="-122"/>
                <a:cs typeface="Georgia" pitchFamily="34" charset="-120"/>
              </a:rPr>
              <a:t>Dunnes is already strong. The next job is to deepen meaning.</a:t>
            </a:r>
            <a:endParaRPr lang="en-US" sz="2400" dirty="0"/>
          </a:p>
        </p:txBody>
      </p:sp>
      <p:sp>
        <p:nvSpPr>
          <p:cNvPr id="5" name="Shape 3"/>
          <p:cNvSpPr/>
          <p:nvPr/>
        </p:nvSpPr>
        <p:spPr>
          <a:xfrm>
            <a:off x="868680" y="1078992"/>
            <a:ext cx="10698480" cy="0"/>
          </a:xfrm>
          <a:prstGeom prst="line">
            <a:avLst/>
          </a:prstGeom>
          <a:noFill/>
          <a:ln w="12700">
            <a:solidFill>
              <a:srgbClr val="D8CDBA"/>
            </a:solidFill>
            <a:prstDash val="solid"/>
          </a:ln>
        </p:spPr>
        <p:txBody>
          <a:bodyPr/>
          <a:lstStyle/>
          <a:p>
            <a:endParaRPr lang="en-US"/>
          </a:p>
        </p:txBody>
      </p:sp>
      <p:sp>
        <p:nvSpPr>
          <p:cNvPr id="6" name="Shape 4"/>
          <p:cNvSpPr/>
          <p:nvPr/>
        </p:nvSpPr>
        <p:spPr>
          <a:xfrm>
            <a:off x="868680" y="1325880"/>
            <a:ext cx="4297680" cy="2194560"/>
          </a:xfrm>
          <a:prstGeom prst="roundRect">
            <a:avLst>
              <a:gd name="adj" fmla="val 3333"/>
            </a:avLst>
          </a:prstGeom>
          <a:solidFill>
            <a:srgbClr val="FBF8F1"/>
          </a:solidFill>
          <a:ln w="12700">
            <a:solidFill>
              <a:srgbClr val="D8CDBA"/>
            </a:solidFill>
            <a:prstDash val="solid"/>
          </a:ln>
          <a:effectLst>
            <a:outerShdw blurRad="19050" dist="12700" dir="2700000" algn="bl" rotWithShape="0">
              <a:srgbClr val="000000">
                <a:alpha val="12000"/>
              </a:srgbClr>
            </a:outerShdw>
          </a:effectLst>
        </p:spPr>
        <p:txBody>
          <a:bodyPr/>
          <a:lstStyle/>
          <a:p>
            <a:endParaRPr lang="en-US"/>
          </a:p>
        </p:txBody>
      </p:sp>
      <p:sp>
        <p:nvSpPr>
          <p:cNvPr id="7" name="Text 5"/>
          <p:cNvSpPr/>
          <p:nvPr/>
        </p:nvSpPr>
        <p:spPr>
          <a:xfrm>
            <a:off x="1033272" y="1463040"/>
            <a:ext cx="3968496"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Brand snapshot</a:t>
            </a:r>
            <a:endParaRPr lang="en-US" sz="1300" dirty="0"/>
          </a:p>
        </p:txBody>
      </p:sp>
      <p:sp>
        <p:nvSpPr>
          <p:cNvPr id="8" name="Text 6"/>
          <p:cNvSpPr/>
          <p:nvPr/>
        </p:nvSpPr>
        <p:spPr>
          <a:xfrm>
            <a:off x="1026414" y="1938528"/>
            <a:ext cx="3968496" cy="1325372"/>
          </a:xfrm>
          <a:prstGeom prst="rect">
            <a:avLst/>
          </a:prstGeom>
          <a:noFill/>
          <a:ln/>
        </p:spPr>
        <p:txBody>
          <a:bodyPr wrap="square" lIns="0" tIns="0" rIns="0" bIns="0" rtlCol="0" anchor="t"/>
          <a:lstStyle/>
          <a:p>
            <a:pPr marL="0" indent="0">
              <a:buNone/>
            </a:pPr>
            <a:r>
              <a:rPr lang="en-US" sz="1100" dirty="0">
                <a:solidFill>
                  <a:srgbClr val="2C2C2C"/>
                </a:solidFill>
                <a:latin typeface="Aptos" pitchFamily="34" charset="0"/>
                <a:ea typeface="Aptos" pitchFamily="34" charset="-122"/>
                <a:cs typeface="Aptos" pitchFamily="34" charset="-120"/>
              </a:rPr>
              <a:t>• Founded in Cork in 1944</a:t>
            </a:r>
            <a:endParaRPr lang="en-US" sz="1100" dirty="0"/>
          </a:p>
          <a:p>
            <a:pPr marL="0" indent="0">
              <a:buNone/>
            </a:pPr>
            <a:r>
              <a:rPr lang="en-US" sz="1100" dirty="0">
                <a:solidFill>
                  <a:srgbClr val="2C2C2C"/>
                </a:solidFill>
                <a:latin typeface="Aptos" pitchFamily="34" charset="0"/>
                <a:ea typeface="Aptos" pitchFamily="34" charset="-122"/>
                <a:cs typeface="Aptos" pitchFamily="34" charset="-120"/>
              </a:rPr>
              <a:t>• 134 stores across Ireland, Northern Ireland and Spain</a:t>
            </a:r>
            <a:endParaRPr lang="en-US" sz="1100" dirty="0"/>
          </a:p>
          <a:p>
            <a:pPr marL="0" indent="0">
              <a:buNone/>
            </a:pPr>
            <a:r>
              <a:rPr lang="en-US" sz="1100" dirty="0">
                <a:solidFill>
                  <a:srgbClr val="2C2C2C"/>
                </a:solidFill>
                <a:latin typeface="Aptos" pitchFamily="34" charset="0"/>
                <a:ea typeface="Aptos" pitchFamily="34" charset="-122"/>
                <a:cs typeface="Aptos" pitchFamily="34" charset="-120"/>
              </a:rPr>
              <a:t>• Multi-channel retailer across fashion, food and homewares</a:t>
            </a:r>
            <a:endParaRPr lang="en-US" sz="1100" dirty="0"/>
          </a:p>
          <a:p>
            <a:pPr marL="0" indent="0">
              <a:buNone/>
            </a:pPr>
            <a:r>
              <a:rPr lang="en-US" sz="1100" dirty="0">
                <a:solidFill>
                  <a:srgbClr val="2C2C2C"/>
                </a:solidFill>
                <a:latin typeface="Aptos" pitchFamily="34" charset="0"/>
                <a:ea typeface="Aptos" pitchFamily="34" charset="-122"/>
                <a:cs typeface="Aptos" pitchFamily="34" charset="-120"/>
              </a:rPr>
              <a:t>• In-house labels include Savida and Gallery</a:t>
            </a:r>
            <a:endParaRPr lang="en-US" sz="1100" dirty="0"/>
          </a:p>
          <a:p>
            <a:pPr marL="0" indent="0">
              <a:buNone/>
            </a:pPr>
            <a:r>
              <a:rPr lang="en-US" sz="1100" dirty="0">
                <a:solidFill>
                  <a:srgbClr val="2C2C2C"/>
                </a:solidFill>
                <a:latin typeface="Aptos" pitchFamily="34" charset="0"/>
                <a:ea typeface="Aptos" pitchFamily="34" charset="-122"/>
                <a:cs typeface="Aptos" pitchFamily="34" charset="-120"/>
              </a:rPr>
              <a:t>• Collaborates with Irish designers including Paul Costelloe and Carolyn Donnelly</a:t>
            </a:r>
            <a:endParaRPr lang="en-US" sz="1100" dirty="0"/>
          </a:p>
        </p:txBody>
      </p:sp>
      <p:sp>
        <p:nvSpPr>
          <p:cNvPr id="9" name="Shape 7"/>
          <p:cNvSpPr/>
          <p:nvPr/>
        </p:nvSpPr>
        <p:spPr>
          <a:xfrm>
            <a:off x="868680" y="3730752"/>
            <a:ext cx="4297680" cy="1755648"/>
          </a:xfrm>
          <a:prstGeom prst="roundRect">
            <a:avLst>
              <a:gd name="adj" fmla="val 4167"/>
            </a:avLst>
          </a:prstGeom>
          <a:solidFill>
            <a:srgbClr val="FBF8F1"/>
          </a:solidFill>
          <a:ln w="12700">
            <a:solidFill>
              <a:srgbClr val="D8CDBA"/>
            </a:solidFill>
            <a:prstDash val="solid"/>
          </a:ln>
          <a:effectLst>
            <a:outerShdw blurRad="19050" dist="12700" dir="2700000" algn="bl" rotWithShape="0">
              <a:srgbClr val="000000">
                <a:alpha val="12000"/>
              </a:srgbClr>
            </a:outerShdw>
          </a:effectLst>
        </p:spPr>
        <p:txBody>
          <a:bodyPr/>
          <a:lstStyle/>
          <a:p>
            <a:endParaRPr lang="en-US"/>
          </a:p>
        </p:txBody>
      </p:sp>
      <p:sp>
        <p:nvSpPr>
          <p:cNvPr id="10" name="Text 8"/>
          <p:cNvSpPr/>
          <p:nvPr/>
        </p:nvSpPr>
        <p:spPr>
          <a:xfrm>
            <a:off x="1033272" y="3867912"/>
            <a:ext cx="3968496"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Customer engine already in place</a:t>
            </a:r>
            <a:endParaRPr lang="en-US" sz="1300" dirty="0"/>
          </a:p>
        </p:txBody>
      </p:sp>
      <p:sp>
        <p:nvSpPr>
          <p:cNvPr id="11" name="Text 9"/>
          <p:cNvSpPr/>
          <p:nvPr/>
        </p:nvSpPr>
        <p:spPr>
          <a:xfrm>
            <a:off x="1033272" y="4142232"/>
            <a:ext cx="3968496" cy="1225296"/>
          </a:xfrm>
          <a:prstGeom prst="rect">
            <a:avLst/>
          </a:prstGeom>
          <a:noFill/>
          <a:ln/>
        </p:spPr>
        <p:txBody>
          <a:bodyPr wrap="square" lIns="0" tIns="0" rIns="0" bIns="0" rtlCol="0" anchor="t"/>
          <a:lstStyle/>
          <a:p>
            <a:pPr marL="0" indent="0">
              <a:buNone/>
            </a:pPr>
            <a:r>
              <a:rPr lang="en-US" sz="1080" dirty="0">
                <a:solidFill>
                  <a:srgbClr val="2C2C2C"/>
                </a:solidFill>
                <a:latin typeface="Aptos" pitchFamily="34" charset="0"/>
                <a:ea typeface="Aptos" pitchFamily="34" charset="-122"/>
                <a:cs typeface="Aptos" pitchFamily="34" charset="-120"/>
              </a:rPr>
              <a:t>VALUEclub gives 1 point per €1 spent across food, fashion, homeware and on-site cafés; 100 points = €1 in reward vouchers. The app holds vouchers digitally and offers a €5 off €25 welcome grocery voucher.</a:t>
            </a:r>
            <a:endParaRPr lang="en-US" sz="1080" dirty="0"/>
          </a:p>
        </p:txBody>
      </p:sp>
      <p:sp>
        <p:nvSpPr>
          <p:cNvPr id="12" name="Text 10"/>
          <p:cNvSpPr/>
          <p:nvPr/>
        </p:nvSpPr>
        <p:spPr>
          <a:xfrm>
            <a:off x="5250942" y="1403096"/>
            <a:ext cx="2521458" cy="420624"/>
          </a:xfrm>
          <a:prstGeom prst="rect">
            <a:avLst/>
          </a:prstGeom>
          <a:noFill/>
          <a:ln/>
        </p:spPr>
        <p:txBody>
          <a:bodyPr wrap="square" rtlCol="0" anchor="ctr"/>
          <a:lstStyle/>
          <a:p>
            <a:pPr marL="0" indent="0">
              <a:buNone/>
            </a:pPr>
            <a:r>
              <a:rPr lang="en-US" sz="1400" b="1" dirty="0">
                <a:solidFill>
                  <a:srgbClr val="113E36"/>
                </a:solidFill>
                <a:latin typeface="Aptos" pitchFamily="34" charset="0"/>
                <a:ea typeface="Aptos" pitchFamily="34" charset="-122"/>
                <a:cs typeface="Aptos" pitchFamily="34" charset="-120"/>
              </a:rPr>
              <a:t>Irish grocery market share</a:t>
            </a:r>
            <a:endParaRPr lang="en-US" sz="1400" dirty="0"/>
          </a:p>
          <a:p>
            <a:pPr marL="0" indent="0">
              <a:buNone/>
            </a:pPr>
            <a:r>
              <a:rPr lang="en-US" sz="1400" b="1" dirty="0">
                <a:solidFill>
                  <a:srgbClr val="113E36"/>
                </a:solidFill>
                <a:latin typeface="Aptos" pitchFamily="34" charset="0"/>
                <a:ea typeface="Aptos" pitchFamily="34" charset="-122"/>
                <a:cs typeface="Aptos" pitchFamily="34" charset="-120"/>
              </a:rPr>
              <a:t>(latest 12 weeks)</a:t>
            </a:r>
            <a:endParaRPr lang="en-US" sz="1400" dirty="0"/>
          </a:p>
        </p:txBody>
      </p:sp>
      <p:sp>
        <p:nvSpPr>
          <p:cNvPr id="13" name="Text 11"/>
          <p:cNvSpPr/>
          <p:nvPr/>
        </p:nvSpPr>
        <p:spPr>
          <a:xfrm>
            <a:off x="5250942" y="1979168"/>
            <a:ext cx="1097280" cy="182880"/>
          </a:xfrm>
          <a:prstGeom prst="rect">
            <a:avLst/>
          </a:prstGeom>
          <a:noFill/>
          <a:ln/>
        </p:spPr>
        <p:txBody>
          <a:bodyPr wrap="square" rtlCol="0" anchor="ctr"/>
          <a:lstStyle/>
          <a:p>
            <a:pPr marL="0" indent="0">
              <a:buNone/>
            </a:pPr>
            <a:r>
              <a:rPr lang="en-US" sz="1100" dirty="0">
                <a:solidFill>
                  <a:srgbClr val="2C2C2C"/>
                </a:solidFill>
                <a:latin typeface="Aptos" pitchFamily="34" charset="0"/>
                <a:ea typeface="Aptos" pitchFamily="34" charset="-122"/>
                <a:cs typeface="Aptos" pitchFamily="34" charset="-120"/>
              </a:rPr>
              <a:t>Dunnes</a:t>
            </a:r>
            <a:endParaRPr lang="en-US" sz="1100" dirty="0"/>
          </a:p>
        </p:txBody>
      </p:sp>
      <p:sp>
        <p:nvSpPr>
          <p:cNvPr id="14" name="Shape 12"/>
          <p:cNvSpPr/>
          <p:nvPr/>
        </p:nvSpPr>
        <p:spPr>
          <a:xfrm>
            <a:off x="6348222" y="1988312"/>
            <a:ext cx="2926080" cy="164592"/>
          </a:xfrm>
          <a:prstGeom prst="roundRect">
            <a:avLst>
              <a:gd name="adj" fmla="val 33333"/>
            </a:avLst>
          </a:prstGeom>
          <a:solidFill>
            <a:srgbClr val="E9E2D7"/>
          </a:solidFill>
          <a:ln w="12700">
            <a:solidFill>
              <a:srgbClr val="E9E2D7"/>
            </a:solidFill>
            <a:prstDash val="solid"/>
          </a:ln>
        </p:spPr>
        <p:txBody>
          <a:bodyPr/>
          <a:lstStyle/>
          <a:p>
            <a:endParaRPr lang="en-US"/>
          </a:p>
        </p:txBody>
      </p:sp>
      <p:sp>
        <p:nvSpPr>
          <p:cNvPr id="15" name="Shape 13"/>
          <p:cNvSpPr/>
          <p:nvPr/>
        </p:nvSpPr>
        <p:spPr>
          <a:xfrm>
            <a:off x="6348222" y="1988312"/>
            <a:ext cx="2890967" cy="164592"/>
          </a:xfrm>
          <a:prstGeom prst="roundRect">
            <a:avLst>
              <a:gd name="adj" fmla="val 33333"/>
            </a:avLst>
          </a:prstGeom>
          <a:solidFill>
            <a:srgbClr val="113E36"/>
          </a:solidFill>
          <a:ln w="12700">
            <a:solidFill>
              <a:srgbClr val="113E36"/>
            </a:solidFill>
            <a:prstDash val="solid"/>
          </a:ln>
        </p:spPr>
        <p:txBody>
          <a:bodyPr/>
          <a:lstStyle/>
          <a:p>
            <a:endParaRPr lang="en-US"/>
          </a:p>
        </p:txBody>
      </p:sp>
      <p:sp>
        <p:nvSpPr>
          <p:cNvPr id="16" name="Text 14"/>
          <p:cNvSpPr/>
          <p:nvPr/>
        </p:nvSpPr>
        <p:spPr>
          <a:xfrm>
            <a:off x="9320022" y="1970024"/>
            <a:ext cx="502920" cy="201168"/>
          </a:xfrm>
          <a:prstGeom prst="rect">
            <a:avLst/>
          </a:prstGeom>
          <a:noFill/>
          <a:ln/>
        </p:spPr>
        <p:txBody>
          <a:bodyPr wrap="square" rtlCol="0" anchor="ctr"/>
          <a:lstStyle/>
          <a:p>
            <a:pPr marL="0" indent="0" algn="r">
              <a:buNone/>
            </a:pPr>
            <a:r>
              <a:rPr lang="en-US" sz="1100" b="1" dirty="0">
                <a:solidFill>
                  <a:srgbClr val="113E36"/>
                </a:solidFill>
                <a:latin typeface="Aptos" pitchFamily="34" charset="0"/>
                <a:ea typeface="Aptos" pitchFamily="34" charset="-122"/>
                <a:cs typeface="Aptos" pitchFamily="34" charset="-120"/>
              </a:rPr>
              <a:t>24.7%</a:t>
            </a:r>
            <a:endParaRPr lang="en-US" sz="1100" dirty="0"/>
          </a:p>
        </p:txBody>
      </p:sp>
      <p:sp>
        <p:nvSpPr>
          <p:cNvPr id="17" name="Text 15"/>
          <p:cNvSpPr/>
          <p:nvPr/>
        </p:nvSpPr>
        <p:spPr>
          <a:xfrm>
            <a:off x="5250942" y="2299208"/>
            <a:ext cx="1097280" cy="182880"/>
          </a:xfrm>
          <a:prstGeom prst="rect">
            <a:avLst/>
          </a:prstGeom>
          <a:noFill/>
          <a:ln/>
        </p:spPr>
        <p:txBody>
          <a:bodyPr wrap="square" rtlCol="0" anchor="ctr"/>
          <a:lstStyle/>
          <a:p>
            <a:pPr marL="0" indent="0">
              <a:buNone/>
            </a:pPr>
            <a:r>
              <a:rPr lang="en-US" sz="1100" dirty="0">
                <a:solidFill>
                  <a:srgbClr val="2C2C2C"/>
                </a:solidFill>
                <a:latin typeface="Aptos" pitchFamily="34" charset="0"/>
                <a:ea typeface="Aptos" pitchFamily="34" charset="-122"/>
                <a:cs typeface="Aptos" pitchFamily="34" charset="-120"/>
              </a:rPr>
              <a:t>Tesco</a:t>
            </a:r>
            <a:endParaRPr lang="en-US" sz="1100" dirty="0"/>
          </a:p>
        </p:txBody>
      </p:sp>
      <p:sp>
        <p:nvSpPr>
          <p:cNvPr id="18" name="Shape 16"/>
          <p:cNvSpPr/>
          <p:nvPr/>
        </p:nvSpPr>
        <p:spPr>
          <a:xfrm>
            <a:off x="6348222" y="2308352"/>
            <a:ext cx="2926080" cy="164592"/>
          </a:xfrm>
          <a:prstGeom prst="roundRect">
            <a:avLst>
              <a:gd name="adj" fmla="val 33333"/>
            </a:avLst>
          </a:prstGeom>
          <a:solidFill>
            <a:srgbClr val="E9E2D7"/>
          </a:solidFill>
          <a:ln w="12700">
            <a:solidFill>
              <a:srgbClr val="E9E2D7"/>
            </a:solidFill>
            <a:prstDash val="solid"/>
          </a:ln>
        </p:spPr>
        <p:txBody>
          <a:bodyPr/>
          <a:lstStyle/>
          <a:p>
            <a:endParaRPr lang="en-US"/>
          </a:p>
        </p:txBody>
      </p:sp>
      <p:sp>
        <p:nvSpPr>
          <p:cNvPr id="19" name="Shape 17"/>
          <p:cNvSpPr/>
          <p:nvPr/>
        </p:nvSpPr>
        <p:spPr>
          <a:xfrm>
            <a:off x="6348222" y="2308352"/>
            <a:ext cx="2867558" cy="164592"/>
          </a:xfrm>
          <a:prstGeom prst="roundRect">
            <a:avLst>
              <a:gd name="adj" fmla="val 33333"/>
            </a:avLst>
          </a:prstGeom>
          <a:solidFill>
            <a:srgbClr val="B9574E"/>
          </a:solidFill>
          <a:ln w="12700">
            <a:solidFill>
              <a:srgbClr val="B9574E"/>
            </a:solidFill>
            <a:prstDash val="solid"/>
          </a:ln>
        </p:spPr>
        <p:txBody>
          <a:bodyPr/>
          <a:lstStyle/>
          <a:p>
            <a:endParaRPr lang="en-US"/>
          </a:p>
        </p:txBody>
      </p:sp>
      <p:sp>
        <p:nvSpPr>
          <p:cNvPr id="20" name="Text 18"/>
          <p:cNvSpPr/>
          <p:nvPr/>
        </p:nvSpPr>
        <p:spPr>
          <a:xfrm>
            <a:off x="9320022" y="2290064"/>
            <a:ext cx="502920" cy="201168"/>
          </a:xfrm>
          <a:prstGeom prst="rect">
            <a:avLst/>
          </a:prstGeom>
          <a:noFill/>
          <a:ln/>
        </p:spPr>
        <p:txBody>
          <a:bodyPr wrap="square" rtlCol="0" anchor="ctr"/>
          <a:lstStyle/>
          <a:p>
            <a:pPr marL="0" indent="0" algn="r">
              <a:buNone/>
            </a:pPr>
            <a:r>
              <a:rPr lang="en-US" sz="1100" b="1" dirty="0">
                <a:solidFill>
                  <a:srgbClr val="113E36"/>
                </a:solidFill>
                <a:latin typeface="Aptos" pitchFamily="34" charset="0"/>
                <a:ea typeface="Aptos" pitchFamily="34" charset="-122"/>
                <a:cs typeface="Aptos" pitchFamily="34" charset="-120"/>
              </a:rPr>
              <a:t>24.5%</a:t>
            </a:r>
            <a:endParaRPr lang="en-US" sz="1100" dirty="0"/>
          </a:p>
        </p:txBody>
      </p:sp>
      <p:sp>
        <p:nvSpPr>
          <p:cNvPr id="21" name="Text 19"/>
          <p:cNvSpPr/>
          <p:nvPr/>
        </p:nvSpPr>
        <p:spPr>
          <a:xfrm>
            <a:off x="5250942" y="2619248"/>
            <a:ext cx="1097280" cy="182880"/>
          </a:xfrm>
          <a:prstGeom prst="rect">
            <a:avLst/>
          </a:prstGeom>
          <a:noFill/>
          <a:ln/>
        </p:spPr>
        <p:txBody>
          <a:bodyPr wrap="square" rtlCol="0" anchor="ctr"/>
          <a:lstStyle/>
          <a:p>
            <a:pPr marL="0" indent="0">
              <a:buNone/>
            </a:pPr>
            <a:r>
              <a:rPr lang="en-US" sz="1100" dirty="0">
                <a:solidFill>
                  <a:srgbClr val="2C2C2C"/>
                </a:solidFill>
                <a:latin typeface="Aptos" pitchFamily="34" charset="0"/>
                <a:ea typeface="Aptos" pitchFamily="34" charset="-122"/>
                <a:cs typeface="Aptos" pitchFamily="34" charset="-120"/>
              </a:rPr>
              <a:t>SuperValu</a:t>
            </a:r>
            <a:endParaRPr lang="en-US" sz="1100" dirty="0"/>
          </a:p>
        </p:txBody>
      </p:sp>
      <p:sp>
        <p:nvSpPr>
          <p:cNvPr id="22" name="Shape 20"/>
          <p:cNvSpPr/>
          <p:nvPr/>
        </p:nvSpPr>
        <p:spPr>
          <a:xfrm>
            <a:off x="6348222" y="2628392"/>
            <a:ext cx="2926080" cy="164592"/>
          </a:xfrm>
          <a:prstGeom prst="roundRect">
            <a:avLst>
              <a:gd name="adj" fmla="val 33333"/>
            </a:avLst>
          </a:prstGeom>
          <a:solidFill>
            <a:srgbClr val="E9E2D7"/>
          </a:solidFill>
          <a:ln w="12700">
            <a:solidFill>
              <a:srgbClr val="E9E2D7"/>
            </a:solidFill>
            <a:prstDash val="solid"/>
          </a:ln>
        </p:spPr>
        <p:txBody>
          <a:bodyPr/>
          <a:lstStyle/>
          <a:p>
            <a:endParaRPr lang="en-US"/>
          </a:p>
        </p:txBody>
      </p:sp>
      <p:sp>
        <p:nvSpPr>
          <p:cNvPr id="23" name="Shape 21"/>
          <p:cNvSpPr/>
          <p:nvPr/>
        </p:nvSpPr>
        <p:spPr>
          <a:xfrm>
            <a:off x="6348222" y="2628392"/>
            <a:ext cx="2305751" cy="164592"/>
          </a:xfrm>
          <a:prstGeom prst="roundRect">
            <a:avLst>
              <a:gd name="adj" fmla="val 33333"/>
            </a:avLst>
          </a:prstGeom>
          <a:solidFill>
            <a:srgbClr val="B48C52"/>
          </a:solidFill>
          <a:ln w="12700">
            <a:solidFill>
              <a:srgbClr val="B48C52"/>
            </a:solidFill>
            <a:prstDash val="solid"/>
          </a:ln>
        </p:spPr>
        <p:txBody>
          <a:bodyPr/>
          <a:lstStyle/>
          <a:p>
            <a:endParaRPr lang="en-US"/>
          </a:p>
        </p:txBody>
      </p:sp>
      <p:sp>
        <p:nvSpPr>
          <p:cNvPr id="24" name="Text 22"/>
          <p:cNvSpPr/>
          <p:nvPr/>
        </p:nvSpPr>
        <p:spPr>
          <a:xfrm>
            <a:off x="9320022" y="2610104"/>
            <a:ext cx="502920" cy="201168"/>
          </a:xfrm>
          <a:prstGeom prst="rect">
            <a:avLst/>
          </a:prstGeom>
          <a:noFill/>
          <a:ln/>
        </p:spPr>
        <p:txBody>
          <a:bodyPr wrap="square" rtlCol="0" anchor="ctr"/>
          <a:lstStyle/>
          <a:p>
            <a:pPr marL="0" indent="0" algn="r">
              <a:buNone/>
            </a:pPr>
            <a:r>
              <a:rPr lang="en-US" sz="1100" b="1" dirty="0">
                <a:solidFill>
                  <a:srgbClr val="113E36"/>
                </a:solidFill>
                <a:latin typeface="Aptos" pitchFamily="34" charset="0"/>
                <a:ea typeface="Aptos" pitchFamily="34" charset="-122"/>
                <a:cs typeface="Aptos" pitchFamily="34" charset="-120"/>
              </a:rPr>
              <a:t>19.7%</a:t>
            </a:r>
            <a:endParaRPr lang="en-US" sz="1100" dirty="0"/>
          </a:p>
        </p:txBody>
      </p:sp>
      <p:sp>
        <p:nvSpPr>
          <p:cNvPr id="25" name="Text 23"/>
          <p:cNvSpPr/>
          <p:nvPr/>
        </p:nvSpPr>
        <p:spPr>
          <a:xfrm>
            <a:off x="5250942" y="2939288"/>
            <a:ext cx="1097280" cy="182880"/>
          </a:xfrm>
          <a:prstGeom prst="rect">
            <a:avLst/>
          </a:prstGeom>
          <a:noFill/>
          <a:ln/>
        </p:spPr>
        <p:txBody>
          <a:bodyPr wrap="square" rtlCol="0" anchor="ctr"/>
          <a:lstStyle/>
          <a:p>
            <a:pPr marL="0" indent="0">
              <a:buNone/>
            </a:pPr>
            <a:r>
              <a:rPr lang="en-US" sz="1100" dirty="0">
                <a:solidFill>
                  <a:srgbClr val="2C2C2C"/>
                </a:solidFill>
                <a:latin typeface="Aptos" pitchFamily="34" charset="0"/>
                <a:ea typeface="Aptos" pitchFamily="34" charset="-122"/>
                <a:cs typeface="Aptos" pitchFamily="34" charset="-120"/>
              </a:rPr>
              <a:t>Lidl</a:t>
            </a:r>
            <a:endParaRPr lang="en-US" sz="1100" dirty="0"/>
          </a:p>
        </p:txBody>
      </p:sp>
      <p:sp>
        <p:nvSpPr>
          <p:cNvPr id="26" name="Shape 24"/>
          <p:cNvSpPr/>
          <p:nvPr/>
        </p:nvSpPr>
        <p:spPr>
          <a:xfrm>
            <a:off x="6348222" y="2948432"/>
            <a:ext cx="2926080" cy="164592"/>
          </a:xfrm>
          <a:prstGeom prst="roundRect">
            <a:avLst>
              <a:gd name="adj" fmla="val 33333"/>
            </a:avLst>
          </a:prstGeom>
          <a:solidFill>
            <a:srgbClr val="E9E2D7"/>
          </a:solidFill>
          <a:ln w="12700">
            <a:solidFill>
              <a:srgbClr val="E9E2D7"/>
            </a:solidFill>
            <a:prstDash val="solid"/>
          </a:ln>
        </p:spPr>
        <p:txBody>
          <a:bodyPr/>
          <a:lstStyle/>
          <a:p>
            <a:endParaRPr lang="en-US"/>
          </a:p>
        </p:txBody>
      </p:sp>
      <p:sp>
        <p:nvSpPr>
          <p:cNvPr id="27" name="Shape 25"/>
          <p:cNvSpPr/>
          <p:nvPr/>
        </p:nvSpPr>
        <p:spPr>
          <a:xfrm>
            <a:off x="6348222" y="2948432"/>
            <a:ext cx="1521562" cy="164592"/>
          </a:xfrm>
          <a:prstGeom prst="roundRect">
            <a:avLst>
              <a:gd name="adj" fmla="val 33333"/>
            </a:avLst>
          </a:prstGeom>
          <a:solidFill>
            <a:srgbClr val="6D8AA1"/>
          </a:solidFill>
          <a:ln w="12700">
            <a:solidFill>
              <a:srgbClr val="6D8AA1"/>
            </a:solidFill>
            <a:prstDash val="solid"/>
          </a:ln>
        </p:spPr>
        <p:txBody>
          <a:bodyPr/>
          <a:lstStyle/>
          <a:p>
            <a:endParaRPr lang="en-US"/>
          </a:p>
        </p:txBody>
      </p:sp>
      <p:sp>
        <p:nvSpPr>
          <p:cNvPr id="28" name="Text 26"/>
          <p:cNvSpPr/>
          <p:nvPr/>
        </p:nvSpPr>
        <p:spPr>
          <a:xfrm>
            <a:off x="9320022" y="2930144"/>
            <a:ext cx="502920" cy="201168"/>
          </a:xfrm>
          <a:prstGeom prst="rect">
            <a:avLst/>
          </a:prstGeom>
          <a:noFill/>
          <a:ln/>
        </p:spPr>
        <p:txBody>
          <a:bodyPr wrap="square" rtlCol="0" anchor="ctr"/>
          <a:lstStyle/>
          <a:p>
            <a:pPr marL="0" indent="0" algn="r">
              <a:buNone/>
            </a:pPr>
            <a:r>
              <a:rPr lang="en-US" sz="1100" b="1" dirty="0">
                <a:solidFill>
                  <a:srgbClr val="113E36"/>
                </a:solidFill>
                <a:latin typeface="Aptos" pitchFamily="34" charset="0"/>
                <a:ea typeface="Aptos" pitchFamily="34" charset="-122"/>
                <a:cs typeface="Aptos" pitchFamily="34" charset="-120"/>
              </a:rPr>
              <a:t>13%</a:t>
            </a:r>
            <a:endParaRPr lang="en-US" sz="1100" dirty="0"/>
          </a:p>
        </p:txBody>
      </p:sp>
      <p:sp>
        <p:nvSpPr>
          <p:cNvPr id="29" name="Text 27"/>
          <p:cNvSpPr/>
          <p:nvPr/>
        </p:nvSpPr>
        <p:spPr>
          <a:xfrm>
            <a:off x="5250942" y="3259328"/>
            <a:ext cx="1097280" cy="182880"/>
          </a:xfrm>
          <a:prstGeom prst="rect">
            <a:avLst/>
          </a:prstGeom>
          <a:noFill/>
          <a:ln/>
        </p:spPr>
        <p:txBody>
          <a:bodyPr wrap="square" rtlCol="0" anchor="ctr"/>
          <a:lstStyle/>
          <a:p>
            <a:pPr marL="0" indent="0">
              <a:buNone/>
            </a:pPr>
            <a:r>
              <a:rPr lang="en-US" sz="1100" dirty="0">
                <a:solidFill>
                  <a:srgbClr val="2C2C2C"/>
                </a:solidFill>
                <a:latin typeface="Aptos" pitchFamily="34" charset="0"/>
                <a:ea typeface="Aptos" pitchFamily="34" charset="-122"/>
                <a:cs typeface="Aptos" pitchFamily="34" charset="-120"/>
              </a:rPr>
              <a:t>Aldi</a:t>
            </a:r>
            <a:endParaRPr lang="en-US" sz="1100" dirty="0"/>
          </a:p>
        </p:txBody>
      </p:sp>
      <p:sp>
        <p:nvSpPr>
          <p:cNvPr id="30" name="Shape 28"/>
          <p:cNvSpPr/>
          <p:nvPr/>
        </p:nvSpPr>
        <p:spPr>
          <a:xfrm>
            <a:off x="6348222" y="3268472"/>
            <a:ext cx="2926080" cy="164592"/>
          </a:xfrm>
          <a:prstGeom prst="roundRect">
            <a:avLst>
              <a:gd name="adj" fmla="val 33333"/>
            </a:avLst>
          </a:prstGeom>
          <a:solidFill>
            <a:srgbClr val="E9E2D7"/>
          </a:solidFill>
          <a:ln w="12700">
            <a:solidFill>
              <a:srgbClr val="E9E2D7"/>
            </a:solidFill>
            <a:prstDash val="solid"/>
          </a:ln>
        </p:spPr>
        <p:txBody>
          <a:bodyPr/>
          <a:lstStyle/>
          <a:p>
            <a:endParaRPr lang="en-US"/>
          </a:p>
        </p:txBody>
      </p:sp>
      <p:sp>
        <p:nvSpPr>
          <p:cNvPr id="31" name="Shape 29"/>
          <p:cNvSpPr/>
          <p:nvPr/>
        </p:nvSpPr>
        <p:spPr>
          <a:xfrm>
            <a:off x="6348222" y="3268472"/>
            <a:ext cx="1205545" cy="164592"/>
          </a:xfrm>
          <a:prstGeom prst="roundRect">
            <a:avLst>
              <a:gd name="adj" fmla="val 33333"/>
            </a:avLst>
          </a:prstGeom>
          <a:solidFill>
            <a:srgbClr val="C8A937"/>
          </a:solidFill>
          <a:ln w="12700">
            <a:solidFill>
              <a:srgbClr val="C8A937"/>
            </a:solidFill>
            <a:prstDash val="solid"/>
          </a:ln>
        </p:spPr>
        <p:txBody>
          <a:bodyPr/>
          <a:lstStyle/>
          <a:p>
            <a:endParaRPr lang="en-US"/>
          </a:p>
        </p:txBody>
      </p:sp>
      <p:sp>
        <p:nvSpPr>
          <p:cNvPr id="32" name="Text 30"/>
          <p:cNvSpPr/>
          <p:nvPr/>
        </p:nvSpPr>
        <p:spPr>
          <a:xfrm>
            <a:off x="9320022" y="3250184"/>
            <a:ext cx="502920" cy="201168"/>
          </a:xfrm>
          <a:prstGeom prst="rect">
            <a:avLst/>
          </a:prstGeom>
          <a:noFill/>
          <a:ln/>
        </p:spPr>
        <p:txBody>
          <a:bodyPr wrap="square" rtlCol="0" anchor="ctr"/>
          <a:lstStyle/>
          <a:p>
            <a:pPr marL="0" indent="0" algn="r">
              <a:buNone/>
            </a:pPr>
            <a:r>
              <a:rPr lang="en-US" sz="1100" b="1" dirty="0">
                <a:solidFill>
                  <a:srgbClr val="113E36"/>
                </a:solidFill>
                <a:latin typeface="Aptos" pitchFamily="34" charset="0"/>
                <a:ea typeface="Aptos" pitchFamily="34" charset="-122"/>
                <a:cs typeface="Aptos" pitchFamily="34" charset="-120"/>
              </a:rPr>
              <a:t>10.3%</a:t>
            </a:r>
            <a:endParaRPr lang="en-US" sz="1100" dirty="0"/>
          </a:p>
        </p:txBody>
      </p:sp>
      <p:sp>
        <p:nvSpPr>
          <p:cNvPr id="33" name="Shape 31"/>
          <p:cNvSpPr/>
          <p:nvPr/>
        </p:nvSpPr>
        <p:spPr>
          <a:xfrm>
            <a:off x="9822942" y="1605280"/>
            <a:ext cx="2240280" cy="1874520"/>
          </a:xfrm>
          <a:prstGeom prst="roundRect">
            <a:avLst>
              <a:gd name="adj" fmla="val 3902"/>
            </a:avLst>
          </a:prstGeom>
          <a:solidFill>
            <a:srgbClr val="FBF8F1"/>
          </a:solidFill>
          <a:ln w="12700">
            <a:solidFill>
              <a:srgbClr val="D8CDBA"/>
            </a:solidFill>
            <a:prstDash val="solid"/>
          </a:ln>
        </p:spPr>
        <p:txBody>
          <a:bodyPr/>
          <a:lstStyle/>
          <a:p>
            <a:endParaRPr lang="en-US"/>
          </a:p>
        </p:txBody>
      </p:sp>
      <p:sp>
        <p:nvSpPr>
          <p:cNvPr id="34" name="Text 32"/>
          <p:cNvSpPr/>
          <p:nvPr/>
        </p:nvSpPr>
        <p:spPr>
          <a:xfrm>
            <a:off x="9987534" y="1651001"/>
            <a:ext cx="1911096"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What the chart tells us</a:t>
            </a:r>
            <a:endParaRPr lang="en-US" sz="1300" dirty="0"/>
          </a:p>
        </p:txBody>
      </p:sp>
      <p:sp>
        <p:nvSpPr>
          <p:cNvPr id="35" name="Text 33"/>
          <p:cNvSpPr/>
          <p:nvPr/>
        </p:nvSpPr>
        <p:spPr>
          <a:xfrm>
            <a:off x="10026487" y="2092961"/>
            <a:ext cx="1911096" cy="1175511"/>
          </a:xfrm>
          <a:prstGeom prst="rect">
            <a:avLst/>
          </a:prstGeom>
          <a:noFill/>
          <a:ln/>
        </p:spPr>
        <p:txBody>
          <a:bodyPr wrap="square" lIns="0" tIns="0" rIns="0" bIns="0" rtlCol="0" anchor="t"/>
          <a:lstStyle/>
          <a:p>
            <a:pPr marL="0" indent="0">
              <a:buNone/>
            </a:pPr>
            <a:r>
              <a:rPr lang="en-US" sz="1050" dirty="0">
                <a:solidFill>
                  <a:srgbClr val="2C2C2C"/>
                </a:solidFill>
                <a:latin typeface="Aptos" pitchFamily="34" charset="0"/>
                <a:ea typeface="Aptos" pitchFamily="34" charset="-122"/>
                <a:cs typeface="Aptos" pitchFamily="34" charset="-120"/>
              </a:rPr>
              <a:t>Dunnes is already winning. But the distance to Tesco is tiny. The growth fight is now as much about brand meaning as it is about mechanics.</a:t>
            </a:r>
            <a:endParaRPr lang="en-US" sz="1050" dirty="0"/>
          </a:p>
        </p:txBody>
      </p:sp>
      <p:sp>
        <p:nvSpPr>
          <p:cNvPr id="36" name="Shape 34"/>
          <p:cNvSpPr/>
          <p:nvPr/>
        </p:nvSpPr>
        <p:spPr>
          <a:xfrm>
            <a:off x="5486400" y="3703320"/>
            <a:ext cx="5852160" cy="1783080"/>
          </a:xfrm>
          <a:prstGeom prst="roundRect">
            <a:avLst>
              <a:gd name="adj" fmla="val 4103"/>
            </a:avLst>
          </a:prstGeom>
          <a:solidFill>
            <a:srgbClr val="113E36"/>
          </a:solidFill>
          <a:ln w="12700">
            <a:solidFill>
              <a:srgbClr val="113E36"/>
            </a:solidFill>
            <a:prstDash val="solid"/>
          </a:ln>
          <a:effectLst>
            <a:outerShdw blurRad="19050" dist="12700" dir="2700000" algn="bl" rotWithShape="0">
              <a:srgbClr val="000000">
                <a:alpha val="12000"/>
              </a:srgbClr>
            </a:outerShdw>
          </a:effectLst>
        </p:spPr>
        <p:txBody>
          <a:bodyPr/>
          <a:lstStyle/>
          <a:p>
            <a:endParaRPr lang="en-US"/>
          </a:p>
        </p:txBody>
      </p:sp>
      <p:sp>
        <p:nvSpPr>
          <p:cNvPr id="37" name="Text 35"/>
          <p:cNvSpPr/>
          <p:nvPr/>
        </p:nvSpPr>
        <p:spPr>
          <a:xfrm>
            <a:off x="5650992" y="3840480"/>
            <a:ext cx="5522976" cy="228600"/>
          </a:xfrm>
          <a:prstGeom prst="rect">
            <a:avLst/>
          </a:prstGeom>
          <a:noFill/>
          <a:ln/>
        </p:spPr>
        <p:txBody>
          <a:bodyPr wrap="square" rtlCol="0" anchor="ctr"/>
          <a:lstStyle/>
          <a:p>
            <a:pPr marL="0" indent="0">
              <a:buNone/>
            </a:pPr>
            <a:r>
              <a:rPr lang="en-US" sz="1300" b="1" dirty="0">
                <a:solidFill>
                  <a:srgbClr val="FFFFFF"/>
                </a:solidFill>
                <a:latin typeface="Aptos" pitchFamily="34" charset="0"/>
                <a:ea typeface="Aptos" pitchFamily="34" charset="-122"/>
                <a:cs typeface="Aptos" pitchFamily="34" charset="-120"/>
              </a:rPr>
              <a:t>The strategic implication</a:t>
            </a:r>
            <a:endParaRPr lang="en-US" sz="1300" dirty="0"/>
          </a:p>
        </p:txBody>
      </p:sp>
      <p:sp>
        <p:nvSpPr>
          <p:cNvPr id="38" name="Text 36"/>
          <p:cNvSpPr/>
          <p:nvPr/>
        </p:nvSpPr>
        <p:spPr>
          <a:xfrm>
            <a:off x="5650992" y="4114800"/>
            <a:ext cx="5522976" cy="1252728"/>
          </a:xfrm>
          <a:prstGeom prst="rect">
            <a:avLst/>
          </a:prstGeom>
          <a:noFill/>
          <a:ln/>
        </p:spPr>
        <p:txBody>
          <a:bodyPr wrap="square" lIns="0" tIns="0" rIns="0" bIns="0" rtlCol="0" anchor="t"/>
          <a:lstStyle/>
          <a:p>
            <a:pPr marL="0" indent="0">
              <a:buNone/>
            </a:pPr>
            <a:r>
              <a:rPr lang="en-US" sz="1130" dirty="0">
                <a:solidFill>
                  <a:srgbClr val="F3EADF"/>
                </a:solidFill>
                <a:latin typeface="Aptos" pitchFamily="34" charset="0"/>
                <a:ea typeface="Aptos" pitchFamily="34" charset="-122"/>
                <a:cs typeface="Aptos" pitchFamily="34" charset="-120"/>
              </a:rPr>
              <a:t>The business does not need a narrow discount story. It needs a sharper story about better choices, stronger taste and more desirable everyday living — one that Tesco cannot own as credibly across food, fashion and home.</a:t>
            </a:r>
            <a:endParaRPr lang="en-US" sz="1130" dirty="0"/>
          </a:p>
        </p:txBody>
      </p:sp>
      <p:sp>
        <p:nvSpPr>
          <p:cNvPr id="39" name="Slide Number Placeholder 0"/>
          <p:cNvSpPr>
            <a:spLocks noGrp="1"/>
          </p:cNvSpPr>
          <p:nvPr>
            <p:ph type="sldNum" sz="quarter" idx="4294967295"/>
          </p:nvPr>
        </p:nvSpPr>
        <p:spPr>
          <a:xfrm>
            <a:off x="11658600" y="109728"/>
            <a:ext cx="32004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7D746A"/>
                </a:solidFill>
                <a:latin typeface="Aptos"/>
                <a:ea typeface="Aptos"/>
                <a:cs typeface="Aptos"/>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nvSpPr>
        <p:spPr>
          <a:xfrm>
            <a:off x="914400" y="310896"/>
            <a:ext cx="2286000" cy="164592"/>
          </a:xfrm>
          <a:prstGeom prst="rect">
            <a:avLst/>
          </a:prstGeom>
          <a:noFill/>
          <a:ln/>
        </p:spPr>
        <p:txBody>
          <a:bodyPr wrap="square" rtlCol="0" anchor="ctr"/>
          <a:lstStyle/>
          <a:p>
            <a:pPr marL="0" indent="0">
              <a:buNone/>
            </a:pPr>
            <a:r>
              <a:rPr lang="en-US" sz="900" b="1" dirty="0">
                <a:solidFill>
                  <a:srgbClr val="C96E4D"/>
                </a:solidFill>
                <a:latin typeface="Aptos" pitchFamily="34" charset="0"/>
                <a:ea typeface="Aptos" pitchFamily="34" charset="-122"/>
                <a:cs typeface="Aptos" pitchFamily="34" charset="-120"/>
              </a:rPr>
              <a:t>COMPETITIVE LENS</a:t>
            </a:r>
            <a:endParaRPr lang="en-US" sz="900" dirty="0"/>
          </a:p>
        </p:txBody>
      </p:sp>
      <p:sp>
        <p:nvSpPr>
          <p:cNvPr id="4" name="Text 2"/>
          <p:cNvSpPr/>
          <p:nvPr/>
        </p:nvSpPr>
        <p:spPr>
          <a:xfrm>
            <a:off x="868680" y="530352"/>
            <a:ext cx="10424160" cy="502920"/>
          </a:xfrm>
          <a:prstGeom prst="rect">
            <a:avLst/>
          </a:prstGeom>
          <a:noFill/>
          <a:ln/>
        </p:spPr>
        <p:txBody>
          <a:bodyPr wrap="square" rtlCol="0" anchor="ctr"/>
          <a:lstStyle/>
          <a:p>
            <a:pPr marL="0" indent="0">
              <a:buNone/>
            </a:pPr>
            <a:r>
              <a:rPr lang="en-US" sz="2400" b="1" dirty="0">
                <a:solidFill>
                  <a:srgbClr val="113E36"/>
                </a:solidFill>
                <a:latin typeface="Georgia" pitchFamily="34" charset="0"/>
                <a:ea typeface="Georgia" pitchFamily="34" charset="-122"/>
                <a:cs typeface="Georgia" pitchFamily="34" charset="-120"/>
              </a:rPr>
              <a:t>Tesco is the real comparator — and the right opponent</a:t>
            </a:r>
            <a:endParaRPr lang="en-US" sz="2400" dirty="0"/>
          </a:p>
        </p:txBody>
      </p:sp>
      <p:sp>
        <p:nvSpPr>
          <p:cNvPr id="5" name="Shape 3"/>
          <p:cNvSpPr/>
          <p:nvPr/>
        </p:nvSpPr>
        <p:spPr>
          <a:xfrm>
            <a:off x="868680" y="1078992"/>
            <a:ext cx="10698480" cy="0"/>
          </a:xfrm>
          <a:prstGeom prst="line">
            <a:avLst/>
          </a:prstGeom>
          <a:noFill/>
          <a:ln w="12700">
            <a:solidFill>
              <a:srgbClr val="D8CDBA"/>
            </a:solidFill>
            <a:prstDash val="solid"/>
          </a:ln>
        </p:spPr>
        <p:txBody>
          <a:bodyPr/>
          <a:lstStyle/>
          <a:p>
            <a:endParaRPr lang="en-US"/>
          </a:p>
        </p:txBody>
      </p:sp>
      <p:sp>
        <p:nvSpPr>
          <p:cNvPr id="6" name="Shape 4"/>
          <p:cNvSpPr/>
          <p:nvPr/>
        </p:nvSpPr>
        <p:spPr>
          <a:xfrm>
            <a:off x="868680" y="1417320"/>
            <a:ext cx="5074920" cy="4480560"/>
          </a:xfrm>
          <a:prstGeom prst="roundRect">
            <a:avLst>
              <a:gd name="adj" fmla="val 1633"/>
            </a:avLst>
          </a:prstGeom>
          <a:solidFill>
            <a:srgbClr val="FBF8F1"/>
          </a:solidFill>
          <a:ln w="12700">
            <a:solidFill>
              <a:srgbClr val="D8CDBA"/>
            </a:solidFill>
            <a:prstDash val="solid"/>
          </a:ln>
          <a:effectLst>
            <a:outerShdw blurRad="19050" dist="12700" dir="2700000" algn="bl" rotWithShape="0">
              <a:srgbClr val="000000">
                <a:alpha val="12000"/>
              </a:srgbClr>
            </a:outerShdw>
          </a:effectLst>
        </p:spPr>
        <p:txBody>
          <a:bodyPr/>
          <a:lstStyle/>
          <a:p>
            <a:endParaRPr lang="en-US"/>
          </a:p>
        </p:txBody>
      </p:sp>
      <p:sp>
        <p:nvSpPr>
          <p:cNvPr id="7" name="Text 5"/>
          <p:cNvSpPr/>
          <p:nvPr/>
        </p:nvSpPr>
        <p:spPr>
          <a:xfrm>
            <a:off x="1033272" y="1554480"/>
            <a:ext cx="4745736"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What Tesco tends to mean</a:t>
            </a:r>
            <a:endParaRPr lang="en-US" sz="1300" dirty="0"/>
          </a:p>
        </p:txBody>
      </p:sp>
      <p:sp>
        <p:nvSpPr>
          <p:cNvPr id="8" name="Text 6"/>
          <p:cNvSpPr/>
          <p:nvPr/>
        </p:nvSpPr>
        <p:spPr>
          <a:xfrm>
            <a:off x="1033272" y="1828800"/>
            <a:ext cx="4745736" cy="3950208"/>
          </a:xfrm>
          <a:prstGeom prst="rect">
            <a:avLst/>
          </a:prstGeom>
          <a:noFill/>
          <a:ln/>
        </p:spPr>
        <p:txBody>
          <a:bodyPr wrap="square" lIns="0" tIns="0" rIns="0" bIns="0" rtlCol="0" anchor="t"/>
          <a:lstStyle/>
          <a:p>
            <a:pPr marL="0" indent="0">
              <a:buNone/>
            </a:pPr>
            <a:endParaRPr lang="en-US" sz="1050" dirty="0"/>
          </a:p>
        </p:txBody>
      </p:sp>
      <p:sp>
        <p:nvSpPr>
          <p:cNvPr id="9" name="Shape 7"/>
          <p:cNvSpPr/>
          <p:nvPr/>
        </p:nvSpPr>
        <p:spPr>
          <a:xfrm>
            <a:off x="6236208" y="1417320"/>
            <a:ext cx="5074920" cy="4480560"/>
          </a:xfrm>
          <a:prstGeom prst="roundRect">
            <a:avLst>
              <a:gd name="adj" fmla="val 1633"/>
            </a:avLst>
          </a:prstGeom>
          <a:solidFill>
            <a:srgbClr val="F9F6EF"/>
          </a:solidFill>
          <a:ln w="12700">
            <a:solidFill>
              <a:srgbClr val="D8CDBA"/>
            </a:solidFill>
            <a:prstDash val="solid"/>
          </a:ln>
          <a:effectLst>
            <a:outerShdw blurRad="19050" dist="12700" dir="2700000" algn="bl" rotWithShape="0">
              <a:srgbClr val="000000">
                <a:alpha val="12000"/>
              </a:srgbClr>
            </a:outerShdw>
          </a:effectLst>
        </p:spPr>
        <p:txBody>
          <a:bodyPr/>
          <a:lstStyle/>
          <a:p>
            <a:endParaRPr lang="en-US"/>
          </a:p>
        </p:txBody>
      </p:sp>
      <p:sp>
        <p:nvSpPr>
          <p:cNvPr id="10" name="Text 8"/>
          <p:cNvSpPr/>
          <p:nvPr/>
        </p:nvSpPr>
        <p:spPr>
          <a:xfrm>
            <a:off x="6400800" y="1554480"/>
            <a:ext cx="4745736"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What Dunnes can mean instead</a:t>
            </a:r>
            <a:endParaRPr lang="en-US" sz="1300" dirty="0"/>
          </a:p>
        </p:txBody>
      </p:sp>
      <p:sp>
        <p:nvSpPr>
          <p:cNvPr id="11" name="Text 9"/>
          <p:cNvSpPr/>
          <p:nvPr/>
        </p:nvSpPr>
        <p:spPr>
          <a:xfrm>
            <a:off x="6400800" y="1828800"/>
            <a:ext cx="4745736" cy="3950208"/>
          </a:xfrm>
          <a:prstGeom prst="rect">
            <a:avLst/>
          </a:prstGeom>
          <a:noFill/>
          <a:ln/>
        </p:spPr>
        <p:txBody>
          <a:bodyPr wrap="square" lIns="0" tIns="0" rIns="0" bIns="0" rtlCol="0" anchor="t"/>
          <a:lstStyle/>
          <a:p>
            <a:pPr marL="0" indent="0">
              <a:buNone/>
            </a:pPr>
            <a:endParaRPr lang="en-US" sz="1050" dirty="0"/>
          </a:p>
        </p:txBody>
      </p:sp>
      <p:sp>
        <p:nvSpPr>
          <p:cNvPr id="12" name="Shape 10"/>
          <p:cNvSpPr/>
          <p:nvPr/>
        </p:nvSpPr>
        <p:spPr>
          <a:xfrm>
            <a:off x="1115568" y="1784096"/>
            <a:ext cx="914400" cy="256032"/>
          </a:xfrm>
          <a:prstGeom prst="roundRect">
            <a:avLst>
              <a:gd name="adj" fmla="val 28571"/>
            </a:avLst>
          </a:prstGeom>
          <a:solidFill>
            <a:srgbClr val="EDE6DA"/>
          </a:solidFill>
          <a:ln w="12700">
            <a:solidFill>
              <a:srgbClr val="D9CCB8"/>
            </a:solidFill>
            <a:prstDash val="solid"/>
          </a:ln>
        </p:spPr>
        <p:txBody>
          <a:bodyPr/>
          <a:lstStyle/>
          <a:p>
            <a:endParaRPr lang="en-US"/>
          </a:p>
        </p:txBody>
      </p:sp>
      <p:sp>
        <p:nvSpPr>
          <p:cNvPr id="13" name="Text 11"/>
          <p:cNvSpPr/>
          <p:nvPr/>
        </p:nvSpPr>
        <p:spPr>
          <a:xfrm>
            <a:off x="1188720" y="1838960"/>
            <a:ext cx="768096" cy="146304"/>
          </a:xfrm>
          <a:prstGeom prst="rect">
            <a:avLst/>
          </a:prstGeom>
          <a:noFill/>
          <a:ln/>
        </p:spPr>
        <p:txBody>
          <a:bodyPr wrap="square" rtlCol="0" anchor="ctr"/>
          <a:lstStyle/>
          <a:p>
            <a:pPr marL="0" indent="0" algn="ctr">
              <a:buNone/>
            </a:pPr>
            <a:r>
              <a:rPr lang="en-US" sz="800" b="1" dirty="0">
                <a:solidFill>
                  <a:srgbClr val="113E36"/>
                </a:solidFill>
                <a:latin typeface="Aptos" pitchFamily="34" charset="0"/>
                <a:ea typeface="Aptos" pitchFamily="34" charset="-122"/>
                <a:cs typeface="Aptos" pitchFamily="34" charset="-120"/>
              </a:rPr>
              <a:t>TESCO</a:t>
            </a:r>
            <a:endParaRPr lang="en-US" sz="800" dirty="0"/>
          </a:p>
        </p:txBody>
      </p:sp>
      <p:sp>
        <p:nvSpPr>
          <p:cNvPr id="14" name="Shape 12"/>
          <p:cNvSpPr/>
          <p:nvPr/>
        </p:nvSpPr>
        <p:spPr>
          <a:xfrm>
            <a:off x="6483096" y="1784096"/>
            <a:ext cx="1005840" cy="256032"/>
          </a:xfrm>
          <a:prstGeom prst="roundRect">
            <a:avLst>
              <a:gd name="adj" fmla="val 28571"/>
            </a:avLst>
          </a:prstGeom>
          <a:solidFill>
            <a:srgbClr val="EDE6DA"/>
          </a:solidFill>
          <a:ln w="12700">
            <a:solidFill>
              <a:srgbClr val="D9CCB8"/>
            </a:solidFill>
            <a:prstDash val="solid"/>
          </a:ln>
        </p:spPr>
        <p:txBody>
          <a:bodyPr/>
          <a:lstStyle/>
          <a:p>
            <a:endParaRPr lang="en-US"/>
          </a:p>
        </p:txBody>
      </p:sp>
      <p:sp>
        <p:nvSpPr>
          <p:cNvPr id="15" name="Text 13"/>
          <p:cNvSpPr/>
          <p:nvPr/>
        </p:nvSpPr>
        <p:spPr>
          <a:xfrm>
            <a:off x="6556248" y="1851660"/>
            <a:ext cx="859536" cy="146304"/>
          </a:xfrm>
          <a:prstGeom prst="rect">
            <a:avLst/>
          </a:prstGeom>
          <a:noFill/>
          <a:ln/>
        </p:spPr>
        <p:txBody>
          <a:bodyPr wrap="square" rtlCol="0" anchor="ctr"/>
          <a:lstStyle/>
          <a:p>
            <a:pPr marL="0" indent="0" algn="ctr">
              <a:buNone/>
            </a:pPr>
            <a:r>
              <a:rPr lang="en-US" sz="800" b="1" dirty="0">
                <a:solidFill>
                  <a:srgbClr val="113E36"/>
                </a:solidFill>
                <a:latin typeface="Aptos" pitchFamily="34" charset="0"/>
                <a:ea typeface="Aptos" pitchFamily="34" charset="-122"/>
                <a:cs typeface="Aptos" pitchFamily="34" charset="-120"/>
              </a:rPr>
              <a:t>DUNNES</a:t>
            </a:r>
            <a:endParaRPr lang="en-US" sz="800" dirty="0"/>
          </a:p>
        </p:txBody>
      </p:sp>
      <p:sp>
        <p:nvSpPr>
          <p:cNvPr id="16" name="Text 14"/>
          <p:cNvSpPr/>
          <p:nvPr/>
        </p:nvSpPr>
        <p:spPr>
          <a:xfrm>
            <a:off x="1115568" y="2057400"/>
            <a:ext cx="4526280" cy="2103120"/>
          </a:xfrm>
          <a:prstGeom prst="rect">
            <a:avLst/>
          </a:prstGeom>
          <a:noFill/>
          <a:ln/>
        </p:spPr>
        <p:txBody>
          <a:bodyPr wrap="square" lIns="0" tIns="0" rIns="0" bIns="0" rtlCol="0" anchor="t"/>
          <a:lstStyle/>
          <a:p>
            <a:pPr marL="0" indent="0">
              <a:buNone/>
            </a:pPr>
            <a:r>
              <a:rPr lang="en-US" sz="1200" b="1" dirty="0">
                <a:solidFill>
                  <a:srgbClr val="B9574E"/>
                </a:solidFill>
                <a:latin typeface="Aptos" pitchFamily="34" charset="0"/>
                <a:ea typeface="Aptos" pitchFamily="34" charset="-122"/>
                <a:cs typeface="Aptos" pitchFamily="34" charset="-120"/>
              </a:rPr>
              <a:t>• </a:t>
            </a:r>
            <a:r>
              <a:rPr lang="en-US" sz="1200" dirty="0">
                <a:solidFill>
                  <a:srgbClr val="2C2C2C"/>
                </a:solidFill>
                <a:latin typeface="Aptos" pitchFamily="34" charset="0"/>
                <a:ea typeface="Aptos" pitchFamily="34" charset="-122"/>
                <a:cs typeface="Aptos" pitchFamily="34" charset="-120"/>
              </a:rPr>
              <a:t>Broad choice and weekly-shop convenience
</a:t>
            </a:r>
            <a:r>
              <a:rPr lang="en-US" sz="1200" b="1" dirty="0">
                <a:solidFill>
                  <a:srgbClr val="B9574E"/>
                </a:solidFill>
                <a:latin typeface="Aptos" pitchFamily="34" charset="0"/>
                <a:ea typeface="Aptos" pitchFamily="34" charset="-122"/>
                <a:cs typeface="Aptos" pitchFamily="34" charset="-120"/>
              </a:rPr>
              <a:t>• </a:t>
            </a:r>
            <a:r>
              <a:rPr lang="en-US" sz="1200" dirty="0">
                <a:solidFill>
                  <a:srgbClr val="2C2C2C"/>
                </a:solidFill>
                <a:latin typeface="Aptos" pitchFamily="34" charset="0"/>
                <a:ea typeface="Aptos" pitchFamily="34" charset="-122"/>
                <a:cs typeface="Aptos" pitchFamily="34" charset="-120"/>
              </a:rPr>
              <a:t>Function-led value through Clubcard prices and reward partners
</a:t>
            </a:r>
            <a:r>
              <a:rPr lang="en-US" sz="1200" b="1" dirty="0">
                <a:solidFill>
                  <a:srgbClr val="B9574E"/>
                </a:solidFill>
                <a:latin typeface="Aptos" pitchFamily="34" charset="0"/>
                <a:ea typeface="Aptos" pitchFamily="34" charset="-122"/>
                <a:cs typeface="Aptos" pitchFamily="34" charset="-120"/>
              </a:rPr>
              <a:t>• </a:t>
            </a:r>
            <a:r>
              <a:rPr lang="en-US" sz="1200" dirty="0">
                <a:solidFill>
                  <a:srgbClr val="2C2C2C"/>
                </a:solidFill>
                <a:latin typeface="Aptos" pitchFamily="34" charset="0"/>
                <a:ea typeface="Aptos" pitchFamily="34" charset="-122"/>
                <a:cs typeface="Aptos" pitchFamily="34" charset="-120"/>
              </a:rPr>
              <a:t>Routine, scale and basket completion
</a:t>
            </a:r>
            <a:r>
              <a:rPr lang="en-US" sz="1200" b="1" dirty="0">
                <a:solidFill>
                  <a:srgbClr val="B9574E"/>
                </a:solidFill>
                <a:latin typeface="Aptos" pitchFamily="34" charset="0"/>
                <a:ea typeface="Aptos" pitchFamily="34" charset="-122"/>
                <a:cs typeface="Aptos" pitchFamily="34" charset="-120"/>
              </a:rPr>
              <a:t>• </a:t>
            </a:r>
            <a:r>
              <a:rPr lang="en-US" sz="1200" dirty="0">
                <a:solidFill>
                  <a:srgbClr val="2C2C2C"/>
                </a:solidFill>
                <a:latin typeface="Aptos" pitchFamily="34" charset="0"/>
                <a:ea typeface="Aptos" pitchFamily="34" charset="-122"/>
                <a:cs typeface="Aptos" pitchFamily="34" charset="-120"/>
              </a:rPr>
              <a:t>Efficient, practical, dependable
</a:t>
            </a:r>
            <a:r>
              <a:rPr lang="en-US" sz="1200" b="1" dirty="0">
                <a:solidFill>
                  <a:srgbClr val="B9574E"/>
                </a:solidFill>
                <a:latin typeface="Aptos" pitchFamily="34" charset="0"/>
                <a:ea typeface="Aptos" pitchFamily="34" charset="-122"/>
                <a:cs typeface="Aptos" pitchFamily="34" charset="-120"/>
              </a:rPr>
              <a:t>• </a:t>
            </a:r>
            <a:r>
              <a:rPr lang="en-US" sz="1200" dirty="0">
                <a:solidFill>
                  <a:srgbClr val="2C2C2C"/>
                </a:solidFill>
                <a:latin typeface="Aptos" pitchFamily="34" charset="0"/>
                <a:ea typeface="Aptos" pitchFamily="34" charset="-122"/>
                <a:cs typeface="Aptos" pitchFamily="34" charset="-120"/>
              </a:rPr>
              <a:t>A strong mechanic-led loyalty story</a:t>
            </a:r>
            <a:endParaRPr lang="en-US" sz="1200" dirty="0"/>
          </a:p>
        </p:txBody>
      </p:sp>
      <p:sp>
        <p:nvSpPr>
          <p:cNvPr id="17" name="Text 15"/>
          <p:cNvSpPr/>
          <p:nvPr/>
        </p:nvSpPr>
        <p:spPr>
          <a:xfrm>
            <a:off x="6483096" y="2057400"/>
            <a:ext cx="4526280" cy="2103120"/>
          </a:xfrm>
          <a:prstGeom prst="rect">
            <a:avLst/>
          </a:prstGeom>
          <a:noFill/>
          <a:ln/>
        </p:spPr>
        <p:txBody>
          <a:bodyPr wrap="square" lIns="0" tIns="0" rIns="0" bIns="0" rtlCol="0" anchor="t"/>
          <a:lstStyle/>
          <a:p>
            <a:pPr marL="0" indent="0">
              <a:buNone/>
            </a:pPr>
            <a:r>
              <a:rPr lang="en-US" sz="1200" b="1" dirty="0">
                <a:solidFill>
                  <a:srgbClr val="113E36"/>
                </a:solidFill>
                <a:latin typeface="Aptos" pitchFamily="34" charset="0"/>
                <a:ea typeface="Aptos" pitchFamily="34" charset="-122"/>
                <a:cs typeface="Aptos" pitchFamily="34" charset="-120"/>
              </a:rPr>
              <a:t>• </a:t>
            </a:r>
            <a:r>
              <a:rPr lang="en-US" sz="1200" dirty="0">
                <a:solidFill>
                  <a:srgbClr val="2C2C2C"/>
                </a:solidFill>
                <a:latin typeface="Aptos" pitchFamily="34" charset="0"/>
                <a:ea typeface="Aptos" pitchFamily="34" charset="-122"/>
                <a:cs typeface="Aptos" pitchFamily="34" charset="-120"/>
              </a:rPr>
              <a:t>A more curated basket across food, fashion and home
</a:t>
            </a:r>
            <a:r>
              <a:rPr lang="en-US" sz="1200" b="1" dirty="0">
                <a:solidFill>
                  <a:srgbClr val="113E36"/>
                </a:solidFill>
                <a:latin typeface="Aptos" pitchFamily="34" charset="0"/>
                <a:ea typeface="Aptos" pitchFamily="34" charset="-122"/>
                <a:cs typeface="Aptos" pitchFamily="34" charset="-120"/>
              </a:rPr>
              <a:t>• </a:t>
            </a:r>
            <a:r>
              <a:rPr lang="en-US" sz="1200" dirty="0">
                <a:solidFill>
                  <a:srgbClr val="2C2C2C"/>
                </a:solidFill>
                <a:latin typeface="Aptos" pitchFamily="34" charset="0"/>
                <a:ea typeface="Aptos" pitchFamily="34" charset="-122"/>
                <a:cs typeface="Aptos" pitchFamily="34" charset="-120"/>
              </a:rPr>
              <a:t>Stronger own-label quality cues and designer credibility
</a:t>
            </a:r>
            <a:r>
              <a:rPr lang="en-US" sz="1200" b="1" dirty="0">
                <a:solidFill>
                  <a:srgbClr val="113E36"/>
                </a:solidFill>
                <a:latin typeface="Aptos" pitchFamily="34" charset="0"/>
                <a:ea typeface="Aptos" pitchFamily="34" charset="-122"/>
                <a:cs typeface="Aptos" pitchFamily="34" charset="-120"/>
              </a:rPr>
              <a:t>• </a:t>
            </a:r>
            <a:r>
              <a:rPr lang="en-US" sz="1200" dirty="0">
                <a:solidFill>
                  <a:srgbClr val="2C2C2C"/>
                </a:solidFill>
                <a:latin typeface="Aptos" pitchFamily="34" charset="0"/>
                <a:ea typeface="Aptos" pitchFamily="34" charset="-122"/>
                <a:cs typeface="Aptos" pitchFamily="34" charset="-120"/>
              </a:rPr>
              <a:t>More Irish warmth, style and “taste” in the shopping experience
</a:t>
            </a:r>
            <a:r>
              <a:rPr lang="en-US" sz="1200" b="1" dirty="0">
                <a:solidFill>
                  <a:srgbClr val="113E36"/>
                </a:solidFill>
                <a:latin typeface="Aptos" pitchFamily="34" charset="0"/>
                <a:ea typeface="Aptos" pitchFamily="34" charset="-122"/>
                <a:cs typeface="Aptos" pitchFamily="34" charset="-120"/>
              </a:rPr>
              <a:t>• </a:t>
            </a:r>
            <a:r>
              <a:rPr lang="en-US" sz="1200" dirty="0">
                <a:solidFill>
                  <a:srgbClr val="2C2C2C"/>
                </a:solidFill>
                <a:latin typeface="Aptos" pitchFamily="34" charset="0"/>
                <a:ea typeface="Aptos" pitchFamily="34" charset="-122"/>
                <a:cs typeface="Aptos" pitchFamily="34" charset="-120"/>
              </a:rPr>
              <a:t>Premium-feeling choices that still sit within everyday value
</a:t>
            </a:r>
            <a:r>
              <a:rPr lang="en-US" sz="1200" b="1" dirty="0">
                <a:solidFill>
                  <a:srgbClr val="113E36"/>
                </a:solidFill>
                <a:latin typeface="Aptos" pitchFamily="34" charset="0"/>
                <a:ea typeface="Aptos" pitchFamily="34" charset="-122"/>
                <a:cs typeface="Aptos" pitchFamily="34" charset="-120"/>
              </a:rPr>
              <a:t>• </a:t>
            </a:r>
            <a:r>
              <a:rPr lang="en-US" sz="1200" dirty="0">
                <a:solidFill>
                  <a:srgbClr val="2C2C2C"/>
                </a:solidFill>
                <a:latin typeface="Aptos" pitchFamily="34" charset="0"/>
                <a:ea typeface="Aptos" pitchFamily="34" charset="-122"/>
                <a:cs typeface="Aptos" pitchFamily="34" charset="-120"/>
              </a:rPr>
              <a:t>A bag, a basket and a home life story — not just a grocery story</a:t>
            </a:r>
            <a:endParaRPr lang="en-US" sz="1200" dirty="0"/>
          </a:p>
        </p:txBody>
      </p:sp>
      <p:sp>
        <p:nvSpPr>
          <p:cNvPr id="18" name="Shape 16"/>
          <p:cNvSpPr/>
          <p:nvPr/>
        </p:nvSpPr>
        <p:spPr>
          <a:xfrm>
            <a:off x="6089904" y="1737360"/>
            <a:ext cx="0" cy="3931920"/>
          </a:xfrm>
          <a:prstGeom prst="line">
            <a:avLst/>
          </a:prstGeom>
          <a:noFill/>
          <a:ln w="12700">
            <a:solidFill>
              <a:srgbClr val="D8CDBA"/>
            </a:solidFill>
            <a:prstDash val="solid"/>
          </a:ln>
        </p:spPr>
        <p:txBody>
          <a:bodyPr/>
          <a:lstStyle/>
          <a:p>
            <a:endParaRPr lang="en-US"/>
          </a:p>
        </p:txBody>
      </p:sp>
      <p:sp>
        <p:nvSpPr>
          <p:cNvPr id="19" name="Shape 17"/>
          <p:cNvSpPr/>
          <p:nvPr/>
        </p:nvSpPr>
        <p:spPr>
          <a:xfrm>
            <a:off x="1115568" y="4480560"/>
            <a:ext cx="4572000" cy="1005840"/>
          </a:xfrm>
          <a:prstGeom prst="roundRect">
            <a:avLst>
              <a:gd name="adj" fmla="val 7273"/>
            </a:avLst>
          </a:prstGeom>
          <a:solidFill>
            <a:srgbClr val="FFF9F7"/>
          </a:solidFill>
          <a:ln w="12700">
            <a:solidFill>
              <a:srgbClr val="E0C7C3"/>
            </a:solidFill>
            <a:prstDash val="solid"/>
          </a:ln>
        </p:spPr>
        <p:txBody>
          <a:bodyPr/>
          <a:lstStyle/>
          <a:p>
            <a:endParaRPr lang="en-US"/>
          </a:p>
        </p:txBody>
      </p:sp>
      <p:sp>
        <p:nvSpPr>
          <p:cNvPr id="20" name="Text 18"/>
          <p:cNvSpPr/>
          <p:nvPr/>
        </p:nvSpPr>
        <p:spPr>
          <a:xfrm>
            <a:off x="1280160" y="4617720"/>
            <a:ext cx="4242816" cy="228600"/>
          </a:xfrm>
          <a:prstGeom prst="rect">
            <a:avLst/>
          </a:prstGeom>
          <a:noFill/>
          <a:ln/>
        </p:spPr>
        <p:txBody>
          <a:bodyPr wrap="square" rtlCol="0" anchor="ctr"/>
          <a:lstStyle/>
          <a:p>
            <a:pPr marL="0" indent="0">
              <a:buNone/>
            </a:pPr>
            <a:r>
              <a:rPr lang="en-US" sz="1300" b="1" dirty="0">
                <a:solidFill>
                  <a:srgbClr val="B9574E"/>
                </a:solidFill>
                <a:latin typeface="Aptos" pitchFamily="34" charset="0"/>
                <a:ea typeface="Aptos" pitchFamily="34" charset="-122"/>
                <a:cs typeface="Aptos" pitchFamily="34" charset="-120"/>
              </a:rPr>
              <a:t>Tesco helps complete the shop.</a:t>
            </a:r>
            <a:endParaRPr lang="en-US" sz="1300" dirty="0"/>
          </a:p>
        </p:txBody>
      </p:sp>
      <p:sp>
        <p:nvSpPr>
          <p:cNvPr id="21" name="Text 19"/>
          <p:cNvSpPr/>
          <p:nvPr/>
        </p:nvSpPr>
        <p:spPr>
          <a:xfrm>
            <a:off x="1280160" y="4892040"/>
            <a:ext cx="4242816" cy="475488"/>
          </a:xfrm>
          <a:prstGeom prst="rect">
            <a:avLst/>
          </a:prstGeom>
          <a:noFill/>
          <a:ln/>
        </p:spPr>
        <p:txBody>
          <a:bodyPr wrap="square" lIns="0" tIns="0" rIns="0" bIns="0" rtlCol="0" anchor="t"/>
          <a:lstStyle/>
          <a:p>
            <a:pPr marL="0" indent="0">
              <a:buNone/>
            </a:pPr>
            <a:r>
              <a:rPr lang="en-US" sz="1050" dirty="0">
                <a:solidFill>
                  <a:srgbClr val="2C2C2C"/>
                </a:solidFill>
                <a:latin typeface="Aptos" pitchFamily="34" charset="0"/>
                <a:ea typeface="Aptos" pitchFamily="34" charset="-122"/>
                <a:cs typeface="Aptos" pitchFamily="34" charset="-120"/>
              </a:rPr>
              <a:t>That is a strong position — but it is not the only one.</a:t>
            </a:r>
            <a:endParaRPr lang="en-US" sz="1050" dirty="0"/>
          </a:p>
        </p:txBody>
      </p:sp>
      <p:sp>
        <p:nvSpPr>
          <p:cNvPr id="22" name="Shape 20"/>
          <p:cNvSpPr/>
          <p:nvPr/>
        </p:nvSpPr>
        <p:spPr>
          <a:xfrm>
            <a:off x="6483096" y="4480560"/>
            <a:ext cx="4572000" cy="1005840"/>
          </a:xfrm>
          <a:prstGeom prst="roundRect">
            <a:avLst>
              <a:gd name="adj" fmla="val 7273"/>
            </a:avLst>
          </a:prstGeom>
          <a:solidFill>
            <a:srgbClr val="F3F7F5"/>
          </a:solidFill>
          <a:ln w="12700">
            <a:solidFill>
              <a:srgbClr val="C9D8D0"/>
            </a:solidFill>
            <a:prstDash val="solid"/>
          </a:ln>
        </p:spPr>
        <p:txBody>
          <a:bodyPr/>
          <a:lstStyle/>
          <a:p>
            <a:endParaRPr lang="en-US"/>
          </a:p>
        </p:txBody>
      </p:sp>
      <p:sp>
        <p:nvSpPr>
          <p:cNvPr id="23" name="Text 21"/>
          <p:cNvSpPr/>
          <p:nvPr/>
        </p:nvSpPr>
        <p:spPr>
          <a:xfrm>
            <a:off x="6556248" y="4620260"/>
            <a:ext cx="4428744" cy="27432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Dunnes can make what comes home feel better chosen.</a:t>
            </a:r>
            <a:endParaRPr lang="en-US" sz="1300" dirty="0"/>
          </a:p>
        </p:txBody>
      </p:sp>
      <p:sp>
        <p:nvSpPr>
          <p:cNvPr id="24" name="Text 22"/>
          <p:cNvSpPr/>
          <p:nvPr/>
        </p:nvSpPr>
        <p:spPr>
          <a:xfrm>
            <a:off x="6647688" y="4983480"/>
            <a:ext cx="4242816" cy="475488"/>
          </a:xfrm>
          <a:prstGeom prst="rect">
            <a:avLst/>
          </a:prstGeom>
          <a:noFill/>
          <a:ln/>
        </p:spPr>
        <p:txBody>
          <a:bodyPr wrap="square" lIns="0" tIns="0" rIns="0" bIns="0" rtlCol="0" anchor="t"/>
          <a:lstStyle/>
          <a:p>
            <a:pPr marL="0" indent="0">
              <a:buNone/>
            </a:pPr>
            <a:r>
              <a:rPr lang="en-US" sz="1050" dirty="0">
                <a:solidFill>
                  <a:srgbClr val="2C2C2C"/>
                </a:solidFill>
                <a:latin typeface="Aptos" pitchFamily="34" charset="0"/>
                <a:ea typeface="Aptos" pitchFamily="34" charset="-122"/>
                <a:cs typeface="Aptos" pitchFamily="34" charset="-120"/>
              </a:rPr>
              <a:t>That is the emotional territory this campaign should own.</a:t>
            </a:r>
            <a:endParaRPr lang="en-US" sz="1050" dirty="0"/>
          </a:p>
        </p:txBody>
      </p:sp>
      <p:sp>
        <p:nvSpPr>
          <p:cNvPr id="25" name="Shape 23"/>
          <p:cNvSpPr/>
          <p:nvPr/>
        </p:nvSpPr>
        <p:spPr>
          <a:xfrm>
            <a:off x="960120" y="5998464"/>
            <a:ext cx="10259568" cy="457200"/>
          </a:xfrm>
          <a:prstGeom prst="roundRect">
            <a:avLst>
              <a:gd name="adj" fmla="val 12000"/>
            </a:avLst>
          </a:prstGeom>
          <a:solidFill>
            <a:srgbClr val="113E36"/>
          </a:solidFill>
          <a:ln w="12700">
            <a:solidFill>
              <a:srgbClr val="113E36"/>
            </a:solidFill>
            <a:prstDash val="solid"/>
          </a:ln>
        </p:spPr>
        <p:txBody>
          <a:bodyPr/>
          <a:lstStyle/>
          <a:p>
            <a:endParaRPr lang="en-US"/>
          </a:p>
        </p:txBody>
      </p:sp>
      <p:sp>
        <p:nvSpPr>
          <p:cNvPr id="26" name="Text 24"/>
          <p:cNvSpPr/>
          <p:nvPr/>
        </p:nvSpPr>
        <p:spPr>
          <a:xfrm>
            <a:off x="1097280" y="6117336"/>
            <a:ext cx="9966960" cy="146304"/>
          </a:xfrm>
          <a:prstGeom prst="rect">
            <a:avLst/>
          </a:prstGeom>
          <a:noFill/>
          <a:ln/>
        </p:spPr>
        <p:txBody>
          <a:bodyPr wrap="square"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Why this is a better idea: Dunnes is different from Tesco — less routine-led, more personal, more curated and more worth bringing home.</a:t>
            </a:r>
            <a:endParaRPr lang="en-US" sz="1200" dirty="0"/>
          </a:p>
        </p:txBody>
      </p:sp>
      <p:sp>
        <p:nvSpPr>
          <p:cNvPr id="27" name="Slide Number Placeholder 0"/>
          <p:cNvSpPr>
            <a:spLocks noGrp="1"/>
          </p:cNvSpPr>
          <p:nvPr>
            <p:ph type="sldNum" sz="quarter" idx="4294967295"/>
          </p:nvPr>
        </p:nvSpPr>
        <p:spPr>
          <a:xfrm>
            <a:off x="11658600" y="109728"/>
            <a:ext cx="32004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7D746A"/>
                </a:solidFill>
                <a:latin typeface="Aptos"/>
                <a:ea typeface="Aptos"/>
                <a:cs typeface="Aptos"/>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nvSpPr>
        <p:spPr>
          <a:xfrm>
            <a:off x="914400" y="310896"/>
            <a:ext cx="2286000" cy="164592"/>
          </a:xfrm>
          <a:prstGeom prst="rect">
            <a:avLst/>
          </a:prstGeom>
          <a:noFill/>
          <a:ln/>
        </p:spPr>
        <p:txBody>
          <a:bodyPr wrap="square" rtlCol="0" anchor="ctr"/>
          <a:lstStyle/>
          <a:p>
            <a:pPr marL="0" indent="0">
              <a:buNone/>
            </a:pPr>
            <a:r>
              <a:rPr lang="en-US" sz="900" b="1" dirty="0">
                <a:solidFill>
                  <a:srgbClr val="C96E4D"/>
                </a:solidFill>
                <a:latin typeface="Aptos" pitchFamily="34" charset="0"/>
                <a:ea typeface="Aptos" pitchFamily="34" charset="-122"/>
                <a:cs typeface="Aptos" pitchFamily="34" charset="-120"/>
              </a:rPr>
              <a:t>BRAND STRENGTH</a:t>
            </a:r>
            <a:endParaRPr lang="en-US" sz="900" dirty="0"/>
          </a:p>
        </p:txBody>
      </p:sp>
      <p:sp>
        <p:nvSpPr>
          <p:cNvPr id="4" name="Text 2"/>
          <p:cNvSpPr/>
          <p:nvPr/>
        </p:nvSpPr>
        <p:spPr>
          <a:xfrm>
            <a:off x="868680" y="530352"/>
            <a:ext cx="10424160" cy="502920"/>
          </a:xfrm>
          <a:prstGeom prst="rect">
            <a:avLst/>
          </a:prstGeom>
          <a:noFill/>
          <a:ln/>
        </p:spPr>
        <p:txBody>
          <a:bodyPr wrap="square" rtlCol="0" anchor="ctr"/>
          <a:lstStyle/>
          <a:p>
            <a:pPr marL="0" indent="0">
              <a:buNone/>
            </a:pPr>
            <a:r>
              <a:rPr lang="en-US" sz="2400" b="1" dirty="0">
                <a:solidFill>
                  <a:srgbClr val="113E36"/>
                </a:solidFill>
                <a:latin typeface="Georgia" pitchFamily="34" charset="0"/>
                <a:ea typeface="Georgia" pitchFamily="34" charset="-122"/>
                <a:cs typeface="Georgia" pitchFamily="34" charset="-120"/>
              </a:rPr>
              <a:t>Dunnes already has the ingredients for a broader story</a:t>
            </a:r>
            <a:endParaRPr lang="en-US" sz="2400" dirty="0"/>
          </a:p>
        </p:txBody>
      </p:sp>
      <p:sp>
        <p:nvSpPr>
          <p:cNvPr id="5" name="Shape 3"/>
          <p:cNvSpPr/>
          <p:nvPr/>
        </p:nvSpPr>
        <p:spPr>
          <a:xfrm>
            <a:off x="868680" y="1078992"/>
            <a:ext cx="10698480" cy="0"/>
          </a:xfrm>
          <a:prstGeom prst="line">
            <a:avLst/>
          </a:prstGeom>
          <a:noFill/>
          <a:ln w="12700">
            <a:solidFill>
              <a:srgbClr val="D8CDBA"/>
            </a:solidFill>
            <a:prstDash val="solid"/>
          </a:ln>
        </p:spPr>
        <p:txBody>
          <a:bodyPr/>
          <a:lstStyle/>
          <a:p>
            <a:endParaRPr lang="en-US"/>
          </a:p>
        </p:txBody>
      </p:sp>
      <p:pic>
        <p:nvPicPr>
          <p:cNvPr id="6" name="Image 0" descr="/mnt/data/dunnes_assets/fresh.png"/>
          <p:cNvPicPr>
            <a:picLocks noChangeAspect="1"/>
          </p:cNvPicPr>
          <p:nvPr/>
        </p:nvPicPr>
        <p:blipFill>
          <a:blip r:embed="rId3"/>
          <a:srcRect t="5876" b="5876"/>
          <a:stretch/>
        </p:blipFill>
        <p:spPr>
          <a:xfrm>
            <a:off x="868680" y="1417320"/>
            <a:ext cx="2057400" cy="1645920"/>
          </a:xfrm>
          <a:prstGeom prst="rect">
            <a:avLst/>
          </a:prstGeom>
        </p:spPr>
      </p:pic>
      <p:pic>
        <p:nvPicPr>
          <p:cNvPr id="7" name="Image 1" descr="/mnt/data/dunnes_assets/style.png"/>
          <p:cNvPicPr>
            <a:picLocks noChangeAspect="1"/>
          </p:cNvPicPr>
          <p:nvPr/>
        </p:nvPicPr>
        <p:blipFill>
          <a:blip r:embed="rId4"/>
          <a:srcRect t="6701" b="6701"/>
          <a:stretch/>
        </p:blipFill>
        <p:spPr>
          <a:xfrm>
            <a:off x="3154680" y="1417320"/>
            <a:ext cx="2057400" cy="1645920"/>
          </a:xfrm>
          <a:prstGeom prst="rect">
            <a:avLst/>
          </a:prstGeom>
        </p:spPr>
      </p:pic>
      <p:pic>
        <p:nvPicPr>
          <p:cNvPr id="8" name="Image 2" descr="/mnt/data/dunnes_assets/welcome.png"/>
          <p:cNvPicPr>
            <a:picLocks noChangeAspect="1"/>
          </p:cNvPicPr>
          <p:nvPr/>
        </p:nvPicPr>
        <p:blipFill>
          <a:blip r:embed="rId5"/>
          <a:srcRect t="7526" b="7526"/>
          <a:stretch/>
        </p:blipFill>
        <p:spPr>
          <a:xfrm>
            <a:off x="5440680" y="1417320"/>
            <a:ext cx="2057400" cy="1645920"/>
          </a:xfrm>
          <a:prstGeom prst="rect">
            <a:avLst/>
          </a:prstGeom>
        </p:spPr>
      </p:pic>
      <p:sp>
        <p:nvSpPr>
          <p:cNvPr id="9" name="Shape 4"/>
          <p:cNvSpPr/>
          <p:nvPr/>
        </p:nvSpPr>
        <p:spPr>
          <a:xfrm>
            <a:off x="7726680" y="1417320"/>
            <a:ext cx="3593592" cy="1645920"/>
          </a:xfrm>
          <a:prstGeom prst="roundRect">
            <a:avLst>
              <a:gd name="adj" fmla="val 4444"/>
            </a:avLst>
          </a:prstGeom>
          <a:solidFill>
            <a:srgbClr val="FBF8F1"/>
          </a:solidFill>
          <a:ln w="12700">
            <a:solidFill>
              <a:srgbClr val="D8CDBA"/>
            </a:solidFill>
            <a:prstDash val="solid"/>
          </a:ln>
          <a:effectLst>
            <a:outerShdw blurRad="19050" dist="12700" dir="2700000" algn="bl" rotWithShape="0">
              <a:srgbClr val="000000">
                <a:alpha val="12000"/>
              </a:srgbClr>
            </a:outerShdw>
          </a:effectLst>
        </p:spPr>
        <p:txBody>
          <a:bodyPr/>
          <a:lstStyle/>
          <a:p>
            <a:endParaRPr lang="en-US"/>
          </a:p>
        </p:txBody>
      </p:sp>
      <p:sp>
        <p:nvSpPr>
          <p:cNvPr id="10" name="Text 5"/>
          <p:cNvSpPr/>
          <p:nvPr/>
        </p:nvSpPr>
        <p:spPr>
          <a:xfrm>
            <a:off x="7891272" y="1554480"/>
            <a:ext cx="3264408"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The permission point</a:t>
            </a:r>
            <a:endParaRPr lang="en-US" sz="1300" dirty="0"/>
          </a:p>
        </p:txBody>
      </p:sp>
      <p:sp>
        <p:nvSpPr>
          <p:cNvPr id="11" name="Text 6"/>
          <p:cNvSpPr/>
          <p:nvPr/>
        </p:nvSpPr>
        <p:spPr>
          <a:xfrm>
            <a:off x="7891272" y="1828800"/>
            <a:ext cx="3264408" cy="1115568"/>
          </a:xfrm>
          <a:prstGeom prst="rect">
            <a:avLst/>
          </a:prstGeom>
          <a:noFill/>
          <a:ln/>
        </p:spPr>
        <p:txBody>
          <a:bodyPr wrap="square" lIns="0" tIns="0" rIns="0" bIns="0" rtlCol="0" anchor="t"/>
          <a:lstStyle/>
          <a:p>
            <a:pPr marL="0" indent="0">
              <a:buNone/>
            </a:pPr>
            <a:r>
              <a:rPr lang="en-US" sz="1100" dirty="0">
                <a:solidFill>
                  <a:srgbClr val="2C2C2C"/>
                </a:solidFill>
                <a:latin typeface="Aptos" pitchFamily="34" charset="0"/>
                <a:ea typeface="Aptos" pitchFamily="34" charset="-122"/>
                <a:cs typeface="Aptos" pitchFamily="34" charset="-120"/>
              </a:rPr>
              <a:t>Tesco has grocery breadth. Dunnes has something broader: grocery + premium own-label + fashion + home + Irish designer associations. That is why a lifestyle-led brand story can feel credible here.</a:t>
            </a:r>
            <a:endParaRPr lang="en-US" sz="1100" dirty="0"/>
          </a:p>
        </p:txBody>
      </p:sp>
      <p:sp>
        <p:nvSpPr>
          <p:cNvPr id="12" name="Shape 7"/>
          <p:cNvSpPr/>
          <p:nvPr/>
        </p:nvSpPr>
        <p:spPr>
          <a:xfrm>
            <a:off x="868680" y="3310128"/>
            <a:ext cx="2514600" cy="1664208"/>
          </a:xfrm>
          <a:prstGeom prst="roundRect">
            <a:avLst>
              <a:gd name="adj" fmla="val 4396"/>
            </a:avLst>
          </a:prstGeom>
          <a:solidFill>
            <a:srgbClr val="FBF8F1"/>
          </a:solidFill>
          <a:ln w="12700">
            <a:solidFill>
              <a:srgbClr val="D8CDBA"/>
            </a:solidFill>
            <a:prstDash val="solid"/>
          </a:ln>
        </p:spPr>
        <p:txBody>
          <a:bodyPr/>
          <a:lstStyle/>
          <a:p>
            <a:endParaRPr lang="en-US"/>
          </a:p>
        </p:txBody>
      </p:sp>
      <p:sp>
        <p:nvSpPr>
          <p:cNvPr id="13" name="Text 8"/>
          <p:cNvSpPr/>
          <p:nvPr/>
        </p:nvSpPr>
        <p:spPr>
          <a:xfrm>
            <a:off x="1033272" y="3447288"/>
            <a:ext cx="2185416"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Simply Better</a:t>
            </a:r>
            <a:endParaRPr lang="en-US" sz="1300" dirty="0"/>
          </a:p>
        </p:txBody>
      </p:sp>
      <p:sp>
        <p:nvSpPr>
          <p:cNvPr id="14" name="Text 9"/>
          <p:cNvSpPr/>
          <p:nvPr/>
        </p:nvSpPr>
        <p:spPr>
          <a:xfrm>
            <a:off x="1033272" y="3721608"/>
            <a:ext cx="2185416" cy="1133856"/>
          </a:xfrm>
          <a:prstGeom prst="rect">
            <a:avLst/>
          </a:prstGeom>
          <a:noFill/>
          <a:ln/>
        </p:spPr>
        <p:txBody>
          <a:bodyPr wrap="square" lIns="0" tIns="0" rIns="0" bIns="0" rtlCol="0" anchor="t"/>
          <a:lstStyle/>
          <a:p>
            <a:pPr marL="0" indent="0">
              <a:buNone/>
            </a:pPr>
            <a:r>
              <a:rPr lang="en-US" sz="1050" dirty="0">
                <a:solidFill>
                  <a:srgbClr val="2C2C2C"/>
                </a:solidFill>
                <a:latin typeface="Aptos" pitchFamily="34" charset="0"/>
                <a:ea typeface="Aptos" pitchFamily="34" charset="-122"/>
                <a:cs typeface="Aptos" pitchFamily="34" charset="-120"/>
              </a:rPr>
              <a:t>Over 350 products, with 270 produced in Ireland. It gives Dunnes a premium own-label engine with real Irish provenance.</a:t>
            </a:r>
            <a:endParaRPr lang="en-US" sz="1050" dirty="0"/>
          </a:p>
        </p:txBody>
      </p:sp>
      <p:sp>
        <p:nvSpPr>
          <p:cNvPr id="15" name="Shape 10"/>
          <p:cNvSpPr/>
          <p:nvPr/>
        </p:nvSpPr>
        <p:spPr>
          <a:xfrm>
            <a:off x="3547872" y="3310128"/>
            <a:ext cx="2514600" cy="1664208"/>
          </a:xfrm>
          <a:prstGeom prst="roundRect">
            <a:avLst>
              <a:gd name="adj" fmla="val 4396"/>
            </a:avLst>
          </a:prstGeom>
          <a:solidFill>
            <a:srgbClr val="FBF8F1"/>
          </a:solidFill>
          <a:ln w="12700">
            <a:solidFill>
              <a:srgbClr val="D8CDBA"/>
            </a:solidFill>
            <a:prstDash val="solid"/>
          </a:ln>
        </p:spPr>
        <p:txBody>
          <a:bodyPr/>
          <a:lstStyle/>
          <a:p>
            <a:endParaRPr lang="en-US"/>
          </a:p>
        </p:txBody>
      </p:sp>
      <p:sp>
        <p:nvSpPr>
          <p:cNvPr id="16" name="Text 11"/>
          <p:cNvSpPr/>
          <p:nvPr/>
        </p:nvSpPr>
        <p:spPr>
          <a:xfrm>
            <a:off x="3712464" y="3447288"/>
            <a:ext cx="2185416"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Fashion + home</a:t>
            </a:r>
            <a:endParaRPr lang="en-US" sz="1300" dirty="0"/>
          </a:p>
        </p:txBody>
      </p:sp>
      <p:sp>
        <p:nvSpPr>
          <p:cNvPr id="17" name="Text 12"/>
          <p:cNvSpPr/>
          <p:nvPr/>
        </p:nvSpPr>
        <p:spPr>
          <a:xfrm>
            <a:off x="3712464" y="3721608"/>
            <a:ext cx="2185416" cy="1133856"/>
          </a:xfrm>
          <a:prstGeom prst="rect">
            <a:avLst/>
          </a:prstGeom>
          <a:noFill/>
          <a:ln/>
        </p:spPr>
        <p:txBody>
          <a:bodyPr wrap="square" lIns="0" tIns="0" rIns="0" bIns="0" rtlCol="0" anchor="t"/>
          <a:lstStyle/>
          <a:p>
            <a:pPr marL="0" indent="0">
              <a:buNone/>
            </a:pPr>
            <a:r>
              <a:rPr lang="en-US" sz="1050" dirty="0">
                <a:solidFill>
                  <a:srgbClr val="2C2C2C"/>
                </a:solidFill>
                <a:latin typeface="Aptos" pitchFamily="34" charset="0"/>
                <a:ea typeface="Aptos" pitchFamily="34" charset="-122"/>
                <a:cs typeface="Aptos" pitchFamily="34" charset="-120"/>
              </a:rPr>
              <a:t>Dunnes works with designers like Paul Costelloe and Carolyn Donnelly while continuing to build in-house names such as Savida and Gallery.</a:t>
            </a:r>
            <a:endParaRPr lang="en-US" sz="1050" dirty="0"/>
          </a:p>
        </p:txBody>
      </p:sp>
      <p:sp>
        <p:nvSpPr>
          <p:cNvPr id="18" name="Shape 13"/>
          <p:cNvSpPr/>
          <p:nvPr/>
        </p:nvSpPr>
        <p:spPr>
          <a:xfrm>
            <a:off x="6227064" y="3310128"/>
            <a:ext cx="2514600" cy="1664208"/>
          </a:xfrm>
          <a:prstGeom prst="roundRect">
            <a:avLst>
              <a:gd name="adj" fmla="val 4396"/>
            </a:avLst>
          </a:prstGeom>
          <a:solidFill>
            <a:srgbClr val="FBF8F1"/>
          </a:solidFill>
          <a:ln w="12700">
            <a:solidFill>
              <a:srgbClr val="D8CDBA"/>
            </a:solidFill>
            <a:prstDash val="solid"/>
          </a:ln>
        </p:spPr>
        <p:txBody>
          <a:bodyPr/>
          <a:lstStyle/>
          <a:p>
            <a:endParaRPr lang="en-US"/>
          </a:p>
        </p:txBody>
      </p:sp>
      <p:sp>
        <p:nvSpPr>
          <p:cNvPr id="19" name="Text 14"/>
          <p:cNvSpPr/>
          <p:nvPr/>
        </p:nvSpPr>
        <p:spPr>
          <a:xfrm>
            <a:off x="6391656" y="3447288"/>
            <a:ext cx="2185416"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VALUEclub</a:t>
            </a:r>
            <a:endParaRPr lang="en-US" sz="1300" dirty="0"/>
          </a:p>
        </p:txBody>
      </p:sp>
      <p:sp>
        <p:nvSpPr>
          <p:cNvPr id="20" name="Text 15"/>
          <p:cNvSpPr/>
          <p:nvPr/>
        </p:nvSpPr>
        <p:spPr>
          <a:xfrm>
            <a:off x="6391656" y="3721608"/>
            <a:ext cx="2185416" cy="1133856"/>
          </a:xfrm>
          <a:prstGeom prst="rect">
            <a:avLst/>
          </a:prstGeom>
          <a:noFill/>
          <a:ln/>
        </p:spPr>
        <p:txBody>
          <a:bodyPr wrap="square" lIns="0" tIns="0" rIns="0" bIns="0" rtlCol="0" anchor="t"/>
          <a:lstStyle/>
          <a:p>
            <a:pPr marL="0" indent="0">
              <a:buNone/>
            </a:pPr>
            <a:r>
              <a:rPr lang="en-US" sz="1050" dirty="0">
                <a:solidFill>
                  <a:srgbClr val="2C2C2C"/>
                </a:solidFill>
                <a:latin typeface="Aptos" pitchFamily="34" charset="0"/>
                <a:ea typeface="Aptos" pitchFamily="34" charset="-122"/>
                <a:cs typeface="Aptos" pitchFamily="34" charset="-120"/>
              </a:rPr>
              <a:t>Points are earned across food, fashion, homeware and cafés — a much wider relationship than a grocery-only mechanic.</a:t>
            </a:r>
            <a:endParaRPr lang="en-US" sz="1050" dirty="0"/>
          </a:p>
        </p:txBody>
      </p:sp>
      <p:sp>
        <p:nvSpPr>
          <p:cNvPr id="21" name="Shape 16"/>
          <p:cNvSpPr/>
          <p:nvPr/>
        </p:nvSpPr>
        <p:spPr>
          <a:xfrm>
            <a:off x="8906256" y="3310128"/>
            <a:ext cx="2414016" cy="1664208"/>
          </a:xfrm>
          <a:prstGeom prst="roundRect">
            <a:avLst>
              <a:gd name="adj" fmla="val 4396"/>
            </a:avLst>
          </a:prstGeom>
          <a:solidFill>
            <a:srgbClr val="FBF8F1"/>
          </a:solidFill>
          <a:ln w="12700">
            <a:solidFill>
              <a:srgbClr val="D8CDBA"/>
            </a:solidFill>
            <a:prstDash val="solid"/>
          </a:ln>
        </p:spPr>
        <p:txBody>
          <a:bodyPr/>
          <a:lstStyle/>
          <a:p>
            <a:endParaRPr lang="en-US"/>
          </a:p>
        </p:txBody>
      </p:sp>
      <p:sp>
        <p:nvSpPr>
          <p:cNvPr id="22" name="Text 17"/>
          <p:cNvSpPr/>
          <p:nvPr/>
        </p:nvSpPr>
        <p:spPr>
          <a:xfrm>
            <a:off x="9070848" y="3447288"/>
            <a:ext cx="2084832"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App + vouchers</a:t>
            </a:r>
            <a:endParaRPr lang="en-US" sz="1300" dirty="0"/>
          </a:p>
        </p:txBody>
      </p:sp>
      <p:sp>
        <p:nvSpPr>
          <p:cNvPr id="23" name="Text 18"/>
          <p:cNvSpPr/>
          <p:nvPr/>
        </p:nvSpPr>
        <p:spPr>
          <a:xfrm>
            <a:off x="9070848" y="3721608"/>
            <a:ext cx="2084832" cy="1133856"/>
          </a:xfrm>
          <a:prstGeom prst="rect">
            <a:avLst/>
          </a:prstGeom>
          <a:noFill/>
          <a:ln/>
        </p:spPr>
        <p:txBody>
          <a:bodyPr wrap="square" lIns="0" tIns="0" rIns="0" bIns="0" rtlCol="0" anchor="t"/>
          <a:lstStyle/>
          <a:p>
            <a:pPr marL="0" indent="0">
              <a:buNone/>
            </a:pPr>
            <a:r>
              <a:rPr lang="en-US" sz="1050" dirty="0">
                <a:solidFill>
                  <a:srgbClr val="2C2C2C"/>
                </a:solidFill>
                <a:latin typeface="Aptos" pitchFamily="34" charset="0"/>
                <a:ea typeface="Aptos" pitchFamily="34" charset="-122"/>
                <a:cs typeface="Aptos" pitchFamily="34" charset="-120"/>
              </a:rPr>
              <a:t>Digital vouchers, push notifications and a €5 off €25 welcome offer already give Dunnes a performance-ready owned channel.</a:t>
            </a:r>
            <a:endParaRPr lang="en-US" sz="1050" dirty="0"/>
          </a:p>
        </p:txBody>
      </p:sp>
      <p:sp>
        <p:nvSpPr>
          <p:cNvPr id="24" name="Shape 19"/>
          <p:cNvSpPr/>
          <p:nvPr/>
        </p:nvSpPr>
        <p:spPr>
          <a:xfrm>
            <a:off x="868680" y="5330952"/>
            <a:ext cx="10469880" cy="576072"/>
          </a:xfrm>
          <a:prstGeom prst="roundRect">
            <a:avLst>
              <a:gd name="adj" fmla="val 12698"/>
            </a:avLst>
          </a:prstGeom>
          <a:solidFill>
            <a:srgbClr val="113E36"/>
          </a:solidFill>
          <a:ln w="12700">
            <a:solidFill>
              <a:srgbClr val="113E36"/>
            </a:solidFill>
            <a:prstDash val="solid"/>
          </a:ln>
        </p:spPr>
        <p:txBody>
          <a:bodyPr/>
          <a:lstStyle/>
          <a:p>
            <a:endParaRPr lang="en-US"/>
          </a:p>
        </p:txBody>
      </p:sp>
      <p:sp>
        <p:nvSpPr>
          <p:cNvPr id="25" name="Text 20"/>
          <p:cNvSpPr/>
          <p:nvPr/>
        </p:nvSpPr>
        <p:spPr>
          <a:xfrm>
            <a:off x="1051560" y="5477256"/>
            <a:ext cx="10058400" cy="201168"/>
          </a:xfrm>
          <a:prstGeom prst="rect">
            <a:avLst/>
          </a:prstGeom>
          <a:noFill/>
          <a:ln/>
        </p:spPr>
        <p:txBody>
          <a:bodyPr wrap="square"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Strategic takeout: Dunnes has enough substance to move from “where I do the shop” to “where I find better things to bring home.”</a:t>
            </a:r>
            <a:endParaRPr lang="en-US" sz="1400" dirty="0"/>
          </a:p>
        </p:txBody>
      </p:sp>
      <p:sp>
        <p:nvSpPr>
          <p:cNvPr id="26" name="Slide Number Placeholder 0"/>
          <p:cNvSpPr>
            <a:spLocks noGrp="1"/>
          </p:cNvSpPr>
          <p:nvPr>
            <p:ph type="sldNum" sz="quarter" idx="4294967295"/>
          </p:nvPr>
        </p:nvSpPr>
        <p:spPr>
          <a:xfrm>
            <a:off x="11658600" y="109728"/>
            <a:ext cx="32004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7D746A"/>
                </a:solidFill>
                <a:latin typeface="Aptos"/>
                <a:ea typeface="Aptos"/>
                <a:cs typeface="Aptos"/>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nvSpPr>
        <p:spPr>
          <a:xfrm>
            <a:off x="914400" y="310896"/>
            <a:ext cx="2286000" cy="164592"/>
          </a:xfrm>
          <a:prstGeom prst="rect">
            <a:avLst/>
          </a:prstGeom>
          <a:noFill/>
          <a:ln/>
        </p:spPr>
        <p:txBody>
          <a:bodyPr wrap="square" rtlCol="0" anchor="ctr"/>
          <a:lstStyle/>
          <a:p>
            <a:pPr marL="0" indent="0">
              <a:buNone/>
            </a:pPr>
            <a:r>
              <a:rPr lang="en-US" sz="900" b="1" dirty="0">
                <a:solidFill>
                  <a:srgbClr val="C96E4D"/>
                </a:solidFill>
                <a:latin typeface="Aptos" pitchFamily="34" charset="0"/>
                <a:ea typeface="Aptos" pitchFamily="34" charset="-122"/>
                <a:cs typeface="Aptos" pitchFamily="34" charset="-120"/>
              </a:rPr>
              <a:t>AUDIENCE + INSIGHT</a:t>
            </a:r>
            <a:endParaRPr lang="en-US" sz="900" dirty="0"/>
          </a:p>
        </p:txBody>
      </p:sp>
      <p:sp>
        <p:nvSpPr>
          <p:cNvPr id="4" name="Text 2"/>
          <p:cNvSpPr/>
          <p:nvPr/>
        </p:nvSpPr>
        <p:spPr>
          <a:xfrm>
            <a:off x="868680" y="530352"/>
            <a:ext cx="10424160" cy="502920"/>
          </a:xfrm>
          <a:prstGeom prst="rect">
            <a:avLst/>
          </a:prstGeom>
          <a:noFill/>
          <a:ln/>
        </p:spPr>
        <p:txBody>
          <a:bodyPr wrap="square" rtlCol="0" anchor="ctr"/>
          <a:lstStyle/>
          <a:p>
            <a:pPr marL="0" indent="0">
              <a:buNone/>
            </a:pPr>
            <a:r>
              <a:rPr lang="en-US" sz="2400" b="1" dirty="0">
                <a:solidFill>
                  <a:srgbClr val="113E36"/>
                </a:solidFill>
                <a:latin typeface="Georgia" pitchFamily="34" charset="0"/>
                <a:ea typeface="Georgia" pitchFamily="34" charset="-122"/>
                <a:cs typeface="Georgia" pitchFamily="34" charset="-120"/>
              </a:rPr>
              <a:t>Who we are really talking to</a:t>
            </a:r>
            <a:endParaRPr lang="en-US" sz="2400" dirty="0"/>
          </a:p>
        </p:txBody>
      </p:sp>
      <p:sp>
        <p:nvSpPr>
          <p:cNvPr id="5" name="Shape 3"/>
          <p:cNvSpPr/>
          <p:nvPr/>
        </p:nvSpPr>
        <p:spPr>
          <a:xfrm>
            <a:off x="868680" y="1078992"/>
            <a:ext cx="10698480" cy="0"/>
          </a:xfrm>
          <a:prstGeom prst="line">
            <a:avLst/>
          </a:prstGeom>
          <a:noFill/>
          <a:ln w="12700">
            <a:solidFill>
              <a:srgbClr val="D8CDBA"/>
            </a:solidFill>
            <a:prstDash val="solid"/>
          </a:ln>
        </p:spPr>
        <p:txBody>
          <a:bodyPr/>
          <a:lstStyle/>
          <a:p>
            <a:endParaRPr lang="en-US"/>
          </a:p>
        </p:txBody>
      </p:sp>
      <p:sp>
        <p:nvSpPr>
          <p:cNvPr id="6" name="Shape 4"/>
          <p:cNvSpPr/>
          <p:nvPr/>
        </p:nvSpPr>
        <p:spPr>
          <a:xfrm>
            <a:off x="868680" y="1417320"/>
            <a:ext cx="3337560" cy="4160520"/>
          </a:xfrm>
          <a:prstGeom prst="roundRect">
            <a:avLst>
              <a:gd name="adj" fmla="val 2192"/>
            </a:avLst>
          </a:prstGeom>
          <a:solidFill>
            <a:srgbClr val="FBF8F1"/>
          </a:solidFill>
          <a:ln w="12700">
            <a:solidFill>
              <a:srgbClr val="D8CDBA"/>
            </a:solidFill>
            <a:prstDash val="solid"/>
          </a:ln>
          <a:effectLst>
            <a:outerShdw blurRad="19050" dist="12700" dir="2700000" algn="bl" rotWithShape="0">
              <a:srgbClr val="000000">
                <a:alpha val="12000"/>
              </a:srgbClr>
            </a:outerShdw>
          </a:effectLst>
        </p:spPr>
        <p:txBody>
          <a:bodyPr/>
          <a:lstStyle/>
          <a:p>
            <a:endParaRPr lang="en-US"/>
          </a:p>
        </p:txBody>
      </p:sp>
      <p:sp>
        <p:nvSpPr>
          <p:cNvPr id="7" name="Text 5"/>
          <p:cNvSpPr/>
          <p:nvPr/>
        </p:nvSpPr>
        <p:spPr>
          <a:xfrm>
            <a:off x="1033272" y="1554480"/>
            <a:ext cx="3008376"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01  The better-basket family</a:t>
            </a:r>
            <a:endParaRPr lang="en-US" sz="1300" dirty="0"/>
          </a:p>
        </p:txBody>
      </p:sp>
      <p:sp>
        <p:nvSpPr>
          <p:cNvPr id="8" name="Text 6"/>
          <p:cNvSpPr/>
          <p:nvPr/>
        </p:nvSpPr>
        <p:spPr>
          <a:xfrm>
            <a:off x="1033272" y="1828800"/>
            <a:ext cx="3008376" cy="3630168"/>
          </a:xfrm>
          <a:prstGeom prst="rect">
            <a:avLst/>
          </a:prstGeom>
          <a:noFill/>
          <a:ln/>
        </p:spPr>
        <p:txBody>
          <a:bodyPr wrap="square" lIns="0" tIns="0" rIns="0" bIns="0" rtlCol="0" anchor="t"/>
          <a:lstStyle/>
          <a:p>
            <a:pPr marL="0" indent="0">
              <a:buNone/>
            </a:pPr>
            <a:r>
              <a:rPr lang="en-US" sz="1100" dirty="0">
                <a:solidFill>
                  <a:srgbClr val="2C2C2C"/>
                </a:solidFill>
                <a:latin typeface="Aptos" pitchFamily="34" charset="0"/>
                <a:ea typeface="Aptos" pitchFamily="34" charset="-122"/>
                <a:cs typeface="Aptos" pitchFamily="34" charset="-120"/>
              </a:rPr>
              <a:t>Age 30–50</a:t>
            </a:r>
            <a:endParaRPr lang="en-US" sz="1100" dirty="0"/>
          </a:p>
          <a:p>
            <a:pPr marL="0" indent="0">
              <a:buNone/>
            </a:pPr>
            <a:endParaRPr lang="en-US" sz="1100" dirty="0"/>
          </a:p>
          <a:p>
            <a:pPr marL="0" indent="0">
              <a:buNone/>
            </a:pPr>
            <a:r>
              <a:rPr lang="en-US" sz="1100" dirty="0">
                <a:solidFill>
                  <a:srgbClr val="2C2C2C"/>
                </a:solidFill>
                <a:latin typeface="Aptos" pitchFamily="34" charset="0"/>
                <a:ea typeface="Aptos" pitchFamily="34" charset="-122"/>
                <a:cs typeface="Aptos" pitchFamily="34" charset="-120"/>
              </a:rPr>
              <a:t>They do the full weekly shop, care about freshness, and want value — but they also want fewer compromises. They are open to own-label premium and helpful offers when the store feels trustworthy and worth the trip.</a:t>
            </a:r>
            <a:endParaRPr lang="en-US" sz="1100" dirty="0"/>
          </a:p>
        </p:txBody>
      </p:sp>
      <p:sp>
        <p:nvSpPr>
          <p:cNvPr id="9" name="Shape 7"/>
          <p:cNvSpPr/>
          <p:nvPr/>
        </p:nvSpPr>
        <p:spPr>
          <a:xfrm>
            <a:off x="4425696" y="1417320"/>
            <a:ext cx="3337560" cy="4160520"/>
          </a:xfrm>
          <a:prstGeom prst="roundRect">
            <a:avLst>
              <a:gd name="adj" fmla="val 2192"/>
            </a:avLst>
          </a:prstGeom>
          <a:solidFill>
            <a:srgbClr val="FBF8F1"/>
          </a:solidFill>
          <a:ln w="12700">
            <a:solidFill>
              <a:srgbClr val="D8CDBA"/>
            </a:solidFill>
            <a:prstDash val="solid"/>
          </a:ln>
          <a:effectLst>
            <a:outerShdw blurRad="19050" dist="12700" dir="2700000" algn="bl" rotWithShape="0">
              <a:srgbClr val="000000">
                <a:alpha val="12000"/>
              </a:srgbClr>
            </a:outerShdw>
          </a:effectLst>
        </p:spPr>
        <p:txBody>
          <a:bodyPr/>
          <a:lstStyle/>
          <a:p>
            <a:endParaRPr lang="en-US"/>
          </a:p>
        </p:txBody>
      </p:sp>
      <p:sp>
        <p:nvSpPr>
          <p:cNvPr id="10" name="Text 8"/>
          <p:cNvSpPr/>
          <p:nvPr/>
        </p:nvSpPr>
        <p:spPr>
          <a:xfrm>
            <a:off x="4590288" y="1554480"/>
            <a:ext cx="3008376"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02  The value aesthete</a:t>
            </a:r>
            <a:endParaRPr lang="en-US" sz="1300" dirty="0"/>
          </a:p>
        </p:txBody>
      </p:sp>
      <p:sp>
        <p:nvSpPr>
          <p:cNvPr id="11" name="Text 9"/>
          <p:cNvSpPr/>
          <p:nvPr/>
        </p:nvSpPr>
        <p:spPr>
          <a:xfrm>
            <a:off x="4590288" y="1828800"/>
            <a:ext cx="3008376" cy="3630168"/>
          </a:xfrm>
          <a:prstGeom prst="rect">
            <a:avLst/>
          </a:prstGeom>
          <a:noFill/>
          <a:ln/>
        </p:spPr>
        <p:txBody>
          <a:bodyPr wrap="square" lIns="0" tIns="0" rIns="0" bIns="0" rtlCol="0" anchor="t"/>
          <a:lstStyle/>
          <a:p>
            <a:pPr marL="0" indent="0">
              <a:buNone/>
            </a:pPr>
            <a:r>
              <a:rPr lang="en-US" sz="1100" dirty="0">
                <a:solidFill>
                  <a:srgbClr val="2C2C2C"/>
                </a:solidFill>
                <a:latin typeface="Aptos" pitchFamily="34" charset="0"/>
                <a:ea typeface="Aptos" pitchFamily="34" charset="-122"/>
                <a:cs typeface="Aptos" pitchFamily="34" charset="-120"/>
              </a:rPr>
              <a:t>Age 25–40</a:t>
            </a:r>
            <a:endParaRPr lang="en-US" sz="1100" dirty="0"/>
          </a:p>
          <a:p>
            <a:pPr marL="0" indent="0">
              <a:buNone/>
            </a:pPr>
            <a:endParaRPr lang="en-US" sz="1100" dirty="0"/>
          </a:p>
          <a:p>
            <a:pPr marL="0" indent="0">
              <a:buNone/>
            </a:pPr>
            <a:r>
              <a:rPr lang="en-US" sz="1100" dirty="0">
                <a:solidFill>
                  <a:srgbClr val="2C2C2C"/>
                </a:solidFill>
                <a:latin typeface="Aptos" pitchFamily="34" charset="0"/>
                <a:ea typeface="Aptos" pitchFamily="34" charset="-122"/>
                <a:cs typeface="Aptos" pitchFamily="34" charset="-120"/>
              </a:rPr>
              <a:t>They do not want cheap-looking value. They want groceries, clothes and home pieces that feel tasteful, photogenic and smart. This is the shopper most likely to share the bag, the table and the weekly finds.</a:t>
            </a:r>
            <a:endParaRPr lang="en-US" sz="1100" dirty="0"/>
          </a:p>
        </p:txBody>
      </p:sp>
      <p:sp>
        <p:nvSpPr>
          <p:cNvPr id="12" name="Shape 10"/>
          <p:cNvSpPr/>
          <p:nvPr/>
        </p:nvSpPr>
        <p:spPr>
          <a:xfrm>
            <a:off x="7982712" y="1417320"/>
            <a:ext cx="3337560" cy="4160520"/>
          </a:xfrm>
          <a:prstGeom prst="roundRect">
            <a:avLst>
              <a:gd name="adj" fmla="val 2192"/>
            </a:avLst>
          </a:prstGeom>
          <a:solidFill>
            <a:srgbClr val="FBF8F1"/>
          </a:solidFill>
          <a:ln w="12700">
            <a:solidFill>
              <a:srgbClr val="D8CDBA"/>
            </a:solidFill>
            <a:prstDash val="solid"/>
          </a:ln>
          <a:effectLst>
            <a:outerShdw blurRad="19050" dist="12700" dir="2700000" algn="bl" rotWithShape="0">
              <a:srgbClr val="000000">
                <a:alpha val="12000"/>
              </a:srgbClr>
            </a:outerShdw>
          </a:effectLst>
        </p:spPr>
        <p:txBody>
          <a:bodyPr/>
          <a:lstStyle/>
          <a:p>
            <a:endParaRPr lang="en-US"/>
          </a:p>
        </p:txBody>
      </p:sp>
      <p:sp>
        <p:nvSpPr>
          <p:cNvPr id="13" name="Text 11"/>
          <p:cNvSpPr/>
          <p:nvPr/>
        </p:nvSpPr>
        <p:spPr>
          <a:xfrm>
            <a:off x="8147304" y="1554480"/>
            <a:ext cx="3008376"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03  The everyday host / home upgrader</a:t>
            </a:r>
            <a:endParaRPr lang="en-US" sz="1300" dirty="0"/>
          </a:p>
        </p:txBody>
      </p:sp>
      <p:sp>
        <p:nvSpPr>
          <p:cNvPr id="14" name="Text 12"/>
          <p:cNvSpPr/>
          <p:nvPr/>
        </p:nvSpPr>
        <p:spPr>
          <a:xfrm>
            <a:off x="8147304" y="1828800"/>
            <a:ext cx="3008376" cy="3630168"/>
          </a:xfrm>
          <a:prstGeom prst="rect">
            <a:avLst/>
          </a:prstGeom>
          <a:noFill/>
          <a:ln/>
        </p:spPr>
        <p:txBody>
          <a:bodyPr wrap="square" lIns="0" tIns="0" rIns="0" bIns="0" rtlCol="0" anchor="t"/>
          <a:lstStyle/>
          <a:p>
            <a:pPr marL="0" indent="0">
              <a:buNone/>
            </a:pPr>
            <a:r>
              <a:rPr lang="en-US" sz="1100" dirty="0">
                <a:solidFill>
                  <a:srgbClr val="2C2C2C"/>
                </a:solidFill>
                <a:latin typeface="Aptos" pitchFamily="34" charset="0"/>
                <a:ea typeface="Aptos" pitchFamily="34" charset="-122"/>
                <a:cs typeface="Aptos" pitchFamily="34" charset="-120"/>
              </a:rPr>
              <a:t>Age 28–55</a:t>
            </a:r>
            <a:endParaRPr lang="en-US" sz="1100" dirty="0"/>
          </a:p>
          <a:p>
            <a:pPr marL="0" indent="0">
              <a:buNone/>
            </a:pPr>
            <a:endParaRPr lang="en-US" sz="1100" dirty="0"/>
          </a:p>
          <a:p>
            <a:pPr marL="0" indent="0">
              <a:buNone/>
            </a:pPr>
            <a:r>
              <a:rPr lang="en-US" sz="1100" dirty="0">
                <a:solidFill>
                  <a:srgbClr val="2C2C2C"/>
                </a:solidFill>
                <a:latin typeface="Aptos" pitchFamily="34" charset="0"/>
                <a:ea typeface="Aptos" pitchFamily="34" charset="-122"/>
                <a:cs typeface="Aptos" pitchFamily="34" charset="-120"/>
              </a:rPr>
              <a:t>They browse across food, flowers, candles, homeware and seasonal pieces. They are highly responsive to “edits”, occasions and products that make the home feel better without feeling extravagant.</a:t>
            </a:r>
            <a:endParaRPr lang="en-US" sz="1100" dirty="0"/>
          </a:p>
        </p:txBody>
      </p:sp>
      <p:sp>
        <p:nvSpPr>
          <p:cNvPr id="15" name="Shape 13"/>
          <p:cNvSpPr/>
          <p:nvPr/>
        </p:nvSpPr>
        <p:spPr>
          <a:xfrm>
            <a:off x="1828800" y="5704840"/>
            <a:ext cx="8503920" cy="685800"/>
          </a:xfrm>
          <a:prstGeom prst="roundRect">
            <a:avLst>
              <a:gd name="adj" fmla="val 10667"/>
            </a:avLst>
          </a:prstGeom>
          <a:solidFill>
            <a:srgbClr val="F3F7F5"/>
          </a:solidFill>
          <a:ln w="12700">
            <a:solidFill>
              <a:srgbClr val="C9D8D0"/>
            </a:solidFill>
            <a:prstDash val="solid"/>
          </a:ln>
        </p:spPr>
        <p:txBody>
          <a:bodyPr/>
          <a:lstStyle/>
          <a:p>
            <a:endParaRPr lang="en-US"/>
          </a:p>
        </p:txBody>
      </p:sp>
      <p:sp>
        <p:nvSpPr>
          <p:cNvPr id="16" name="Text 14"/>
          <p:cNvSpPr/>
          <p:nvPr/>
        </p:nvSpPr>
        <p:spPr>
          <a:xfrm>
            <a:off x="1993392" y="5778500"/>
            <a:ext cx="8174736"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Human truth</a:t>
            </a:r>
            <a:endParaRPr lang="en-US" sz="1300" dirty="0"/>
          </a:p>
        </p:txBody>
      </p:sp>
      <p:sp>
        <p:nvSpPr>
          <p:cNvPr id="17" name="Text 15"/>
          <p:cNvSpPr/>
          <p:nvPr/>
        </p:nvSpPr>
        <p:spPr>
          <a:xfrm>
            <a:off x="1993392" y="6065520"/>
            <a:ext cx="8174736" cy="155448"/>
          </a:xfrm>
          <a:prstGeom prst="rect">
            <a:avLst/>
          </a:prstGeom>
          <a:noFill/>
          <a:ln/>
        </p:spPr>
        <p:txBody>
          <a:bodyPr wrap="square" lIns="0" tIns="0" rIns="0" bIns="0" rtlCol="0" anchor="t"/>
          <a:lstStyle/>
          <a:p>
            <a:pPr marL="0" indent="0">
              <a:buNone/>
            </a:pPr>
            <a:r>
              <a:rPr lang="en-US" sz="1050" dirty="0">
                <a:solidFill>
                  <a:srgbClr val="2C2C2C"/>
                </a:solidFill>
                <a:latin typeface="Aptos" pitchFamily="34" charset="0"/>
                <a:ea typeface="Aptos" pitchFamily="34" charset="-122"/>
                <a:cs typeface="Aptos" pitchFamily="34" charset="-120"/>
              </a:rPr>
              <a:t>“I do not just want to finish the shop. I want to feel good about what I am carrying into my week.”</a:t>
            </a:r>
            <a:endParaRPr lang="en-US" sz="1050" dirty="0"/>
          </a:p>
        </p:txBody>
      </p:sp>
      <p:sp>
        <p:nvSpPr>
          <p:cNvPr id="25" name="Slide Number Placeholder 0"/>
          <p:cNvSpPr>
            <a:spLocks noGrp="1"/>
          </p:cNvSpPr>
          <p:nvPr>
            <p:ph type="sldNum" sz="quarter" idx="4294967295"/>
          </p:nvPr>
        </p:nvSpPr>
        <p:spPr>
          <a:xfrm>
            <a:off x="11658600" y="109728"/>
            <a:ext cx="32004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7D746A"/>
                </a:solidFill>
                <a:latin typeface="Aptos"/>
                <a:ea typeface="Aptos"/>
                <a:cs typeface="Aptos"/>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113E36"/>
          </a:solidFill>
          <a:ln w="12700">
            <a:solidFill>
              <a:srgbClr val="113E36"/>
            </a:solidFill>
            <a:prstDash val="solid"/>
          </a:ln>
        </p:spPr>
        <p:txBody>
          <a:bodyPr/>
          <a:lstStyle/>
          <a:p>
            <a:endParaRPr lang="en-US"/>
          </a:p>
        </p:txBody>
      </p:sp>
      <p:sp>
        <p:nvSpPr>
          <p:cNvPr id="4" name="Text 2"/>
          <p:cNvSpPr/>
          <p:nvPr/>
        </p:nvSpPr>
        <p:spPr>
          <a:xfrm>
            <a:off x="914400" y="310896"/>
            <a:ext cx="2286000" cy="164592"/>
          </a:xfrm>
          <a:prstGeom prst="rect">
            <a:avLst/>
          </a:prstGeom>
          <a:noFill/>
          <a:ln/>
        </p:spPr>
        <p:txBody>
          <a:bodyPr wrap="square" rtlCol="0" anchor="ctr"/>
          <a:lstStyle/>
          <a:p>
            <a:pPr marL="0" indent="0">
              <a:buNone/>
            </a:pPr>
            <a:r>
              <a:rPr lang="en-US" sz="900" b="1" dirty="0">
                <a:solidFill>
                  <a:srgbClr val="E7D8BE"/>
                </a:solidFill>
                <a:latin typeface="Aptos" pitchFamily="34" charset="0"/>
                <a:ea typeface="Aptos" pitchFamily="34" charset="-122"/>
                <a:cs typeface="Aptos" pitchFamily="34" charset="-120"/>
              </a:rPr>
              <a:t>NEW MASTERBRAND PLATFORM</a:t>
            </a:r>
            <a:endParaRPr lang="en-US" sz="900" dirty="0"/>
          </a:p>
        </p:txBody>
      </p:sp>
      <p:sp>
        <p:nvSpPr>
          <p:cNvPr id="5" name="Text 3"/>
          <p:cNvSpPr/>
          <p:nvPr/>
        </p:nvSpPr>
        <p:spPr>
          <a:xfrm>
            <a:off x="868680" y="530352"/>
            <a:ext cx="10424160" cy="475488"/>
          </a:xfrm>
          <a:prstGeom prst="rect">
            <a:avLst/>
          </a:prstGeom>
          <a:noFill/>
          <a:ln/>
        </p:spPr>
        <p:txBody>
          <a:bodyPr wrap="square" rtlCol="0" anchor="ctr"/>
          <a:lstStyle/>
          <a:p>
            <a:pPr marL="0" indent="0">
              <a:buNone/>
            </a:pPr>
            <a:r>
              <a:rPr lang="en-US" sz="2500" b="1" dirty="0">
                <a:solidFill>
                  <a:srgbClr val="FFFFFF"/>
                </a:solidFill>
                <a:latin typeface="Georgia" pitchFamily="34" charset="0"/>
                <a:ea typeface="Georgia" pitchFamily="34" charset="-122"/>
                <a:cs typeface="Georgia" pitchFamily="34" charset="-120"/>
              </a:rPr>
              <a:t>Worth Bringing Home</a:t>
            </a:r>
            <a:endParaRPr lang="en-US" sz="2500" dirty="0"/>
          </a:p>
        </p:txBody>
      </p:sp>
      <p:sp>
        <p:nvSpPr>
          <p:cNvPr id="6" name="Shape 4"/>
          <p:cNvSpPr/>
          <p:nvPr/>
        </p:nvSpPr>
        <p:spPr>
          <a:xfrm>
            <a:off x="0" y="1188720"/>
            <a:ext cx="12188952" cy="5669280"/>
          </a:xfrm>
          <a:prstGeom prst="rect">
            <a:avLst/>
          </a:prstGeom>
          <a:solidFill>
            <a:srgbClr val="F8F3EA"/>
          </a:solidFill>
          <a:ln w="12700">
            <a:solidFill>
              <a:srgbClr val="F8F3EA"/>
            </a:solidFill>
            <a:prstDash val="solid"/>
          </a:ln>
        </p:spPr>
        <p:txBody>
          <a:bodyPr/>
          <a:lstStyle/>
          <a:p>
            <a:endParaRPr lang="en-US"/>
          </a:p>
        </p:txBody>
      </p:sp>
      <p:pic>
        <p:nvPicPr>
          <p:cNvPr id="7" name="Image 0" descr="/mnt/data/dunnes_assets/cover.png"/>
          <p:cNvPicPr>
            <a:picLocks noChangeAspect="1"/>
          </p:cNvPicPr>
          <p:nvPr/>
        </p:nvPicPr>
        <p:blipFill>
          <a:blip r:embed="rId3"/>
          <a:srcRect l="15343" r="15343"/>
          <a:stretch/>
        </p:blipFill>
        <p:spPr>
          <a:xfrm>
            <a:off x="6995160" y="1444752"/>
            <a:ext cx="4736592" cy="4526280"/>
          </a:xfrm>
          <a:prstGeom prst="rect">
            <a:avLst/>
          </a:prstGeom>
        </p:spPr>
      </p:pic>
      <p:sp>
        <p:nvSpPr>
          <p:cNvPr id="8" name="Text 5"/>
          <p:cNvSpPr/>
          <p:nvPr/>
        </p:nvSpPr>
        <p:spPr>
          <a:xfrm>
            <a:off x="868680" y="1572768"/>
            <a:ext cx="5212080" cy="640080"/>
          </a:xfrm>
          <a:prstGeom prst="rect">
            <a:avLst/>
          </a:prstGeom>
          <a:noFill/>
          <a:ln/>
        </p:spPr>
        <p:txBody>
          <a:bodyPr wrap="square" rtlCol="0" anchor="ctr"/>
          <a:lstStyle/>
          <a:p>
            <a:pPr marL="0" indent="0">
              <a:buNone/>
            </a:pPr>
            <a:r>
              <a:rPr lang="en-US" sz="3000" b="1" dirty="0">
                <a:solidFill>
                  <a:srgbClr val="113E36"/>
                </a:solidFill>
                <a:latin typeface="Georgia" pitchFamily="34" charset="0"/>
                <a:ea typeface="Georgia" pitchFamily="34" charset="-122"/>
                <a:cs typeface="Georgia" pitchFamily="34" charset="-120"/>
              </a:rPr>
              <a:t>Worth Bringing Home</a:t>
            </a:r>
            <a:endParaRPr lang="en-US" sz="3000" dirty="0"/>
          </a:p>
        </p:txBody>
      </p:sp>
      <p:sp>
        <p:nvSpPr>
          <p:cNvPr id="9" name="Text 6"/>
          <p:cNvSpPr/>
          <p:nvPr/>
        </p:nvSpPr>
        <p:spPr>
          <a:xfrm>
            <a:off x="868680" y="2286000"/>
            <a:ext cx="5394960" cy="960120"/>
          </a:xfrm>
          <a:prstGeom prst="rect">
            <a:avLst/>
          </a:prstGeom>
          <a:noFill/>
          <a:ln/>
        </p:spPr>
        <p:txBody>
          <a:bodyPr wrap="square" lIns="0" tIns="0" rIns="0" bIns="0" rtlCol="0" anchor="ctr"/>
          <a:lstStyle/>
          <a:p>
            <a:pPr marL="0" indent="0">
              <a:buNone/>
            </a:pPr>
            <a:r>
              <a:rPr lang="en-US" sz="1500" dirty="0">
                <a:solidFill>
                  <a:srgbClr val="2C2C2C"/>
                </a:solidFill>
                <a:latin typeface="Aptos" pitchFamily="34" charset="0"/>
                <a:ea typeface="Aptos" pitchFamily="34" charset="-122"/>
                <a:cs typeface="Aptos" pitchFamily="34" charset="-120"/>
              </a:rPr>
              <a:t>A Dunnes masterbrand campaign that makes every bag, basket and browse signal better choices — in food, fashion and home. The story is not about buying more. It is about bringing home things that feel more worth it.</a:t>
            </a:r>
            <a:endParaRPr lang="en-US" sz="1500" dirty="0"/>
          </a:p>
        </p:txBody>
      </p:sp>
      <p:sp>
        <p:nvSpPr>
          <p:cNvPr id="10" name="Shape 7"/>
          <p:cNvSpPr/>
          <p:nvPr/>
        </p:nvSpPr>
        <p:spPr>
          <a:xfrm>
            <a:off x="868680" y="3520440"/>
            <a:ext cx="1417320" cy="292608"/>
          </a:xfrm>
          <a:prstGeom prst="roundRect">
            <a:avLst>
              <a:gd name="adj" fmla="val 28125"/>
            </a:avLst>
          </a:prstGeom>
          <a:solidFill>
            <a:srgbClr val="113E36"/>
          </a:solidFill>
          <a:ln w="12700">
            <a:solidFill>
              <a:srgbClr val="113E36"/>
            </a:solidFill>
            <a:prstDash val="solid"/>
          </a:ln>
        </p:spPr>
        <p:txBody>
          <a:bodyPr/>
          <a:lstStyle/>
          <a:p>
            <a:endParaRPr lang="en-US"/>
          </a:p>
        </p:txBody>
      </p:sp>
      <p:sp>
        <p:nvSpPr>
          <p:cNvPr id="11" name="Text 8"/>
          <p:cNvSpPr/>
          <p:nvPr/>
        </p:nvSpPr>
        <p:spPr>
          <a:xfrm>
            <a:off x="868680" y="3579876"/>
            <a:ext cx="1417320" cy="164592"/>
          </a:xfrm>
          <a:prstGeom prst="rect">
            <a:avLst/>
          </a:prstGeom>
          <a:noFill/>
          <a:ln/>
        </p:spPr>
        <p:txBody>
          <a:bodyPr wrap="square"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Fresh</a:t>
            </a:r>
            <a:endParaRPr lang="en-US" sz="1000" dirty="0"/>
          </a:p>
        </p:txBody>
      </p:sp>
      <p:sp>
        <p:nvSpPr>
          <p:cNvPr id="12" name="Shape 9"/>
          <p:cNvSpPr/>
          <p:nvPr/>
        </p:nvSpPr>
        <p:spPr>
          <a:xfrm>
            <a:off x="2468880" y="3520440"/>
            <a:ext cx="1554480" cy="292608"/>
          </a:xfrm>
          <a:prstGeom prst="roundRect">
            <a:avLst>
              <a:gd name="adj" fmla="val 28125"/>
            </a:avLst>
          </a:prstGeom>
          <a:solidFill>
            <a:srgbClr val="B48C52"/>
          </a:solidFill>
          <a:ln w="12700">
            <a:solidFill>
              <a:srgbClr val="B48C52"/>
            </a:solidFill>
            <a:prstDash val="solid"/>
          </a:ln>
        </p:spPr>
        <p:txBody>
          <a:bodyPr/>
          <a:lstStyle/>
          <a:p>
            <a:endParaRPr lang="en-US"/>
          </a:p>
        </p:txBody>
      </p:sp>
      <p:sp>
        <p:nvSpPr>
          <p:cNvPr id="13" name="Text 10"/>
          <p:cNvSpPr/>
          <p:nvPr/>
        </p:nvSpPr>
        <p:spPr>
          <a:xfrm>
            <a:off x="2468880" y="3579876"/>
            <a:ext cx="1554480" cy="164592"/>
          </a:xfrm>
          <a:prstGeom prst="rect">
            <a:avLst/>
          </a:prstGeom>
          <a:noFill/>
          <a:ln/>
        </p:spPr>
        <p:txBody>
          <a:bodyPr wrap="square" rtlCol="0" anchor="ctr"/>
          <a:lstStyle/>
          <a:p>
            <a:pPr marL="0" indent="0" algn="ctr">
              <a:buNone/>
            </a:pPr>
            <a:r>
              <a:rPr lang="en-US" sz="1000" b="1" dirty="0">
                <a:solidFill>
                  <a:srgbClr val="2C2C2C"/>
                </a:solidFill>
                <a:latin typeface="Aptos" pitchFamily="34" charset="0"/>
                <a:ea typeface="Aptos" pitchFamily="34" charset="-122"/>
                <a:cs typeface="Aptos" pitchFamily="34" charset="-120"/>
              </a:rPr>
              <a:t>Stylish</a:t>
            </a:r>
            <a:endParaRPr lang="en-US" sz="1000" dirty="0"/>
          </a:p>
        </p:txBody>
      </p:sp>
      <p:sp>
        <p:nvSpPr>
          <p:cNvPr id="14" name="Shape 11"/>
          <p:cNvSpPr/>
          <p:nvPr/>
        </p:nvSpPr>
        <p:spPr>
          <a:xfrm>
            <a:off x="4206240" y="3520440"/>
            <a:ext cx="1828800" cy="292608"/>
          </a:xfrm>
          <a:prstGeom prst="roundRect">
            <a:avLst>
              <a:gd name="adj" fmla="val 28125"/>
            </a:avLst>
          </a:prstGeom>
          <a:solidFill>
            <a:srgbClr val="C96E4D"/>
          </a:solidFill>
          <a:ln w="12700">
            <a:solidFill>
              <a:srgbClr val="C96E4D"/>
            </a:solidFill>
            <a:prstDash val="solid"/>
          </a:ln>
        </p:spPr>
        <p:txBody>
          <a:bodyPr/>
          <a:lstStyle/>
          <a:p>
            <a:endParaRPr lang="en-US"/>
          </a:p>
        </p:txBody>
      </p:sp>
      <p:sp>
        <p:nvSpPr>
          <p:cNvPr id="15" name="Text 12"/>
          <p:cNvSpPr/>
          <p:nvPr/>
        </p:nvSpPr>
        <p:spPr>
          <a:xfrm>
            <a:off x="4206240" y="3579876"/>
            <a:ext cx="1828800" cy="164592"/>
          </a:xfrm>
          <a:prstGeom prst="rect">
            <a:avLst/>
          </a:prstGeom>
          <a:noFill/>
          <a:ln/>
        </p:spPr>
        <p:txBody>
          <a:bodyPr wrap="square"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Welcome home</a:t>
            </a:r>
            <a:endParaRPr lang="en-US" sz="1000" dirty="0"/>
          </a:p>
        </p:txBody>
      </p:sp>
      <p:sp>
        <p:nvSpPr>
          <p:cNvPr id="16" name="Shape 13"/>
          <p:cNvSpPr/>
          <p:nvPr/>
        </p:nvSpPr>
        <p:spPr>
          <a:xfrm>
            <a:off x="868680" y="4069080"/>
            <a:ext cx="2331720" cy="1234440"/>
          </a:xfrm>
          <a:prstGeom prst="roundRect">
            <a:avLst>
              <a:gd name="adj" fmla="val 5926"/>
            </a:avLst>
          </a:prstGeom>
          <a:solidFill>
            <a:srgbClr val="FBF8F1"/>
          </a:solidFill>
          <a:ln w="12700">
            <a:solidFill>
              <a:srgbClr val="D8CDBA"/>
            </a:solidFill>
            <a:prstDash val="solid"/>
          </a:ln>
        </p:spPr>
        <p:txBody>
          <a:bodyPr/>
          <a:lstStyle/>
          <a:p>
            <a:endParaRPr lang="en-US"/>
          </a:p>
        </p:txBody>
      </p:sp>
      <p:sp>
        <p:nvSpPr>
          <p:cNvPr id="17" name="Text 14"/>
          <p:cNvSpPr/>
          <p:nvPr/>
        </p:nvSpPr>
        <p:spPr>
          <a:xfrm>
            <a:off x="1033272" y="4206240"/>
            <a:ext cx="2002536"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Tagline</a:t>
            </a:r>
            <a:endParaRPr lang="en-US" sz="1300" dirty="0"/>
          </a:p>
        </p:txBody>
      </p:sp>
      <p:sp>
        <p:nvSpPr>
          <p:cNvPr id="18" name="Text 15"/>
          <p:cNvSpPr/>
          <p:nvPr/>
        </p:nvSpPr>
        <p:spPr>
          <a:xfrm>
            <a:off x="1033272" y="4480560"/>
            <a:ext cx="2002536" cy="704088"/>
          </a:xfrm>
          <a:prstGeom prst="rect">
            <a:avLst/>
          </a:prstGeom>
          <a:noFill/>
          <a:ln/>
        </p:spPr>
        <p:txBody>
          <a:bodyPr wrap="square" lIns="0" tIns="0" rIns="0" bIns="0" rtlCol="0" anchor="t"/>
          <a:lstStyle/>
          <a:p>
            <a:pPr marL="0" indent="0">
              <a:buNone/>
            </a:pPr>
            <a:r>
              <a:rPr lang="en-US" sz="1050" dirty="0">
                <a:solidFill>
                  <a:srgbClr val="2C2C2C"/>
                </a:solidFill>
                <a:latin typeface="Aptos" pitchFamily="34" charset="0"/>
                <a:ea typeface="Aptos" pitchFamily="34" charset="-122"/>
                <a:cs typeface="Aptos" pitchFamily="34" charset="-120"/>
              </a:rPr>
              <a:t>Worth Bringing Home.</a:t>
            </a:r>
            <a:endParaRPr lang="en-US" sz="1050" dirty="0"/>
          </a:p>
          <a:p>
            <a:pPr marL="0" indent="0">
              <a:buNone/>
            </a:pPr>
            <a:r>
              <a:rPr lang="en-US" sz="1050" dirty="0">
                <a:solidFill>
                  <a:srgbClr val="2C2C2C"/>
                </a:solidFill>
                <a:latin typeface="Aptos" pitchFamily="34" charset="0"/>
                <a:ea typeface="Aptos" pitchFamily="34" charset="-122"/>
                <a:cs typeface="Aptos" pitchFamily="34" charset="-120"/>
              </a:rPr>
              <a:t>Better choices. Better living. Everyday.</a:t>
            </a:r>
            <a:endParaRPr lang="en-US" sz="1050" dirty="0"/>
          </a:p>
        </p:txBody>
      </p:sp>
      <p:sp>
        <p:nvSpPr>
          <p:cNvPr id="19" name="Shape 16"/>
          <p:cNvSpPr/>
          <p:nvPr/>
        </p:nvSpPr>
        <p:spPr>
          <a:xfrm>
            <a:off x="3364992" y="4069080"/>
            <a:ext cx="2697480" cy="1234440"/>
          </a:xfrm>
          <a:prstGeom prst="roundRect">
            <a:avLst>
              <a:gd name="adj" fmla="val 5926"/>
            </a:avLst>
          </a:prstGeom>
          <a:solidFill>
            <a:srgbClr val="FBF8F1"/>
          </a:solidFill>
          <a:ln w="12700">
            <a:solidFill>
              <a:srgbClr val="D8CDBA"/>
            </a:solidFill>
            <a:prstDash val="solid"/>
          </a:ln>
        </p:spPr>
        <p:txBody>
          <a:bodyPr/>
          <a:lstStyle/>
          <a:p>
            <a:endParaRPr lang="en-US"/>
          </a:p>
        </p:txBody>
      </p:sp>
      <p:sp>
        <p:nvSpPr>
          <p:cNvPr id="20" name="Text 17"/>
          <p:cNvSpPr/>
          <p:nvPr/>
        </p:nvSpPr>
        <p:spPr>
          <a:xfrm>
            <a:off x="3529584" y="4206240"/>
            <a:ext cx="2368296"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What it solves</a:t>
            </a:r>
            <a:endParaRPr lang="en-US" sz="1300" dirty="0"/>
          </a:p>
        </p:txBody>
      </p:sp>
      <p:sp>
        <p:nvSpPr>
          <p:cNvPr id="21" name="Text 18"/>
          <p:cNvSpPr/>
          <p:nvPr/>
        </p:nvSpPr>
        <p:spPr>
          <a:xfrm>
            <a:off x="3529584" y="4480560"/>
            <a:ext cx="2368296" cy="704088"/>
          </a:xfrm>
          <a:prstGeom prst="rect">
            <a:avLst/>
          </a:prstGeom>
          <a:noFill/>
          <a:ln/>
        </p:spPr>
        <p:txBody>
          <a:bodyPr wrap="square" lIns="0" tIns="0" rIns="0" bIns="0" rtlCol="0" anchor="t"/>
          <a:lstStyle/>
          <a:p>
            <a:pPr marL="0" indent="0">
              <a:buNone/>
            </a:pPr>
            <a:r>
              <a:rPr lang="en-US" sz="1050" dirty="0">
                <a:solidFill>
                  <a:srgbClr val="2C2C2C"/>
                </a:solidFill>
                <a:latin typeface="Aptos" pitchFamily="34" charset="0"/>
                <a:ea typeface="Aptos" pitchFamily="34" charset="-122"/>
                <a:cs typeface="Aptos" pitchFamily="34" charset="-120"/>
              </a:rPr>
              <a:t>It gives Dunnes one emotional line that can stretch from a weekly basket to a dress, a table setting, a bottle return or a reusable bag.</a:t>
            </a:r>
            <a:endParaRPr lang="en-US" sz="1050" dirty="0"/>
          </a:p>
        </p:txBody>
      </p:sp>
      <p:sp>
        <p:nvSpPr>
          <p:cNvPr id="22" name="Shape 19"/>
          <p:cNvSpPr/>
          <p:nvPr/>
        </p:nvSpPr>
        <p:spPr>
          <a:xfrm>
            <a:off x="919480" y="5544312"/>
            <a:ext cx="5193792" cy="566928"/>
          </a:xfrm>
          <a:prstGeom prst="roundRect">
            <a:avLst>
              <a:gd name="adj" fmla="val 12903"/>
            </a:avLst>
          </a:prstGeom>
          <a:solidFill>
            <a:srgbClr val="113E36"/>
          </a:solidFill>
          <a:ln w="12700">
            <a:solidFill>
              <a:srgbClr val="113E36"/>
            </a:solidFill>
            <a:prstDash val="solid"/>
          </a:ln>
        </p:spPr>
        <p:txBody>
          <a:bodyPr/>
          <a:lstStyle/>
          <a:p>
            <a:endParaRPr lang="en-US"/>
          </a:p>
        </p:txBody>
      </p:sp>
      <p:sp>
        <p:nvSpPr>
          <p:cNvPr id="23" name="Text 20"/>
          <p:cNvSpPr/>
          <p:nvPr/>
        </p:nvSpPr>
        <p:spPr>
          <a:xfrm>
            <a:off x="1033272" y="5605272"/>
            <a:ext cx="4864608" cy="228600"/>
          </a:xfrm>
          <a:prstGeom prst="rect">
            <a:avLst/>
          </a:prstGeom>
          <a:noFill/>
          <a:ln/>
        </p:spPr>
        <p:txBody>
          <a:bodyPr wrap="square" rtlCol="0" anchor="ctr"/>
          <a:lstStyle/>
          <a:p>
            <a:pPr marL="0" indent="0">
              <a:buNone/>
            </a:pPr>
            <a:r>
              <a:rPr lang="en-US" sz="1100" b="1" dirty="0">
                <a:solidFill>
                  <a:srgbClr val="FFFFFF"/>
                </a:solidFill>
                <a:latin typeface="Aptos" pitchFamily="34" charset="0"/>
                <a:ea typeface="Aptos" pitchFamily="34" charset="-122"/>
                <a:cs typeface="Aptos" pitchFamily="34" charset="-120"/>
              </a:rPr>
              <a:t>Why it can win</a:t>
            </a:r>
            <a:endParaRPr lang="en-US" sz="1100" dirty="0"/>
          </a:p>
        </p:txBody>
      </p:sp>
      <p:sp>
        <p:nvSpPr>
          <p:cNvPr id="24" name="Text 21"/>
          <p:cNvSpPr/>
          <p:nvPr/>
        </p:nvSpPr>
        <p:spPr>
          <a:xfrm>
            <a:off x="1033272" y="5879592"/>
            <a:ext cx="4864608" cy="36576"/>
          </a:xfrm>
          <a:prstGeom prst="rect">
            <a:avLst/>
          </a:prstGeom>
          <a:noFill/>
          <a:ln/>
        </p:spPr>
        <p:txBody>
          <a:bodyPr wrap="square" lIns="0" tIns="0" rIns="0" bIns="0" rtlCol="0" anchor="t"/>
          <a:lstStyle/>
          <a:p>
            <a:pPr marL="0" indent="0">
              <a:buNone/>
            </a:pPr>
            <a:r>
              <a:rPr lang="en-US" sz="1200" dirty="0">
                <a:solidFill>
                  <a:srgbClr val="FFFFFF"/>
                </a:solidFill>
                <a:latin typeface="Aptos" pitchFamily="34" charset="0"/>
                <a:ea typeface="Aptos" pitchFamily="34" charset="-122"/>
                <a:cs typeface="Aptos" pitchFamily="34" charset="-120"/>
              </a:rPr>
              <a:t>Tesco can own convenience. Dunnes can own what is more worth carrying home.</a:t>
            </a:r>
            <a:endParaRPr lang="en-US" sz="1200" dirty="0"/>
          </a:p>
        </p:txBody>
      </p:sp>
      <p:sp>
        <p:nvSpPr>
          <p:cNvPr id="25" name="Slide Number Placeholder 0"/>
          <p:cNvSpPr>
            <a:spLocks noGrp="1"/>
          </p:cNvSpPr>
          <p:nvPr>
            <p:ph type="sldNum" sz="quarter" idx="4294967295"/>
          </p:nvPr>
        </p:nvSpPr>
        <p:spPr>
          <a:xfrm>
            <a:off x="11658600" y="109728"/>
            <a:ext cx="32004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7D746A"/>
                </a:solidFill>
                <a:latin typeface="Aptos"/>
                <a:ea typeface="Aptos"/>
                <a:cs typeface="Aptos"/>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nvSpPr>
        <p:spPr>
          <a:xfrm>
            <a:off x="914400" y="310896"/>
            <a:ext cx="2286000" cy="164592"/>
          </a:xfrm>
          <a:prstGeom prst="rect">
            <a:avLst/>
          </a:prstGeom>
          <a:noFill/>
          <a:ln/>
        </p:spPr>
        <p:txBody>
          <a:bodyPr wrap="square" rtlCol="0" anchor="ctr"/>
          <a:lstStyle/>
          <a:p>
            <a:pPr marL="0" indent="0">
              <a:buNone/>
            </a:pPr>
            <a:r>
              <a:rPr lang="en-US" sz="900" b="1" dirty="0">
                <a:solidFill>
                  <a:srgbClr val="C96E4D"/>
                </a:solidFill>
                <a:latin typeface="Aptos" pitchFamily="34" charset="0"/>
                <a:ea typeface="Aptos" pitchFamily="34" charset="-122"/>
                <a:cs typeface="Aptos" pitchFamily="34" charset="-120"/>
              </a:rPr>
              <a:t>WHAT WE ARE AIMING TO CHANGE</a:t>
            </a:r>
            <a:endParaRPr lang="en-US" sz="900" dirty="0"/>
          </a:p>
        </p:txBody>
      </p:sp>
      <p:sp>
        <p:nvSpPr>
          <p:cNvPr id="4" name="Text 2"/>
          <p:cNvSpPr/>
          <p:nvPr/>
        </p:nvSpPr>
        <p:spPr>
          <a:xfrm>
            <a:off x="868680" y="530352"/>
            <a:ext cx="10698480" cy="502920"/>
          </a:xfrm>
          <a:prstGeom prst="rect">
            <a:avLst/>
          </a:prstGeom>
          <a:noFill/>
          <a:ln/>
        </p:spPr>
        <p:txBody>
          <a:bodyPr wrap="square" rtlCol="0" anchor="ctr"/>
          <a:lstStyle/>
          <a:p>
            <a:pPr marL="0" indent="0">
              <a:buNone/>
            </a:pPr>
            <a:r>
              <a:rPr lang="en-US" sz="2400" b="1" dirty="0">
                <a:solidFill>
                  <a:srgbClr val="113E36"/>
                </a:solidFill>
                <a:latin typeface="Georgia" pitchFamily="34" charset="0"/>
                <a:ea typeface="Georgia" pitchFamily="34" charset="-122"/>
                <a:cs typeface="Georgia" pitchFamily="34" charset="-120"/>
              </a:rPr>
              <a:t>From functional retailer to more considered everyday destination</a:t>
            </a:r>
            <a:endParaRPr lang="en-US" sz="2400" dirty="0"/>
          </a:p>
        </p:txBody>
      </p:sp>
      <p:sp>
        <p:nvSpPr>
          <p:cNvPr id="5" name="Shape 3"/>
          <p:cNvSpPr/>
          <p:nvPr/>
        </p:nvSpPr>
        <p:spPr>
          <a:xfrm>
            <a:off x="868680" y="1078992"/>
            <a:ext cx="10698480" cy="0"/>
          </a:xfrm>
          <a:prstGeom prst="line">
            <a:avLst/>
          </a:prstGeom>
          <a:noFill/>
          <a:ln w="12700">
            <a:solidFill>
              <a:srgbClr val="D8CDBA"/>
            </a:solidFill>
            <a:prstDash val="solid"/>
          </a:ln>
        </p:spPr>
        <p:txBody>
          <a:bodyPr/>
          <a:lstStyle/>
          <a:p>
            <a:endParaRPr lang="en-US"/>
          </a:p>
        </p:txBody>
      </p:sp>
      <p:sp>
        <p:nvSpPr>
          <p:cNvPr id="6" name="Shape 4"/>
          <p:cNvSpPr/>
          <p:nvPr/>
        </p:nvSpPr>
        <p:spPr>
          <a:xfrm>
            <a:off x="868680" y="1417320"/>
            <a:ext cx="2487168" cy="3611880"/>
          </a:xfrm>
          <a:prstGeom prst="roundRect">
            <a:avLst>
              <a:gd name="adj" fmla="val 2941"/>
            </a:avLst>
          </a:prstGeom>
          <a:solidFill>
            <a:srgbClr val="FBF8F1"/>
          </a:solidFill>
          <a:ln w="12700">
            <a:solidFill>
              <a:srgbClr val="D8CDBA"/>
            </a:solidFill>
            <a:prstDash val="solid"/>
          </a:ln>
          <a:effectLst>
            <a:outerShdw blurRad="19050" dist="12700" dir="2700000" algn="bl" rotWithShape="0">
              <a:srgbClr val="000000">
                <a:alpha val="12000"/>
              </a:srgbClr>
            </a:outerShdw>
          </a:effectLst>
        </p:spPr>
        <p:txBody>
          <a:bodyPr/>
          <a:lstStyle/>
          <a:p>
            <a:endParaRPr lang="en-US"/>
          </a:p>
        </p:txBody>
      </p:sp>
      <p:sp>
        <p:nvSpPr>
          <p:cNvPr id="7" name="Text 5"/>
          <p:cNvSpPr/>
          <p:nvPr/>
        </p:nvSpPr>
        <p:spPr>
          <a:xfrm>
            <a:off x="1033272" y="1554480"/>
            <a:ext cx="2157984"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Current brand picture</a:t>
            </a:r>
            <a:endParaRPr lang="en-US" sz="1300" dirty="0"/>
          </a:p>
        </p:txBody>
      </p:sp>
      <p:sp>
        <p:nvSpPr>
          <p:cNvPr id="8" name="Text 6"/>
          <p:cNvSpPr/>
          <p:nvPr/>
        </p:nvSpPr>
        <p:spPr>
          <a:xfrm>
            <a:off x="1033272" y="1828800"/>
            <a:ext cx="2157984" cy="3081528"/>
          </a:xfrm>
          <a:prstGeom prst="rect">
            <a:avLst/>
          </a:prstGeom>
          <a:noFill/>
          <a:ln/>
        </p:spPr>
        <p:txBody>
          <a:bodyPr wrap="square" lIns="0" tIns="0" rIns="0" bIns="0" rtlCol="0" anchor="t"/>
          <a:lstStyle/>
          <a:p>
            <a:pPr marL="0" indent="0">
              <a:buNone/>
            </a:pPr>
            <a:r>
              <a:rPr lang="en-US" sz="1100" dirty="0">
                <a:solidFill>
                  <a:srgbClr val="2C2C2C"/>
                </a:solidFill>
                <a:latin typeface="Aptos" pitchFamily="34" charset="0"/>
                <a:ea typeface="Aptos" pitchFamily="34" charset="-122"/>
                <a:cs typeface="Aptos" pitchFamily="34" charset="-120"/>
              </a:rPr>
              <a:t>• Grocery-led mental availability</a:t>
            </a:r>
            <a:endParaRPr lang="en-US" sz="1100" dirty="0"/>
          </a:p>
          <a:p>
            <a:pPr marL="0" indent="0">
              <a:buNone/>
            </a:pPr>
            <a:r>
              <a:rPr lang="en-US" sz="1100" dirty="0">
                <a:solidFill>
                  <a:srgbClr val="2C2C2C"/>
                </a:solidFill>
                <a:latin typeface="Aptos" pitchFamily="34" charset="0"/>
                <a:ea typeface="Aptos" pitchFamily="34" charset="-122"/>
                <a:cs typeface="Aptos" pitchFamily="34" charset="-120"/>
              </a:rPr>
              <a:t>• Famous for vouchers and value mechanics</a:t>
            </a:r>
            <a:endParaRPr lang="en-US" sz="1100" dirty="0"/>
          </a:p>
          <a:p>
            <a:pPr marL="0" indent="0">
              <a:buNone/>
            </a:pPr>
            <a:r>
              <a:rPr lang="en-US" sz="1100" dirty="0">
                <a:solidFill>
                  <a:srgbClr val="2C2C2C"/>
                </a:solidFill>
                <a:latin typeface="Aptos" pitchFamily="34" charset="0"/>
                <a:ea typeface="Aptos" pitchFamily="34" charset="-122"/>
                <a:cs typeface="Aptos" pitchFamily="34" charset="-120"/>
              </a:rPr>
              <a:t>• Better known for “deals” than for taste or style</a:t>
            </a:r>
            <a:endParaRPr lang="en-US" sz="1100" dirty="0"/>
          </a:p>
          <a:p>
            <a:pPr marL="0" indent="0">
              <a:buNone/>
            </a:pPr>
            <a:r>
              <a:rPr lang="en-US" sz="1100" dirty="0">
                <a:solidFill>
                  <a:srgbClr val="2C2C2C"/>
                </a:solidFill>
                <a:latin typeface="Aptos" pitchFamily="34" charset="0"/>
                <a:ea typeface="Aptos" pitchFamily="34" charset="-122"/>
                <a:cs typeface="Aptos" pitchFamily="34" charset="-120"/>
              </a:rPr>
              <a:t>• Social content often product-first and episodic</a:t>
            </a:r>
            <a:endParaRPr lang="en-US" sz="1100" dirty="0"/>
          </a:p>
          <a:p>
            <a:pPr marL="0" indent="0">
              <a:buNone/>
            </a:pPr>
            <a:r>
              <a:rPr lang="en-US" sz="1100" dirty="0">
                <a:solidFill>
                  <a:srgbClr val="2C2C2C"/>
                </a:solidFill>
                <a:latin typeface="Aptos" pitchFamily="34" charset="0"/>
                <a:ea typeface="Aptos" pitchFamily="34" charset="-122"/>
                <a:cs typeface="Aptos" pitchFamily="34" charset="-120"/>
              </a:rPr>
              <a:t>• The carry bag behaves like utility, not media</a:t>
            </a:r>
            <a:endParaRPr lang="en-US" sz="1100" dirty="0"/>
          </a:p>
        </p:txBody>
      </p:sp>
      <p:sp>
        <p:nvSpPr>
          <p:cNvPr id="9" name="Shape 7"/>
          <p:cNvSpPr/>
          <p:nvPr/>
        </p:nvSpPr>
        <p:spPr>
          <a:xfrm>
            <a:off x="3703320" y="2468880"/>
            <a:ext cx="960120" cy="1417320"/>
          </a:xfrm>
          <a:prstGeom prst="chevron">
            <a:avLst/>
          </a:prstGeom>
          <a:solidFill>
            <a:srgbClr val="DAD1C3"/>
          </a:solidFill>
          <a:ln w="12700">
            <a:solidFill>
              <a:srgbClr val="DAD1C3"/>
            </a:solidFill>
            <a:prstDash val="solid"/>
          </a:ln>
        </p:spPr>
        <p:txBody>
          <a:bodyPr/>
          <a:lstStyle/>
          <a:p>
            <a:endParaRPr lang="en-US"/>
          </a:p>
        </p:txBody>
      </p:sp>
      <p:sp>
        <p:nvSpPr>
          <p:cNvPr id="10" name="Shape 8"/>
          <p:cNvSpPr/>
          <p:nvPr/>
        </p:nvSpPr>
        <p:spPr>
          <a:xfrm>
            <a:off x="4983480" y="1417320"/>
            <a:ext cx="2487168" cy="3611880"/>
          </a:xfrm>
          <a:prstGeom prst="roundRect">
            <a:avLst>
              <a:gd name="adj" fmla="val 2941"/>
            </a:avLst>
          </a:prstGeom>
          <a:solidFill>
            <a:srgbClr val="F7FBF8"/>
          </a:solidFill>
          <a:ln w="12700">
            <a:solidFill>
              <a:srgbClr val="D8CDBA"/>
            </a:solidFill>
            <a:prstDash val="solid"/>
          </a:ln>
          <a:effectLst>
            <a:outerShdw blurRad="19050" dist="12700" dir="2700000" algn="bl" rotWithShape="0">
              <a:srgbClr val="000000">
                <a:alpha val="12000"/>
              </a:srgbClr>
            </a:outerShdw>
          </a:effectLst>
        </p:spPr>
        <p:txBody>
          <a:bodyPr/>
          <a:lstStyle/>
          <a:p>
            <a:endParaRPr lang="en-US"/>
          </a:p>
        </p:txBody>
      </p:sp>
      <p:sp>
        <p:nvSpPr>
          <p:cNvPr id="11" name="Text 9"/>
          <p:cNvSpPr/>
          <p:nvPr/>
        </p:nvSpPr>
        <p:spPr>
          <a:xfrm>
            <a:off x="5148072" y="1554480"/>
            <a:ext cx="2157984"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Target brand picture</a:t>
            </a:r>
            <a:endParaRPr lang="en-US" sz="1300" dirty="0"/>
          </a:p>
        </p:txBody>
      </p:sp>
      <p:sp>
        <p:nvSpPr>
          <p:cNvPr id="12" name="Text 10"/>
          <p:cNvSpPr/>
          <p:nvPr/>
        </p:nvSpPr>
        <p:spPr>
          <a:xfrm>
            <a:off x="5148072" y="1828800"/>
            <a:ext cx="2157984" cy="3081528"/>
          </a:xfrm>
          <a:prstGeom prst="rect">
            <a:avLst/>
          </a:prstGeom>
          <a:noFill/>
          <a:ln/>
        </p:spPr>
        <p:txBody>
          <a:bodyPr wrap="square" lIns="0" tIns="0" rIns="0" bIns="0" rtlCol="0" anchor="t"/>
          <a:lstStyle/>
          <a:p>
            <a:pPr marL="0" indent="0">
              <a:buNone/>
            </a:pPr>
            <a:r>
              <a:rPr lang="en-US" sz="1100" dirty="0">
                <a:solidFill>
                  <a:srgbClr val="2C2C2C"/>
                </a:solidFill>
                <a:latin typeface="Aptos" pitchFamily="34" charset="0"/>
                <a:ea typeface="Aptos" pitchFamily="34" charset="-122"/>
                <a:cs typeface="Aptos" pitchFamily="34" charset="-120"/>
              </a:rPr>
              <a:t>• More curated across food, fashion and home</a:t>
            </a:r>
            <a:endParaRPr lang="en-US" sz="1100" dirty="0"/>
          </a:p>
          <a:p>
            <a:pPr marL="0" indent="0">
              <a:buNone/>
            </a:pPr>
            <a:r>
              <a:rPr lang="en-US" sz="1100" dirty="0">
                <a:solidFill>
                  <a:srgbClr val="2C2C2C"/>
                </a:solidFill>
                <a:latin typeface="Aptos" pitchFamily="34" charset="0"/>
                <a:ea typeface="Aptos" pitchFamily="34" charset="-122"/>
                <a:cs typeface="Aptos" pitchFamily="34" charset="-120"/>
              </a:rPr>
              <a:t>• Better-known for “worth it” everyday quality</a:t>
            </a:r>
            <a:endParaRPr lang="en-US" sz="1100" dirty="0"/>
          </a:p>
          <a:p>
            <a:pPr marL="0" indent="0">
              <a:buNone/>
            </a:pPr>
            <a:r>
              <a:rPr lang="en-US" sz="1100" dirty="0">
                <a:solidFill>
                  <a:srgbClr val="2C2C2C"/>
                </a:solidFill>
                <a:latin typeface="Aptos" pitchFamily="34" charset="0"/>
                <a:ea typeface="Aptos" pitchFamily="34" charset="-122"/>
                <a:cs typeface="Aptos" pitchFamily="34" charset="-120"/>
              </a:rPr>
              <a:t>• Warmer, more lifestyle-led storytelling</a:t>
            </a:r>
            <a:endParaRPr lang="en-US" sz="1100" dirty="0"/>
          </a:p>
          <a:p>
            <a:pPr marL="0" indent="0">
              <a:buNone/>
            </a:pPr>
            <a:r>
              <a:rPr lang="en-US" sz="1100" dirty="0">
                <a:solidFill>
                  <a:srgbClr val="2C2C2C"/>
                </a:solidFill>
                <a:latin typeface="Aptos" pitchFamily="34" charset="0"/>
                <a:ea typeface="Aptos" pitchFamily="34" charset="-122"/>
                <a:cs typeface="Aptos" pitchFamily="34" charset="-120"/>
              </a:rPr>
              <a:t>• A stronger reason to choose Dunnes over Tesco</a:t>
            </a:r>
            <a:endParaRPr lang="en-US" sz="1100" dirty="0"/>
          </a:p>
          <a:p>
            <a:pPr marL="0" indent="0">
              <a:buNone/>
            </a:pPr>
            <a:r>
              <a:rPr lang="en-US" sz="1100" dirty="0">
                <a:solidFill>
                  <a:srgbClr val="2C2C2C"/>
                </a:solidFill>
                <a:latin typeface="Aptos" pitchFamily="34" charset="0"/>
                <a:ea typeface="Aptos" pitchFamily="34" charset="-122"/>
                <a:cs typeface="Aptos" pitchFamily="34" charset="-120"/>
              </a:rPr>
              <a:t>• A bag people notice, keep and remember</a:t>
            </a:r>
            <a:endParaRPr lang="en-US" sz="1100" dirty="0"/>
          </a:p>
        </p:txBody>
      </p:sp>
      <p:sp>
        <p:nvSpPr>
          <p:cNvPr id="13" name="Shape 11"/>
          <p:cNvSpPr/>
          <p:nvPr/>
        </p:nvSpPr>
        <p:spPr>
          <a:xfrm>
            <a:off x="7818120" y="1417320"/>
            <a:ext cx="3502152" cy="1024128"/>
          </a:xfrm>
          <a:prstGeom prst="roundRect">
            <a:avLst>
              <a:gd name="adj" fmla="val 7143"/>
            </a:avLst>
          </a:prstGeom>
          <a:solidFill>
            <a:srgbClr val="FBF8F1"/>
          </a:solidFill>
          <a:ln w="12700">
            <a:solidFill>
              <a:srgbClr val="D8CDBA"/>
            </a:solidFill>
            <a:prstDash val="solid"/>
          </a:ln>
        </p:spPr>
        <p:txBody>
          <a:bodyPr/>
          <a:lstStyle/>
          <a:p>
            <a:endParaRPr lang="en-US"/>
          </a:p>
        </p:txBody>
      </p:sp>
      <p:sp>
        <p:nvSpPr>
          <p:cNvPr id="14" name="Text 12"/>
          <p:cNvSpPr/>
          <p:nvPr/>
        </p:nvSpPr>
        <p:spPr>
          <a:xfrm>
            <a:off x="7982712" y="1554480"/>
            <a:ext cx="3172968"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Campaign objective 1</a:t>
            </a:r>
            <a:endParaRPr lang="en-US" sz="1300" dirty="0"/>
          </a:p>
        </p:txBody>
      </p:sp>
      <p:sp>
        <p:nvSpPr>
          <p:cNvPr id="15" name="Text 13"/>
          <p:cNvSpPr/>
          <p:nvPr/>
        </p:nvSpPr>
        <p:spPr>
          <a:xfrm>
            <a:off x="7982712" y="1828800"/>
            <a:ext cx="3172968" cy="493776"/>
          </a:xfrm>
          <a:prstGeom prst="rect">
            <a:avLst/>
          </a:prstGeom>
          <a:noFill/>
          <a:ln/>
        </p:spPr>
        <p:txBody>
          <a:bodyPr wrap="square" lIns="0" tIns="0" rIns="0" bIns="0" rtlCol="0" anchor="t"/>
          <a:lstStyle/>
          <a:p>
            <a:pPr marL="0" indent="0">
              <a:buNone/>
            </a:pPr>
            <a:r>
              <a:rPr lang="en-US" sz="1050" dirty="0">
                <a:solidFill>
                  <a:srgbClr val="2C2C2C"/>
                </a:solidFill>
                <a:latin typeface="Aptos" pitchFamily="34" charset="0"/>
                <a:ea typeface="Aptos" pitchFamily="34" charset="-122"/>
                <a:cs typeface="Aptos" pitchFamily="34" charset="-120"/>
              </a:rPr>
              <a:t>Premiumise Dunnes without making it feel exclusive.</a:t>
            </a:r>
            <a:endParaRPr lang="en-US" sz="1050" dirty="0"/>
          </a:p>
        </p:txBody>
      </p:sp>
      <p:sp>
        <p:nvSpPr>
          <p:cNvPr id="16" name="Shape 14"/>
          <p:cNvSpPr/>
          <p:nvPr/>
        </p:nvSpPr>
        <p:spPr>
          <a:xfrm>
            <a:off x="7818120" y="2606040"/>
            <a:ext cx="3502152" cy="1024128"/>
          </a:xfrm>
          <a:prstGeom prst="roundRect">
            <a:avLst>
              <a:gd name="adj" fmla="val 7143"/>
            </a:avLst>
          </a:prstGeom>
          <a:solidFill>
            <a:srgbClr val="FBF8F1"/>
          </a:solidFill>
          <a:ln w="12700">
            <a:solidFill>
              <a:srgbClr val="D8CDBA"/>
            </a:solidFill>
            <a:prstDash val="solid"/>
          </a:ln>
        </p:spPr>
        <p:txBody>
          <a:bodyPr/>
          <a:lstStyle/>
          <a:p>
            <a:endParaRPr lang="en-US"/>
          </a:p>
        </p:txBody>
      </p:sp>
      <p:sp>
        <p:nvSpPr>
          <p:cNvPr id="17" name="Text 15"/>
          <p:cNvSpPr/>
          <p:nvPr/>
        </p:nvSpPr>
        <p:spPr>
          <a:xfrm>
            <a:off x="7982712" y="2743200"/>
            <a:ext cx="3172968"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Campaign objective 2</a:t>
            </a:r>
            <a:endParaRPr lang="en-US" sz="1300" dirty="0"/>
          </a:p>
        </p:txBody>
      </p:sp>
      <p:sp>
        <p:nvSpPr>
          <p:cNvPr id="18" name="Text 16"/>
          <p:cNvSpPr/>
          <p:nvPr/>
        </p:nvSpPr>
        <p:spPr>
          <a:xfrm>
            <a:off x="7982712" y="3017520"/>
            <a:ext cx="3172968" cy="493776"/>
          </a:xfrm>
          <a:prstGeom prst="rect">
            <a:avLst/>
          </a:prstGeom>
          <a:noFill/>
          <a:ln/>
        </p:spPr>
        <p:txBody>
          <a:bodyPr wrap="square" lIns="0" tIns="0" rIns="0" bIns="0" rtlCol="0" anchor="t"/>
          <a:lstStyle/>
          <a:p>
            <a:pPr marL="0" indent="0">
              <a:buNone/>
            </a:pPr>
            <a:r>
              <a:rPr lang="en-US" sz="1050" dirty="0">
                <a:solidFill>
                  <a:srgbClr val="2C2C2C"/>
                </a:solidFill>
                <a:latin typeface="Aptos" pitchFamily="34" charset="0"/>
                <a:ea typeface="Aptos" pitchFamily="34" charset="-122"/>
                <a:cs typeface="Aptos" pitchFamily="34" charset="-120"/>
              </a:rPr>
              <a:t>Increase cross-category consideration: food + fashion + home.</a:t>
            </a:r>
            <a:endParaRPr lang="en-US" sz="1050" dirty="0"/>
          </a:p>
        </p:txBody>
      </p:sp>
      <p:sp>
        <p:nvSpPr>
          <p:cNvPr id="19" name="Shape 17"/>
          <p:cNvSpPr/>
          <p:nvPr/>
        </p:nvSpPr>
        <p:spPr>
          <a:xfrm>
            <a:off x="7818120" y="3794760"/>
            <a:ext cx="3502152" cy="1024128"/>
          </a:xfrm>
          <a:prstGeom prst="roundRect">
            <a:avLst>
              <a:gd name="adj" fmla="val 7143"/>
            </a:avLst>
          </a:prstGeom>
          <a:solidFill>
            <a:srgbClr val="FBF8F1"/>
          </a:solidFill>
          <a:ln w="12700">
            <a:solidFill>
              <a:srgbClr val="D8CDBA"/>
            </a:solidFill>
            <a:prstDash val="solid"/>
          </a:ln>
        </p:spPr>
        <p:txBody>
          <a:bodyPr/>
          <a:lstStyle/>
          <a:p>
            <a:endParaRPr lang="en-US"/>
          </a:p>
        </p:txBody>
      </p:sp>
      <p:sp>
        <p:nvSpPr>
          <p:cNvPr id="20" name="Text 18"/>
          <p:cNvSpPr/>
          <p:nvPr/>
        </p:nvSpPr>
        <p:spPr>
          <a:xfrm>
            <a:off x="7982712" y="3931920"/>
            <a:ext cx="3172968"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Campaign objective 3</a:t>
            </a:r>
            <a:endParaRPr lang="en-US" sz="1300" dirty="0"/>
          </a:p>
        </p:txBody>
      </p:sp>
      <p:sp>
        <p:nvSpPr>
          <p:cNvPr id="21" name="Text 19"/>
          <p:cNvSpPr/>
          <p:nvPr/>
        </p:nvSpPr>
        <p:spPr>
          <a:xfrm>
            <a:off x="7982712" y="4206240"/>
            <a:ext cx="3172968" cy="493776"/>
          </a:xfrm>
          <a:prstGeom prst="rect">
            <a:avLst/>
          </a:prstGeom>
          <a:noFill/>
          <a:ln/>
        </p:spPr>
        <p:txBody>
          <a:bodyPr wrap="square" lIns="0" tIns="0" rIns="0" bIns="0" rtlCol="0" anchor="t"/>
          <a:lstStyle/>
          <a:p>
            <a:pPr marL="0" indent="0">
              <a:buNone/>
            </a:pPr>
            <a:r>
              <a:rPr lang="en-US" sz="1050" dirty="0">
                <a:solidFill>
                  <a:srgbClr val="2C2C2C"/>
                </a:solidFill>
                <a:latin typeface="Aptos" pitchFamily="34" charset="0"/>
                <a:ea typeface="Aptos" pitchFamily="34" charset="-122"/>
                <a:cs typeface="Aptos" pitchFamily="34" charset="-120"/>
              </a:rPr>
              <a:t>Turn owned touchpoints — bag, app, QR and VALUEclub — into brand media.</a:t>
            </a:r>
            <a:endParaRPr lang="en-US" sz="1050" dirty="0"/>
          </a:p>
        </p:txBody>
      </p:sp>
      <p:sp>
        <p:nvSpPr>
          <p:cNvPr id="22" name="Shape 20"/>
          <p:cNvSpPr/>
          <p:nvPr/>
        </p:nvSpPr>
        <p:spPr>
          <a:xfrm>
            <a:off x="7818120" y="4983480"/>
            <a:ext cx="3502152" cy="1024128"/>
          </a:xfrm>
          <a:prstGeom prst="roundRect">
            <a:avLst>
              <a:gd name="adj" fmla="val 7143"/>
            </a:avLst>
          </a:prstGeom>
          <a:solidFill>
            <a:srgbClr val="FBF8F1"/>
          </a:solidFill>
          <a:ln w="12700">
            <a:solidFill>
              <a:srgbClr val="D8CDBA"/>
            </a:solidFill>
            <a:prstDash val="solid"/>
          </a:ln>
        </p:spPr>
        <p:txBody>
          <a:bodyPr/>
          <a:lstStyle/>
          <a:p>
            <a:endParaRPr lang="en-US"/>
          </a:p>
        </p:txBody>
      </p:sp>
      <p:sp>
        <p:nvSpPr>
          <p:cNvPr id="23" name="Text 21"/>
          <p:cNvSpPr/>
          <p:nvPr/>
        </p:nvSpPr>
        <p:spPr>
          <a:xfrm>
            <a:off x="7982712" y="5120640"/>
            <a:ext cx="3172968"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Campaign objective 4</a:t>
            </a:r>
            <a:endParaRPr lang="en-US" sz="1300" dirty="0"/>
          </a:p>
        </p:txBody>
      </p:sp>
      <p:sp>
        <p:nvSpPr>
          <p:cNvPr id="24" name="Text 22"/>
          <p:cNvSpPr/>
          <p:nvPr/>
        </p:nvSpPr>
        <p:spPr>
          <a:xfrm>
            <a:off x="7982712" y="5394960"/>
            <a:ext cx="3172968" cy="493776"/>
          </a:xfrm>
          <a:prstGeom prst="rect">
            <a:avLst/>
          </a:prstGeom>
          <a:noFill/>
          <a:ln/>
        </p:spPr>
        <p:txBody>
          <a:bodyPr wrap="square" lIns="0" tIns="0" rIns="0" bIns="0" rtlCol="0" anchor="t"/>
          <a:lstStyle/>
          <a:p>
            <a:pPr marL="0" indent="0">
              <a:buNone/>
            </a:pPr>
            <a:r>
              <a:rPr lang="en-US" sz="1050" dirty="0">
                <a:solidFill>
                  <a:srgbClr val="2C2C2C"/>
                </a:solidFill>
                <a:latin typeface="Aptos" pitchFamily="34" charset="0"/>
                <a:ea typeface="Aptos" pitchFamily="34" charset="-122"/>
                <a:cs typeface="Aptos" pitchFamily="34" charset="-120"/>
              </a:rPr>
              <a:t>Make Dunnes easier to remember, share and talk about online.</a:t>
            </a:r>
            <a:endParaRPr lang="en-US" sz="1050" dirty="0"/>
          </a:p>
        </p:txBody>
      </p:sp>
      <p:sp>
        <p:nvSpPr>
          <p:cNvPr id="25" name="Text 23"/>
          <p:cNvSpPr/>
          <p:nvPr/>
        </p:nvSpPr>
        <p:spPr>
          <a:xfrm>
            <a:off x="868680" y="5715000"/>
            <a:ext cx="6583680" cy="274320"/>
          </a:xfrm>
          <a:prstGeom prst="rect">
            <a:avLst/>
          </a:prstGeom>
          <a:noFill/>
          <a:ln/>
        </p:spPr>
        <p:txBody>
          <a:bodyPr wrap="square" rtlCol="0" anchor="ctr"/>
          <a:lstStyle/>
          <a:p>
            <a:pPr marL="0" indent="0">
              <a:buNone/>
            </a:pPr>
            <a:r>
              <a:rPr lang="en-US" sz="1700" i="1" dirty="0">
                <a:solidFill>
                  <a:srgbClr val="113E36"/>
                </a:solidFill>
                <a:latin typeface="Georgia" pitchFamily="34" charset="0"/>
                <a:ea typeface="Georgia" pitchFamily="34" charset="-122"/>
                <a:cs typeface="Georgia" pitchFamily="34" charset="-120"/>
              </a:rPr>
              <a:t>In short: this campaign is designed to make Dunnes feel more desirable without losing the value credentials that already drive traffic.</a:t>
            </a:r>
            <a:endParaRPr lang="en-US" sz="1700" dirty="0"/>
          </a:p>
        </p:txBody>
      </p:sp>
      <p:sp>
        <p:nvSpPr>
          <p:cNvPr id="26" name="Slide Number Placeholder 0"/>
          <p:cNvSpPr>
            <a:spLocks noGrp="1"/>
          </p:cNvSpPr>
          <p:nvPr>
            <p:ph type="sldNum" sz="quarter" idx="4294967295"/>
          </p:nvPr>
        </p:nvSpPr>
        <p:spPr>
          <a:xfrm>
            <a:off x="11658600" y="109728"/>
            <a:ext cx="32004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7D746A"/>
                </a:solidFill>
                <a:latin typeface="Aptos"/>
                <a:ea typeface="Aptos"/>
                <a:cs typeface="Aptos"/>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nvSpPr>
        <p:spPr>
          <a:xfrm>
            <a:off x="914400" y="310896"/>
            <a:ext cx="2286000" cy="164592"/>
          </a:xfrm>
          <a:prstGeom prst="rect">
            <a:avLst/>
          </a:prstGeom>
          <a:noFill/>
          <a:ln/>
        </p:spPr>
        <p:txBody>
          <a:bodyPr wrap="square" rtlCol="0" anchor="ctr"/>
          <a:lstStyle/>
          <a:p>
            <a:pPr marL="0" indent="0">
              <a:buNone/>
            </a:pPr>
            <a:r>
              <a:rPr lang="en-US" sz="900" b="1" dirty="0">
                <a:solidFill>
                  <a:srgbClr val="C96E4D"/>
                </a:solidFill>
                <a:latin typeface="Aptos" pitchFamily="34" charset="0"/>
                <a:ea typeface="Aptos" pitchFamily="34" charset="-122"/>
                <a:cs typeface="Aptos" pitchFamily="34" charset="-120"/>
              </a:rPr>
              <a:t>PACKAGING REDESIGN</a:t>
            </a:r>
            <a:endParaRPr lang="en-US" sz="900" dirty="0"/>
          </a:p>
        </p:txBody>
      </p:sp>
      <p:sp>
        <p:nvSpPr>
          <p:cNvPr id="4" name="Text 2"/>
          <p:cNvSpPr/>
          <p:nvPr/>
        </p:nvSpPr>
        <p:spPr>
          <a:xfrm>
            <a:off x="868680" y="530352"/>
            <a:ext cx="10424160" cy="502920"/>
          </a:xfrm>
          <a:prstGeom prst="rect">
            <a:avLst/>
          </a:prstGeom>
          <a:noFill/>
          <a:ln/>
        </p:spPr>
        <p:txBody>
          <a:bodyPr wrap="square" rtlCol="0" anchor="ctr"/>
          <a:lstStyle/>
          <a:p>
            <a:pPr marL="0" indent="0">
              <a:buNone/>
            </a:pPr>
            <a:r>
              <a:rPr lang="en-US" sz="2400" b="1" dirty="0">
                <a:solidFill>
                  <a:srgbClr val="113E36"/>
                </a:solidFill>
                <a:latin typeface="Georgia" pitchFamily="34" charset="0"/>
                <a:ea typeface="Georgia" pitchFamily="34" charset="-122"/>
                <a:cs typeface="Georgia" pitchFamily="34" charset="-120"/>
              </a:rPr>
              <a:t>Move the carry bag from utility to meaning</a:t>
            </a:r>
            <a:endParaRPr lang="en-US" sz="2400" dirty="0"/>
          </a:p>
        </p:txBody>
      </p:sp>
      <p:sp>
        <p:nvSpPr>
          <p:cNvPr id="5" name="Shape 3"/>
          <p:cNvSpPr/>
          <p:nvPr/>
        </p:nvSpPr>
        <p:spPr>
          <a:xfrm>
            <a:off x="868680" y="1078992"/>
            <a:ext cx="10698480" cy="0"/>
          </a:xfrm>
          <a:prstGeom prst="line">
            <a:avLst/>
          </a:prstGeom>
          <a:noFill/>
          <a:ln w="12700">
            <a:solidFill>
              <a:srgbClr val="D8CDBA"/>
            </a:solidFill>
            <a:prstDash val="solid"/>
          </a:ln>
        </p:spPr>
        <p:txBody>
          <a:bodyPr/>
          <a:lstStyle/>
          <a:p>
            <a:endParaRPr lang="en-US"/>
          </a:p>
        </p:txBody>
      </p:sp>
      <p:pic>
        <p:nvPicPr>
          <p:cNvPr id="6" name="Image 0" descr="/mnt/data/dunnes_assets/packaging_slide.png"/>
          <p:cNvPicPr>
            <a:picLocks noChangeAspect="1"/>
          </p:cNvPicPr>
          <p:nvPr/>
        </p:nvPicPr>
        <p:blipFill>
          <a:blip r:embed="rId3"/>
          <a:stretch>
            <a:fillRect/>
          </a:stretch>
        </p:blipFill>
        <p:spPr>
          <a:xfrm>
            <a:off x="822960" y="1721570"/>
            <a:ext cx="6492240" cy="4283540"/>
          </a:xfrm>
          <a:prstGeom prst="rect">
            <a:avLst/>
          </a:prstGeom>
        </p:spPr>
      </p:pic>
      <p:sp>
        <p:nvSpPr>
          <p:cNvPr id="7" name="Shape 4"/>
          <p:cNvSpPr/>
          <p:nvPr/>
        </p:nvSpPr>
        <p:spPr>
          <a:xfrm>
            <a:off x="7635240" y="1481328"/>
            <a:ext cx="3611880" cy="914400"/>
          </a:xfrm>
          <a:prstGeom prst="roundRect">
            <a:avLst>
              <a:gd name="adj" fmla="val 8000"/>
            </a:avLst>
          </a:prstGeom>
          <a:solidFill>
            <a:srgbClr val="FBF8F1"/>
          </a:solidFill>
          <a:ln w="12700">
            <a:solidFill>
              <a:srgbClr val="D8CDBA"/>
            </a:solidFill>
            <a:prstDash val="solid"/>
          </a:ln>
        </p:spPr>
        <p:txBody>
          <a:bodyPr/>
          <a:lstStyle/>
          <a:p>
            <a:endParaRPr lang="en-US"/>
          </a:p>
        </p:txBody>
      </p:sp>
      <p:sp>
        <p:nvSpPr>
          <p:cNvPr id="8" name="Text 5"/>
          <p:cNvSpPr/>
          <p:nvPr/>
        </p:nvSpPr>
        <p:spPr>
          <a:xfrm>
            <a:off x="7799832" y="1618488"/>
            <a:ext cx="3282696"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Before → after</a:t>
            </a:r>
            <a:endParaRPr lang="en-US" sz="1300" dirty="0"/>
          </a:p>
        </p:txBody>
      </p:sp>
      <p:sp>
        <p:nvSpPr>
          <p:cNvPr id="9" name="Text 6"/>
          <p:cNvSpPr/>
          <p:nvPr/>
        </p:nvSpPr>
        <p:spPr>
          <a:xfrm>
            <a:off x="7799832" y="1892808"/>
            <a:ext cx="3282696" cy="384048"/>
          </a:xfrm>
          <a:prstGeom prst="rect">
            <a:avLst/>
          </a:prstGeom>
          <a:noFill/>
          <a:ln/>
        </p:spPr>
        <p:txBody>
          <a:bodyPr wrap="square" lIns="0" tIns="0" rIns="0" bIns="0" rtlCol="0" anchor="t"/>
          <a:lstStyle/>
          <a:p>
            <a:pPr marL="0" indent="0">
              <a:buNone/>
            </a:pPr>
            <a:r>
              <a:rPr lang="en-US" sz="1050" dirty="0">
                <a:solidFill>
                  <a:srgbClr val="2C2C2C"/>
                </a:solidFill>
                <a:latin typeface="Aptos" pitchFamily="34" charset="0"/>
                <a:ea typeface="Aptos" pitchFamily="34" charset="-122"/>
                <a:cs typeface="Aptos" pitchFamily="34" charset="-120"/>
              </a:rPr>
              <a:t>Before: a functional supermarket bag. After: a campaign-carrying brand object that expresses food, home, value and care.</a:t>
            </a:r>
            <a:endParaRPr lang="en-US" sz="1050" dirty="0"/>
          </a:p>
        </p:txBody>
      </p:sp>
      <p:sp>
        <p:nvSpPr>
          <p:cNvPr id="10" name="Shape 7"/>
          <p:cNvSpPr/>
          <p:nvPr/>
        </p:nvSpPr>
        <p:spPr>
          <a:xfrm>
            <a:off x="7635240" y="2596896"/>
            <a:ext cx="3611880" cy="841248"/>
          </a:xfrm>
          <a:prstGeom prst="roundRect">
            <a:avLst>
              <a:gd name="adj" fmla="val 8696"/>
            </a:avLst>
          </a:prstGeom>
          <a:solidFill>
            <a:srgbClr val="FBF8F1"/>
          </a:solidFill>
          <a:ln w="12700">
            <a:solidFill>
              <a:srgbClr val="D8CDBA"/>
            </a:solidFill>
            <a:prstDash val="solid"/>
          </a:ln>
        </p:spPr>
        <p:txBody>
          <a:bodyPr/>
          <a:lstStyle/>
          <a:p>
            <a:endParaRPr lang="en-US"/>
          </a:p>
        </p:txBody>
      </p:sp>
      <p:sp>
        <p:nvSpPr>
          <p:cNvPr id="11" name="Text 8"/>
          <p:cNvSpPr/>
          <p:nvPr/>
        </p:nvSpPr>
        <p:spPr>
          <a:xfrm>
            <a:off x="7799832" y="2734056"/>
            <a:ext cx="3282696"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01  Cream kraft finish</a:t>
            </a:r>
            <a:endParaRPr lang="en-US" sz="1300" dirty="0"/>
          </a:p>
        </p:txBody>
      </p:sp>
      <p:sp>
        <p:nvSpPr>
          <p:cNvPr id="12" name="Text 9"/>
          <p:cNvSpPr/>
          <p:nvPr/>
        </p:nvSpPr>
        <p:spPr>
          <a:xfrm>
            <a:off x="7799832" y="3008376"/>
            <a:ext cx="3282696" cy="310896"/>
          </a:xfrm>
          <a:prstGeom prst="rect">
            <a:avLst/>
          </a:prstGeom>
          <a:noFill/>
          <a:ln/>
        </p:spPr>
        <p:txBody>
          <a:bodyPr wrap="square" lIns="0" tIns="0" rIns="0" bIns="0" rtlCol="0" anchor="t"/>
          <a:lstStyle/>
          <a:p>
            <a:pPr marL="0" indent="0">
              <a:buNone/>
            </a:pPr>
            <a:r>
              <a:rPr lang="en-US" sz="1050" dirty="0">
                <a:solidFill>
                  <a:srgbClr val="2C2C2C"/>
                </a:solidFill>
                <a:latin typeface="Aptos" pitchFamily="34" charset="0"/>
                <a:ea typeface="Aptos" pitchFamily="34" charset="-122"/>
                <a:cs typeface="Aptos" pitchFamily="34" charset="-120"/>
              </a:rPr>
              <a:t>Warmer, more premium and more reusable than a plain logo-first bag.</a:t>
            </a:r>
            <a:endParaRPr lang="en-US" sz="1050" dirty="0"/>
          </a:p>
        </p:txBody>
      </p:sp>
      <p:sp>
        <p:nvSpPr>
          <p:cNvPr id="13" name="Shape 10"/>
          <p:cNvSpPr/>
          <p:nvPr/>
        </p:nvSpPr>
        <p:spPr>
          <a:xfrm>
            <a:off x="7635240" y="3584448"/>
            <a:ext cx="3611880" cy="841248"/>
          </a:xfrm>
          <a:prstGeom prst="roundRect">
            <a:avLst>
              <a:gd name="adj" fmla="val 8696"/>
            </a:avLst>
          </a:prstGeom>
          <a:solidFill>
            <a:srgbClr val="FBF8F1"/>
          </a:solidFill>
          <a:ln w="12700">
            <a:solidFill>
              <a:srgbClr val="D8CDBA"/>
            </a:solidFill>
            <a:prstDash val="solid"/>
          </a:ln>
        </p:spPr>
        <p:txBody>
          <a:bodyPr/>
          <a:lstStyle/>
          <a:p>
            <a:endParaRPr lang="en-US"/>
          </a:p>
        </p:txBody>
      </p:sp>
      <p:sp>
        <p:nvSpPr>
          <p:cNvPr id="14" name="Text 11"/>
          <p:cNvSpPr/>
          <p:nvPr/>
        </p:nvSpPr>
        <p:spPr>
          <a:xfrm>
            <a:off x="7799832" y="3721608"/>
            <a:ext cx="3282696"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02  Illustrated produce frame</a:t>
            </a:r>
            <a:endParaRPr lang="en-US" sz="1300" dirty="0"/>
          </a:p>
        </p:txBody>
      </p:sp>
      <p:sp>
        <p:nvSpPr>
          <p:cNvPr id="15" name="Text 12"/>
          <p:cNvSpPr/>
          <p:nvPr/>
        </p:nvSpPr>
        <p:spPr>
          <a:xfrm>
            <a:off x="7799832" y="3995928"/>
            <a:ext cx="3282696" cy="310896"/>
          </a:xfrm>
          <a:prstGeom prst="rect">
            <a:avLst/>
          </a:prstGeom>
          <a:noFill/>
          <a:ln/>
        </p:spPr>
        <p:txBody>
          <a:bodyPr wrap="square" lIns="0" tIns="0" rIns="0" bIns="0" rtlCol="0" anchor="t"/>
          <a:lstStyle/>
          <a:p>
            <a:pPr marL="0" indent="0">
              <a:buNone/>
            </a:pPr>
            <a:r>
              <a:rPr lang="en-US" sz="1050" dirty="0">
                <a:solidFill>
                  <a:srgbClr val="2C2C2C"/>
                </a:solidFill>
                <a:latin typeface="Aptos" pitchFamily="34" charset="0"/>
                <a:ea typeface="Aptos" pitchFamily="34" charset="-122"/>
                <a:cs typeface="Aptos" pitchFamily="34" charset="-120"/>
              </a:rPr>
              <a:t>Makes freshness and abundance visible; turns the bag into a mini-poster for the brand.</a:t>
            </a:r>
            <a:endParaRPr lang="en-US" sz="1050" dirty="0"/>
          </a:p>
        </p:txBody>
      </p:sp>
      <p:sp>
        <p:nvSpPr>
          <p:cNvPr id="16" name="Shape 13"/>
          <p:cNvSpPr/>
          <p:nvPr/>
        </p:nvSpPr>
        <p:spPr>
          <a:xfrm>
            <a:off x="7635240" y="4572000"/>
            <a:ext cx="3611880" cy="841248"/>
          </a:xfrm>
          <a:prstGeom prst="roundRect">
            <a:avLst>
              <a:gd name="adj" fmla="val 8696"/>
            </a:avLst>
          </a:prstGeom>
          <a:solidFill>
            <a:srgbClr val="FBF8F1"/>
          </a:solidFill>
          <a:ln w="12700">
            <a:solidFill>
              <a:srgbClr val="D8CDBA"/>
            </a:solidFill>
            <a:prstDash val="solid"/>
          </a:ln>
        </p:spPr>
        <p:txBody>
          <a:bodyPr/>
          <a:lstStyle/>
          <a:p>
            <a:endParaRPr lang="en-US"/>
          </a:p>
        </p:txBody>
      </p:sp>
      <p:sp>
        <p:nvSpPr>
          <p:cNvPr id="17" name="Text 14"/>
          <p:cNvSpPr/>
          <p:nvPr/>
        </p:nvSpPr>
        <p:spPr>
          <a:xfrm>
            <a:off x="7799832" y="4709160"/>
            <a:ext cx="3282696"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03  QR + side story</a:t>
            </a:r>
            <a:endParaRPr lang="en-US" sz="1300" dirty="0"/>
          </a:p>
        </p:txBody>
      </p:sp>
      <p:sp>
        <p:nvSpPr>
          <p:cNvPr id="18" name="Text 15"/>
          <p:cNvSpPr/>
          <p:nvPr/>
        </p:nvSpPr>
        <p:spPr>
          <a:xfrm>
            <a:off x="7799832" y="4983480"/>
            <a:ext cx="3282696" cy="310896"/>
          </a:xfrm>
          <a:prstGeom prst="rect">
            <a:avLst/>
          </a:prstGeom>
          <a:noFill/>
          <a:ln/>
        </p:spPr>
        <p:txBody>
          <a:bodyPr wrap="square" lIns="0" tIns="0" rIns="0" bIns="0" rtlCol="0" anchor="t"/>
          <a:lstStyle/>
          <a:p>
            <a:pPr marL="0" indent="0">
              <a:buNone/>
            </a:pPr>
            <a:r>
              <a:rPr lang="en-US" sz="1050" dirty="0">
                <a:solidFill>
                  <a:srgbClr val="2C2C2C"/>
                </a:solidFill>
                <a:latin typeface="Aptos" pitchFamily="34" charset="0"/>
                <a:ea typeface="Aptos" pitchFamily="34" charset="-122"/>
                <a:cs typeface="Aptos" pitchFamily="34" charset="-120"/>
              </a:rPr>
              <a:t>Lets the bag drive measurable traffic into recipes, “what to buy this week”, VALUEclub and seasonal edits.</a:t>
            </a:r>
            <a:endParaRPr lang="en-US" sz="1050" dirty="0"/>
          </a:p>
        </p:txBody>
      </p:sp>
      <p:sp>
        <p:nvSpPr>
          <p:cNvPr id="19" name="Text 16"/>
          <p:cNvSpPr/>
          <p:nvPr/>
        </p:nvSpPr>
        <p:spPr>
          <a:xfrm>
            <a:off x="7635240" y="5486400"/>
            <a:ext cx="2011680" cy="201168"/>
          </a:xfrm>
          <a:prstGeom prst="rect">
            <a:avLst/>
          </a:prstGeom>
          <a:noFill/>
          <a:ln/>
        </p:spPr>
        <p:txBody>
          <a:bodyPr wrap="square" rtlCol="0" anchor="ctr"/>
          <a:lstStyle/>
          <a:p>
            <a:pPr marL="0" indent="0">
              <a:buNone/>
            </a:pPr>
            <a:r>
              <a:rPr lang="en-US" sz="1200" b="1" dirty="0">
                <a:solidFill>
                  <a:srgbClr val="113E36"/>
                </a:solidFill>
                <a:latin typeface="Aptos" pitchFamily="34" charset="0"/>
                <a:ea typeface="Aptos" pitchFamily="34" charset="-122"/>
                <a:cs typeface="Aptos" pitchFamily="34" charset="-120"/>
              </a:rPr>
              <a:t>What each cue means</a:t>
            </a:r>
            <a:endParaRPr lang="en-US" sz="1200" dirty="0"/>
          </a:p>
        </p:txBody>
      </p:sp>
      <p:sp>
        <p:nvSpPr>
          <p:cNvPr id="20" name="Text 17"/>
          <p:cNvSpPr/>
          <p:nvPr/>
        </p:nvSpPr>
        <p:spPr>
          <a:xfrm>
            <a:off x="7635240" y="5742432"/>
            <a:ext cx="3474720" cy="822960"/>
          </a:xfrm>
          <a:prstGeom prst="rect">
            <a:avLst/>
          </a:prstGeom>
          <a:noFill/>
          <a:ln/>
        </p:spPr>
        <p:txBody>
          <a:bodyPr wrap="square" lIns="0" tIns="0" rIns="0" bIns="0" rtlCol="0" anchor="t"/>
          <a:lstStyle/>
          <a:p>
            <a:pPr marL="0" indent="0">
              <a:buNone/>
            </a:pPr>
            <a:r>
              <a:rPr lang="en-US" sz="1020" b="1" dirty="0">
                <a:solidFill>
                  <a:srgbClr val="113E36"/>
                </a:solidFill>
                <a:latin typeface="Aptos" pitchFamily="34" charset="0"/>
                <a:ea typeface="Aptos" pitchFamily="34" charset="-122"/>
                <a:cs typeface="Aptos" pitchFamily="34" charset="-120"/>
              </a:rPr>
              <a:t>• </a:t>
            </a:r>
            <a:r>
              <a:rPr lang="en-US" sz="1020" dirty="0">
                <a:solidFill>
                  <a:srgbClr val="2C2C2C"/>
                </a:solidFill>
                <a:latin typeface="Aptos" pitchFamily="34" charset="0"/>
                <a:ea typeface="Aptos" pitchFamily="34" charset="-122"/>
                <a:cs typeface="Aptos" pitchFamily="34" charset="-120"/>
              </a:rPr>
              <a:t>Green handles = recognisable Dunnes ownership
</a:t>
            </a:r>
            <a:r>
              <a:rPr lang="en-US" sz="1020" b="1" dirty="0">
                <a:solidFill>
                  <a:srgbClr val="113E36"/>
                </a:solidFill>
                <a:latin typeface="Aptos" pitchFamily="34" charset="0"/>
                <a:ea typeface="Aptos" pitchFamily="34" charset="-122"/>
                <a:cs typeface="Aptos" pitchFamily="34" charset="-120"/>
              </a:rPr>
              <a:t>• </a:t>
            </a:r>
            <a:r>
              <a:rPr lang="en-US" sz="1020" dirty="0">
                <a:solidFill>
                  <a:srgbClr val="2C2C2C"/>
                </a:solidFill>
                <a:latin typeface="Aptos" pitchFamily="34" charset="0"/>
                <a:ea typeface="Aptos" pitchFamily="34" charset="-122"/>
                <a:cs typeface="Aptos" pitchFamily="34" charset="-120"/>
              </a:rPr>
              <a:t>Fruit-and-floral ring = life, care, home, freshness
</a:t>
            </a:r>
            <a:r>
              <a:rPr lang="en-US" sz="1020" b="1" dirty="0">
                <a:solidFill>
                  <a:srgbClr val="113E36"/>
                </a:solidFill>
                <a:latin typeface="Aptos" pitchFamily="34" charset="0"/>
                <a:ea typeface="Aptos" pitchFamily="34" charset="-122"/>
                <a:cs typeface="Aptos" pitchFamily="34" charset="-120"/>
              </a:rPr>
              <a:t>• </a:t>
            </a:r>
            <a:r>
              <a:rPr lang="en-US" sz="1020" dirty="0">
                <a:solidFill>
                  <a:srgbClr val="2C2C2C"/>
                </a:solidFill>
                <a:latin typeface="Aptos" pitchFamily="34" charset="0"/>
                <a:ea typeface="Aptos" pitchFamily="34" charset="-122"/>
                <a:cs typeface="Aptos" pitchFamily="34" charset="-120"/>
              </a:rPr>
              <a:t>“Worth Bringing Home” line = the whole campaign in one sentence
</a:t>
            </a:r>
            <a:r>
              <a:rPr lang="en-US" sz="1020" b="1" dirty="0">
                <a:solidFill>
                  <a:srgbClr val="113E36"/>
                </a:solidFill>
                <a:latin typeface="Aptos" pitchFamily="34" charset="0"/>
                <a:ea typeface="Aptos" pitchFamily="34" charset="-122"/>
                <a:cs typeface="Aptos" pitchFamily="34" charset="-120"/>
              </a:rPr>
              <a:t>• </a:t>
            </a:r>
            <a:r>
              <a:rPr lang="en-US" sz="1020" dirty="0">
                <a:solidFill>
                  <a:srgbClr val="2C2C2C"/>
                </a:solidFill>
                <a:latin typeface="Aptos" pitchFamily="34" charset="0"/>
                <a:ea typeface="Aptos" pitchFamily="34" charset="-122"/>
                <a:cs typeface="Aptos" pitchFamily="34" charset="-120"/>
              </a:rPr>
              <a:t>QR = from packaging to measurable media</a:t>
            </a:r>
            <a:endParaRPr lang="en-US" sz="1020" dirty="0"/>
          </a:p>
        </p:txBody>
      </p:sp>
      <p:sp>
        <p:nvSpPr>
          <p:cNvPr id="25" name="Slide Number Placeholder 0"/>
          <p:cNvSpPr>
            <a:spLocks noGrp="1"/>
          </p:cNvSpPr>
          <p:nvPr>
            <p:ph type="sldNum" sz="quarter" idx="4294967295"/>
          </p:nvPr>
        </p:nvSpPr>
        <p:spPr>
          <a:xfrm>
            <a:off x="11658600" y="109728"/>
            <a:ext cx="32004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7D746A"/>
                </a:solidFill>
                <a:latin typeface="Aptos"/>
                <a:ea typeface="Aptos"/>
                <a:cs typeface="Aptos"/>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nvSpPr>
        <p:spPr>
          <a:xfrm>
            <a:off x="914400" y="310896"/>
            <a:ext cx="2286000" cy="164592"/>
          </a:xfrm>
          <a:prstGeom prst="rect">
            <a:avLst/>
          </a:prstGeom>
          <a:noFill/>
          <a:ln/>
        </p:spPr>
        <p:txBody>
          <a:bodyPr wrap="square" rtlCol="0" anchor="ctr"/>
          <a:lstStyle/>
          <a:p>
            <a:pPr marL="0" indent="0">
              <a:buNone/>
            </a:pPr>
            <a:r>
              <a:rPr lang="en-US" sz="900" b="1" dirty="0">
                <a:solidFill>
                  <a:srgbClr val="C96E4D"/>
                </a:solidFill>
                <a:latin typeface="Aptos" pitchFamily="34" charset="0"/>
                <a:ea typeface="Aptos" pitchFamily="34" charset="-122"/>
                <a:cs typeface="Aptos" pitchFamily="34" charset="-120"/>
              </a:rPr>
              <a:t>STORE THEATRE + SUSTAINABILITY</a:t>
            </a:r>
            <a:endParaRPr lang="en-US" sz="900" dirty="0"/>
          </a:p>
        </p:txBody>
      </p:sp>
      <p:sp>
        <p:nvSpPr>
          <p:cNvPr id="4" name="Text 2"/>
          <p:cNvSpPr/>
          <p:nvPr/>
        </p:nvSpPr>
        <p:spPr>
          <a:xfrm>
            <a:off x="868680" y="530352"/>
            <a:ext cx="10424160" cy="502920"/>
          </a:xfrm>
          <a:prstGeom prst="rect">
            <a:avLst/>
          </a:prstGeom>
          <a:noFill/>
          <a:ln/>
        </p:spPr>
        <p:txBody>
          <a:bodyPr wrap="square" rtlCol="0" anchor="ctr"/>
          <a:lstStyle/>
          <a:p>
            <a:pPr marL="0" indent="0">
              <a:buNone/>
            </a:pPr>
            <a:r>
              <a:rPr lang="en-US" sz="2400" b="1" dirty="0">
                <a:solidFill>
                  <a:srgbClr val="113E36"/>
                </a:solidFill>
                <a:latin typeface="Georgia" pitchFamily="34" charset="0"/>
                <a:ea typeface="Georgia" pitchFamily="34" charset="-122"/>
                <a:cs typeface="Georgia" pitchFamily="34" charset="-120"/>
              </a:rPr>
              <a:t>Give the campaign proof points people can actually touch</a:t>
            </a:r>
            <a:endParaRPr lang="en-US" sz="2400" dirty="0"/>
          </a:p>
        </p:txBody>
      </p:sp>
      <p:sp>
        <p:nvSpPr>
          <p:cNvPr id="5" name="Shape 3"/>
          <p:cNvSpPr/>
          <p:nvPr/>
        </p:nvSpPr>
        <p:spPr>
          <a:xfrm>
            <a:off x="868680" y="1078992"/>
            <a:ext cx="10698480" cy="0"/>
          </a:xfrm>
          <a:prstGeom prst="line">
            <a:avLst/>
          </a:prstGeom>
          <a:noFill/>
          <a:ln w="12700">
            <a:solidFill>
              <a:srgbClr val="D8CDBA"/>
            </a:solidFill>
            <a:prstDash val="solid"/>
          </a:ln>
        </p:spPr>
        <p:txBody>
          <a:bodyPr/>
          <a:lstStyle/>
          <a:p>
            <a:endParaRPr lang="en-US"/>
          </a:p>
        </p:txBody>
      </p:sp>
      <p:sp>
        <p:nvSpPr>
          <p:cNvPr id="6" name="Shape 4"/>
          <p:cNvSpPr/>
          <p:nvPr/>
        </p:nvSpPr>
        <p:spPr>
          <a:xfrm>
            <a:off x="868680" y="1417320"/>
            <a:ext cx="3401568" cy="4251960"/>
          </a:xfrm>
          <a:prstGeom prst="roundRect">
            <a:avLst>
              <a:gd name="adj" fmla="val 2151"/>
            </a:avLst>
          </a:prstGeom>
          <a:solidFill>
            <a:srgbClr val="FBF8F1"/>
          </a:solidFill>
          <a:ln w="12700">
            <a:solidFill>
              <a:srgbClr val="D8CDBA"/>
            </a:solidFill>
            <a:prstDash val="solid"/>
          </a:ln>
          <a:effectLst>
            <a:outerShdw blurRad="19050" dist="12700" dir="2700000" algn="bl" rotWithShape="0">
              <a:srgbClr val="000000">
                <a:alpha val="12000"/>
              </a:srgbClr>
            </a:outerShdw>
          </a:effectLst>
        </p:spPr>
        <p:txBody>
          <a:bodyPr/>
          <a:lstStyle/>
          <a:p>
            <a:endParaRPr lang="en-US"/>
          </a:p>
        </p:txBody>
      </p:sp>
      <p:sp>
        <p:nvSpPr>
          <p:cNvPr id="7" name="Text 5"/>
          <p:cNvSpPr/>
          <p:nvPr/>
        </p:nvSpPr>
        <p:spPr>
          <a:xfrm>
            <a:off x="1033272" y="1554480"/>
            <a:ext cx="3072384"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01  Fresh orange juice theatre</a:t>
            </a:r>
            <a:endParaRPr lang="en-US" sz="1300" dirty="0"/>
          </a:p>
        </p:txBody>
      </p:sp>
      <p:sp>
        <p:nvSpPr>
          <p:cNvPr id="8" name="Text 6"/>
          <p:cNvSpPr/>
          <p:nvPr/>
        </p:nvSpPr>
        <p:spPr>
          <a:xfrm>
            <a:off x="1033272" y="1828800"/>
            <a:ext cx="3072384" cy="3721608"/>
          </a:xfrm>
          <a:prstGeom prst="rect">
            <a:avLst/>
          </a:prstGeom>
          <a:noFill/>
          <a:ln/>
        </p:spPr>
        <p:txBody>
          <a:bodyPr wrap="square" lIns="0" tIns="0" rIns="0" bIns="0" rtlCol="0" anchor="t"/>
          <a:lstStyle/>
          <a:p>
            <a:pPr marL="0" indent="0">
              <a:buNone/>
            </a:pPr>
            <a:r>
              <a:rPr lang="en-US" sz="1100" dirty="0">
                <a:solidFill>
                  <a:srgbClr val="2C2C2C"/>
                </a:solidFill>
                <a:latin typeface="Aptos" pitchFamily="34" charset="0"/>
                <a:ea typeface="Aptos" pitchFamily="34" charset="-122"/>
                <a:cs typeface="Aptos" pitchFamily="34" charset="-120"/>
              </a:rPr>
              <a:t>Create a morning / lunch-time freshness moment under the line “Worth the Squeeze”. Hero Baxter &amp; Greene freshly squeezed orange juice with a compact service zone, sampling bursts and content-friendly visual theatre. This gives the campaign a sensory cue — fresh, visible and immediate.</a:t>
            </a:r>
            <a:endParaRPr lang="en-US" sz="1100" dirty="0"/>
          </a:p>
        </p:txBody>
      </p:sp>
      <p:sp>
        <p:nvSpPr>
          <p:cNvPr id="9" name="Shape 7"/>
          <p:cNvSpPr/>
          <p:nvPr/>
        </p:nvSpPr>
        <p:spPr>
          <a:xfrm>
            <a:off x="4389120" y="1417320"/>
            <a:ext cx="3401568" cy="4251960"/>
          </a:xfrm>
          <a:prstGeom prst="roundRect">
            <a:avLst>
              <a:gd name="adj" fmla="val 2151"/>
            </a:avLst>
          </a:prstGeom>
          <a:solidFill>
            <a:srgbClr val="FBF8F1"/>
          </a:solidFill>
          <a:ln w="12700">
            <a:solidFill>
              <a:srgbClr val="D8CDBA"/>
            </a:solidFill>
            <a:prstDash val="solid"/>
          </a:ln>
          <a:effectLst>
            <a:outerShdw blurRad="19050" dist="12700" dir="2700000" algn="bl" rotWithShape="0">
              <a:srgbClr val="000000">
                <a:alpha val="12000"/>
              </a:srgbClr>
            </a:outerShdw>
          </a:effectLst>
        </p:spPr>
        <p:txBody>
          <a:bodyPr/>
          <a:lstStyle/>
          <a:p>
            <a:endParaRPr lang="en-US"/>
          </a:p>
        </p:txBody>
      </p:sp>
      <p:sp>
        <p:nvSpPr>
          <p:cNvPr id="10" name="Text 8"/>
          <p:cNvSpPr/>
          <p:nvPr/>
        </p:nvSpPr>
        <p:spPr>
          <a:xfrm>
            <a:off x="4553712" y="1554480"/>
            <a:ext cx="3072384"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02  Re-turn as “Worth Bringing Back”</a:t>
            </a:r>
            <a:endParaRPr lang="en-US" sz="1300" dirty="0"/>
          </a:p>
        </p:txBody>
      </p:sp>
      <p:sp>
        <p:nvSpPr>
          <p:cNvPr id="11" name="Text 9"/>
          <p:cNvSpPr/>
          <p:nvPr/>
        </p:nvSpPr>
        <p:spPr>
          <a:xfrm>
            <a:off x="4553712" y="1828800"/>
            <a:ext cx="3072384" cy="3721608"/>
          </a:xfrm>
          <a:prstGeom prst="rect">
            <a:avLst/>
          </a:prstGeom>
          <a:noFill/>
          <a:ln/>
        </p:spPr>
        <p:txBody>
          <a:bodyPr wrap="square" lIns="0" tIns="0" rIns="0" bIns="0" rtlCol="0" anchor="t"/>
          <a:lstStyle/>
          <a:p>
            <a:pPr marL="0" indent="0">
              <a:buNone/>
            </a:pPr>
            <a:r>
              <a:rPr lang="en-US" sz="1100" dirty="0">
                <a:solidFill>
                  <a:srgbClr val="2C2C2C"/>
                </a:solidFill>
                <a:latin typeface="Aptos" pitchFamily="34" charset="0"/>
                <a:ea typeface="Aptos" pitchFamily="34" charset="-122"/>
                <a:cs typeface="Aptos" pitchFamily="34" charset="-120"/>
              </a:rPr>
              <a:t>Use reverse-vending areas and deposit-return touchpoints to show Dunnes as practical and responsible. Add simple signage such as “Worth bringing back” or “Bring it back. Bring the value full circle.” The goal is not to overclaim sustainability; it is to make a helpful existing behaviour feel more branded.</a:t>
            </a:r>
            <a:endParaRPr lang="en-US" sz="1100" dirty="0"/>
          </a:p>
        </p:txBody>
      </p:sp>
      <p:sp>
        <p:nvSpPr>
          <p:cNvPr id="12" name="Shape 10"/>
          <p:cNvSpPr/>
          <p:nvPr/>
        </p:nvSpPr>
        <p:spPr>
          <a:xfrm>
            <a:off x="7909560" y="1417320"/>
            <a:ext cx="3401568" cy="4251960"/>
          </a:xfrm>
          <a:prstGeom prst="roundRect">
            <a:avLst>
              <a:gd name="adj" fmla="val 2151"/>
            </a:avLst>
          </a:prstGeom>
          <a:solidFill>
            <a:srgbClr val="FBF8F1"/>
          </a:solidFill>
          <a:ln w="12700">
            <a:solidFill>
              <a:srgbClr val="D8CDBA"/>
            </a:solidFill>
            <a:prstDash val="solid"/>
          </a:ln>
          <a:effectLst>
            <a:outerShdw blurRad="19050" dist="12700" dir="2700000" algn="bl" rotWithShape="0">
              <a:srgbClr val="000000">
                <a:alpha val="12000"/>
              </a:srgbClr>
            </a:outerShdw>
          </a:effectLst>
        </p:spPr>
        <p:txBody>
          <a:bodyPr/>
          <a:lstStyle/>
          <a:p>
            <a:endParaRPr lang="en-US"/>
          </a:p>
        </p:txBody>
      </p:sp>
      <p:sp>
        <p:nvSpPr>
          <p:cNvPr id="13" name="Text 11"/>
          <p:cNvSpPr/>
          <p:nvPr/>
        </p:nvSpPr>
        <p:spPr>
          <a:xfrm>
            <a:off x="8074152" y="1554480"/>
            <a:ext cx="3072384"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03  Bag + checkout as owned media</a:t>
            </a:r>
            <a:endParaRPr lang="en-US" sz="1300" dirty="0"/>
          </a:p>
        </p:txBody>
      </p:sp>
      <p:sp>
        <p:nvSpPr>
          <p:cNvPr id="14" name="Text 12"/>
          <p:cNvSpPr/>
          <p:nvPr/>
        </p:nvSpPr>
        <p:spPr>
          <a:xfrm>
            <a:off x="8074152" y="1828800"/>
            <a:ext cx="3072384" cy="3721608"/>
          </a:xfrm>
          <a:prstGeom prst="rect">
            <a:avLst/>
          </a:prstGeom>
          <a:noFill/>
          <a:ln/>
        </p:spPr>
        <p:txBody>
          <a:bodyPr wrap="square" lIns="0" tIns="0" rIns="0" bIns="0" rtlCol="0" anchor="t"/>
          <a:lstStyle/>
          <a:p>
            <a:pPr marL="0" indent="0">
              <a:buNone/>
            </a:pPr>
            <a:r>
              <a:rPr lang="en-US" sz="1100" dirty="0">
                <a:solidFill>
                  <a:srgbClr val="2C2C2C"/>
                </a:solidFill>
                <a:latin typeface="Aptos" pitchFamily="34" charset="0"/>
                <a:ea typeface="Aptos" pitchFamily="34" charset="-122"/>
                <a:cs typeface="Aptos" pitchFamily="34" charset="-120"/>
              </a:rPr>
              <a:t>The bag becomes a walking campaign asset. The till, receipt and app then complete the loop with prompts into weekly recipes, edits, VALUEclub offers and QR-driven content. This is how the idea keeps living after the shop is over.</a:t>
            </a:r>
            <a:endParaRPr lang="en-US" sz="1100" dirty="0"/>
          </a:p>
        </p:txBody>
      </p:sp>
      <p:sp>
        <p:nvSpPr>
          <p:cNvPr id="15" name="Shape 13"/>
          <p:cNvSpPr/>
          <p:nvPr/>
        </p:nvSpPr>
        <p:spPr>
          <a:xfrm>
            <a:off x="1097280" y="5440680"/>
            <a:ext cx="1783080" cy="292608"/>
          </a:xfrm>
          <a:prstGeom prst="roundRect">
            <a:avLst>
              <a:gd name="adj" fmla="val 28125"/>
            </a:avLst>
          </a:prstGeom>
          <a:solidFill>
            <a:srgbClr val="B48C52"/>
          </a:solidFill>
          <a:ln w="12700">
            <a:solidFill>
              <a:srgbClr val="B48C52"/>
            </a:solidFill>
            <a:prstDash val="solid"/>
          </a:ln>
        </p:spPr>
        <p:txBody>
          <a:bodyPr/>
          <a:lstStyle/>
          <a:p>
            <a:endParaRPr lang="en-US"/>
          </a:p>
        </p:txBody>
      </p:sp>
      <p:sp>
        <p:nvSpPr>
          <p:cNvPr id="16" name="Text 14"/>
          <p:cNvSpPr/>
          <p:nvPr/>
        </p:nvSpPr>
        <p:spPr>
          <a:xfrm>
            <a:off x="1097280" y="5500116"/>
            <a:ext cx="1783080" cy="164592"/>
          </a:xfrm>
          <a:prstGeom prst="rect">
            <a:avLst/>
          </a:prstGeom>
          <a:noFill/>
          <a:ln/>
        </p:spPr>
        <p:txBody>
          <a:bodyPr wrap="square" rtlCol="0" anchor="ctr"/>
          <a:lstStyle/>
          <a:p>
            <a:pPr marL="0" indent="0" algn="ctr">
              <a:buNone/>
            </a:pPr>
            <a:r>
              <a:rPr lang="en-US" sz="1000" b="1" dirty="0">
                <a:solidFill>
                  <a:srgbClr val="2C2C2C"/>
                </a:solidFill>
                <a:latin typeface="Aptos" pitchFamily="34" charset="0"/>
                <a:ea typeface="Aptos" pitchFamily="34" charset="-122"/>
                <a:cs typeface="Aptos" pitchFamily="34" charset="-120"/>
              </a:rPr>
              <a:t>Proposed activation</a:t>
            </a:r>
            <a:endParaRPr lang="en-US" sz="1000" dirty="0"/>
          </a:p>
        </p:txBody>
      </p:sp>
      <p:sp>
        <p:nvSpPr>
          <p:cNvPr id="17" name="Shape 15"/>
          <p:cNvSpPr/>
          <p:nvPr/>
        </p:nvSpPr>
        <p:spPr>
          <a:xfrm>
            <a:off x="4663440" y="5440680"/>
            <a:ext cx="1874520" cy="292608"/>
          </a:xfrm>
          <a:prstGeom prst="roundRect">
            <a:avLst>
              <a:gd name="adj" fmla="val 28125"/>
            </a:avLst>
          </a:prstGeom>
          <a:solidFill>
            <a:srgbClr val="113E36"/>
          </a:solidFill>
          <a:ln w="12700">
            <a:solidFill>
              <a:srgbClr val="113E36"/>
            </a:solidFill>
            <a:prstDash val="solid"/>
          </a:ln>
        </p:spPr>
        <p:txBody>
          <a:bodyPr/>
          <a:lstStyle/>
          <a:p>
            <a:endParaRPr lang="en-US"/>
          </a:p>
        </p:txBody>
      </p:sp>
      <p:sp>
        <p:nvSpPr>
          <p:cNvPr id="18" name="Text 16"/>
          <p:cNvSpPr/>
          <p:nvPr/>
        </p:nvSpPr>
        <p:spPr>
          <a:xfrm>
            <a:off x="4663440" y="5500116"/>
            <a:ext cx="1874520" cy="164592"/>
          </a:xfrm>
          <a:prstGeom prst="rect">
            <a:avLst/>
          </a:prstGeom>
          <a:noFill/>
          <a:ln/>
        </p:spPr>
        <p:txBody>
          <a:bodyPr wrap="square"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Existing behaviour, rebranded</a:t>
            </a:r>
            <a:endParaRPr lang="en-US" sz="1000" dirty="0"/>
          </a:p>
        </p:txBody>
      </p:sp>
      <p:sp>
        <p:nvSpPr>
          <p:cNvPr id="19" name="Shape 17"/>
          <p:cNvSpPr/>
          <p:nvPr/>
        </p:nvSpPr>
        <p:spPr>
          <a:xfrm>
            <a:off x="8229600" y="5440680"/>
            <a:ext cx="1783080" cy="292608"/>
          </a:xfrm>
          <a:prstGeom prst="roundRect">
            <a:avLst>
              <a:gd name="adj" fmla="val 28125"/>
            </a:avLst>
          </a:prstGeom>
          <a:solidFill>
            <a:srgbClr val="C96E4D"/>
          </a:solidFill>
          <a:ln w="12700">
            <a:solidFill>
              <a:srgbClr val="C96E4D"/>
            </a:solidFill>
            <a:prstDash val="solid"/>
          </a:ln>
        </p:spPr>
        <p:txBody>
          <a:bodyPr/>
          <a:lstStyle/>
          <a:p>
            <a:endParaRPr lang="en-US"/>
          </a:p>
        </p:txBody>
      </p:sp>
      <p:sp>
        <p:nvSpPr>
          <p:cNvPr id="20" name="Text 18"/>
          <p:cNvSpPr/>
          <p:nvPr/>
        </p:nvSpPr>
        <p:spPr>
          <a:xfrm>
            <a:off x="8229600" y="5500116"/>
            <a:ext cx="1783080" cy="164592"/>
          </a:xfrm>
          <a:prstGeom prst="rect">
            <a:avLst/>
          </a:prstGeom>
          <a:noFill/>
          <a:ln/>
        </p:spPr>
        <p:txBody>
          <a:bodyPr wrap="square"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Owned media asset</a:t>
            </a:r>
            <a:endParaRPr lang="en-US" sz="1000" dirty="0"/>
          </a:p>
        </p:txBody>
      </p:sp>
      <p:sp>
        <p:nvSpPr>
          <p:cNvPr id="25" name="Slide Number Placeholder 0"/>
          <p:cNvSpPr>
            <a:spLocks noGrp="1"/>
          </p:cNvSpPr>
          <p:nvPr>
            <p:ph type="sldNum" sz="quarter" idx="4294967295"/>
          </p:nvPr>
        </p:nvSpPr>
        <p:spPr>
          <a:xfrm>
            <a:off x="11658600" y="109728"/>
            <a:ext cx="32004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7D746A"/>
                </a:solidFill>
                <a:latin typeface="Aptos"/>
                <a:ea typeface="Aptos"/>
                <a:cs typeface="Aptos"/>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nvSpPr>
        <p:spPr>
          <a:xfrm>
            <a:off x="914400" y="310896"/>
            <a:ext cx="2286000" cy="164592"/>
          </a:xfrm>
          <a:prstGeom prst="rect">
            <a:avLst/>
          </a:prstGeom>
          <a:noFill/>
          <a:ln/>
        </p:spPr>
        <p:txBody>
          <a:bodyPr wrap="square" rtlCol="0" anchor="ctr"/>
          <a:lstStyle/>
          <a:p>
            <a:pPr marL="0" indent="0">
              <a:buNone/>
            </a:pPr>
            <a:r>
              <a:rPr lang="en-US" sz="900" b="1" dirty="0">
                <a:solidFill>
                  <a:srgbClr val="C96E4D"/>
                </a:solidFill>
                <a:latin typeface="Aptos" pitchFamily="34" charset="0"/>
                <a:ea typeface="Aptos" pitchFamily="34" charset="-122"/>
                <a:cs typeface="Aptos" pitchFamily="34" charset="-120"/>
              </a:rPr>
              <a:t>MEDIA ARCHITECTURE</a:t>
            </a:r>
            <a:endParaRPr lang="en-US" sz="900" dirty="0"/>
          </a:p>
        </p:txBody>
      </p:sp>
      <p:sp>
        <p:nvSpPr>
          <p:cNvPr id="4" name="Text 2"/>
          <p:cNvSpPr/>
          <p:nvPr/>
        </p:nvSpPr>
        <p:spPr>
          <a:xfrm>
            <a:off x="868680" y="530352"/>
            <a:ext cx="10424160" cy="502920"/>
          </a:xfrm>
          <a:prstGeom prst="rect">
            <a:avLst/>
          </a:prstGeom>
          <a:noFill/>
          <a:ln/>
        </p:spPr>
        <p:txBody>
          <a:bodyPr wrap="square" rtlCol="0" anchor="ctr"/>
          <a:lstStyle/>
          <a:p>
            <a:pPr marL="0" indent="0">
              <a:buNone/>
            </a:pPr>
            <a:r>
              <a:rPr lang="en-US" sz="2400" b="1" dirty="0">
                <a:solidFill>
                  <a:srgbClr val="113E36"/>
                </a:solidFill>
                <a:latin typeface="Georgia" pitchFamily="34" charset="0"/>
                <a:ea typeface="Georgia" pitchFamily="34" charset="-122"/>
                <a:cs typeface="Georgia" pitchFamily="34" charset="-120"/>
              </a:rPr>
              <a:t>Use traditional, digital and owned channels differently</a:t>
            </a:r>
            <a:endParaRPr lang="en-US" sz="2400" dirty="0"/>
          </a:p>
        </p:txBody>
      </p:sp>
      <p:sp>
        <p:nvSpPr>
          <p:cNvPr id="5" name="Shape 3"/>
          <p:cNvSpPr/>
          <p:nvPr/>
        </p:nvSpPr>
        <p:spPr>
          <a:xfrm>
            <a:off x="868680" y="1078992"/>
            <a:ext cx="10698480" cy="0"/>
          </a:xfrm>
          <a:prstGeom prst="line">
            <a:avLst/>
          </a:prstGeom>
          <a:noFill/>
          <a:ln w="12700">
            <a:solidFill>
              <a:srgbClr val="D8CDBA"/>
            </a:solidFill>
            <a:prstDash val="solid"/>
          </a:ln>
        </p:spPr>
        <p:txBody>
          <a:bodyPr/>
          <a:lstStyle/>
          <a:p>
            <a:endParaRPr lang="en-US"/>
          </a:p>
        </p:txBody>
      </p:sp>
      <p:sp>
        <p:nvSpPr>
          <p:cNvPr id="6" name="Shape 4"/>
          <p:cNvSpPr/>
          <p:nvPr/>
        </p:nvSpPr>
        <p:spPr>
          <a:xfrm>
            <a:off x="868680" y="1417320"/>
            <a:ext cx="2514600" cy="4069080"/>
          </a:xfrm>
          <a:prstGeom prst="roundRect">
            <a:avLst>
              <a:gd name="adj" fmla="val 2909"/>
            </a:avLst>
          </a:prstGeom>
          <a:solidFill>
            <a:srgbClr val="E7F1EC"/>
          </a:solidFill>
          <a:ln w="12700">
            <a:solidFill>
              <a:srgbClr val="D8CDBA"/>
            </a:solidFill>
            <a:prstDash val="solid"/>
          </a:ln>
          <a:effectLst>
            <a:outerShdw blurRad="19050" dist="12700" dir="2700000" algn="bl" rotWithShape="0">
              <a:srgbClr val="000000">
                <a:alpha val="12000"/>
              </a:srgbClr>
            </a:outerShdw>
          </a:effectLst>
        </p:spPr>
        <p:txBody>
          <a:bodyPr/>
          <a:lstStyle/>
          <a:p>
            <a:endParaRPr lang="en-US"/>
          </a:p>
        </p:txBody>
      </p:sp>
      <p:sp>
        <p:nvSpPr>
          <p:cNvPr id="7" name="Text 5"/>
          <p:cNvSpPr/>
          <p:nvPr/>
        </p:nvSpPr>
        <p:spPr>
          <a:xfrm>
            <a:off x="1033272" y="1554480"/>
            <a:ext cx="2185416"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Awareness</a:t>
            </a:r>
            <a:endParaRPr lang="en-US" sz="1300" dirty="0"/>
          </a:p>
        </p:txBody>
      </p:sp>
      <p:sp>
        <p:nvSpPr>
          <p:cNvPr id="8" name="Text 6"/>
          <p:cNvSpPr/>
          <p:nvPr/>
        </p:nvSpPr>
        <p:spPr>
          <a:xfrm>
            <a:off x="1033272" y="1828800"/>
            <a:ext cx="2185416" cy="3538728"/>
          </a:xfrm>
          <a:prstGeom prst="rect">
            <a:avLst/>
          </a:prstGeom>
          <a:noFill/>
          <a:ln/>
        </p:spPr>
        <p:txBody>
          <a:bodyPr wrap="square" lIns="0" tIns="0" rIns="0" bIns="0" rtlCol="0" anchor="t"/>
          <a:lstStyle/>
          <a:p>
            <a:pPr marL="0" indent="0">
              <a:buNone/>
            </a:pPr>
            <a:endParaRPr lang="en-US" sz="1050" dirty="0"/>
          </a:p>
        </p:txBody>
      </p:sp>
      <p:sp>
        <p:nvSpPr>
          <p:cNvPr id="9" name="Shape 7"/>
          <p:cNvSpPr/>
          <p:nvPr/>
        </p:nvSpPr>
        <p:spPr>
          <a:xfrm>
            <a:off x="3611880" y="1417320"/>
            <a:ext cx="2514600" cy="4069080"/>
          </a:xfrm>
          <a:prstGeom prst="roundRect">
            <a:avLst>
              <a:gd name="adj" fmla="val 2909"/>
            </a:avLst>
          </a:prstGeom>
          <a:solidFill>
            <a:srgbClr val="F8EFE3"/>
          </a:solidFill>
          <a:ln w="12700">
            <a:solidFill>
              <a:srgbClr val="D8CDBA"/>
            </a:solidFill>
            <a:prstDash val="solid"/>
          </a:ln>
          <a:effectLst>
            <a:outerShdw blurRad="19050" dist="12700" dir="2700000" algn="bl" rotWithShape="0">
              <a:srgbClr val="000000">
                <a:alpha val="12000"/>
              </a:srgbClr>
            </a:outerShdw>
          </a:effectLst>
        </p:spPr>
        <p:txBody>
          <a:bodyPr/>
          <a:lstStyle/>
          <a:p>
            <a:endParaRPr lang="en-US"/>
          </a:p>
        </p:txBody>
      </p:sp>
      <p:sp>
        <p:nvSpPr>
          <p:cNvPr id="10" name="Text 8"/>
          <p:cNvSpPr/>
          <p:nvPr/>
        </p:nvSpPr>
        <p:spPr>
          <a:xfrm>
            <a:off x="3776472" y="1554480"/>
            <a:ext cx="2185416"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Consideration</a:t>
            </a:r>
            <a:endParaRPr lang="en-US" sz="1300" dirty="0"/>
          </a:p>
        </p:txBody>
      </p:sp>
      <p:sp>
        <p:nvSpPr>
          <p:cNvPr id="11" name="Text 9"/>
          <p:cNvSpPr/>
          <p:nvPr/>
        </p:nvSpPr>
        <p:spPr>
          <a:xfrm>
            <a:off x="3776472" y="1828800"/>
            <a:ext cx="2185416" cy="3538728"/>
          </a:xfrm>
          <a:prstGeom prst="rect">
            <a:avLst/>
          </a:prstGeom>
          <a:noFill/>
          <a:ln/>
        </p:spPr>
        <p:txBody>
          <a:bodyPr wrap="square" lIns="0" tIns="0" rIns="0" bIns="0" rtlCol="0" anchor="t"/>
          <a:lstStyle/>
          <a:p>
            <a:pPr marL="0" indent="0">
              <a:buNone/>
            </a:pPr>
            <a:endParaRPr lang="en-US" sz="1050" dirty="0"/>
          </a:p>
        </p:txBody>
      </p:sp>
      <p:sp>
        <p:nvSpPr>
          <p:cNvPr id="12" name="Shape 10"/>
          <p:cNvSpPr/>
          <p:nvPr/>
        </p:nvSpPr>
        <p:spPr>
          <a:xfrm>
            <a:off x="6355080" y="1417320"/>
            <a:ext cx="2514600" cy="4069080"/>
          </a:xfrm>
          <a:prstGeom prst="roundRect">
            <a:avLst>
              <a:gd name="adj" fmla="val 2909"/>
            </a:avLst>
          </a:prstGeom>
          <a:solidFill>
            <a:srgbClr val="F8E7E3"/>
          </a:solidFill>
          <a:ln w="12700">
            <a:solidFill>
              <a:srgbClr val="D8CDBA"/>
            </a:solidFill>
            <a:prstDash val="solid"/>
          </a:ln>
          <a:effectLst>
            <a:outerShdw blurRad="19050" dist="12700" dir="2700000" algn="bl" rotWithShape="0">
              <a:srgbClr val="000000">
                <a:alpha val="12000"/>
              </a:srgbClr>
            </a:outerShdw>
          </a:effectLst>
        </p:spPr>
        <p:txBody>
          <a:bodyPr/>
          <a:lstStyle/>
          <a:p>
            <a:endParaRPr lang="en-US"/>
          </a:p>
        </p:txBody>
      </p:sp>
      <p:sp>
        <p:nvSpPr>
          <p:cNvPr id="13" name="Text 11"/>
          <p:cNvSpPr/>
          <p:nvPr/>
        </p:nvSpPr>
        <p:spPr>
          <a:xfrm>
            <a:off x="6519672" y="1554480"/>
            <a:ext cx="2185416"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Conversion</a:t>
            </a:r>
            <a:endParaRPr lang="en-US" sz="1300" dirty="0"/>
          </a:p>
        </p:txBody>
      </p:sp>
      <p:sp>
        <p:nvSpPr>
          <p:cNvPr id="14" name="Text 12"/>
          <p:cNvSpPr/>
          <p:nvPr/>
        </p:nvSpPr>
        <p:spPr>
          <a:xfrm>
            <a:off x="6519672" y="1828800"/>
            <a:ext cx="2185416" cy="3538728"/>
          </a:xfrm>
          <a:prstGeom prst="rect">
            <a:avLst/>
          </a:prstGeom>
          <a:noFill/>
          <a:ln/>
        </p:spPr>
        <p:txBody>
          <a:bodyPr wrap="square" lIns="0" tIns="0" rIns="0" bIns="0" rtlCol="0" anchor="t"/>
          <a:lstStyle/>
          <a:p>
            <a:pPr marL="0" indent="0">
              <a:buNone/>
            </a:pPr>
            <a:endParaRPr lang="en-US" sz="1050" dirty="0"/>
          </a:p>
        </p:txBody>
      </p:sp>
      <p:sp>
        <p:nvSpPr>
          <p:cNvPr id="15" name="Shape 13"/>
          <p:cNvSpPr/>
          <p:nvPr/>
        </p:nvSpPr>
        <p:spPr>
          <a:xfrm>
            <a:off x="9098280" y="1417320"/>
            <a:ext cx="2221992" cy="4069080"/>
          </a:xfrm>
          <a:prstGeom prst="roundRect">
            <a:avLst>
              <a:gd name="adj" fmla="val 3292"/>
            </a:avLst>
          </a:prstGeom>
          <a:solidFill>
            <a:srgbClr val="EEF3F6"/>
          </a:solidFill>
          <a:ln w="12700">
            <a:solidFill>
              <a:srgbClr val="D8CDBA"/>
            </a:solidFill>
            <a:prstDash val="solid"/>
          </a:ln>
          <a:effectLst>
            <a:outerShdw blurRad="19050" dist="12700" dir="2700000" algn="bl" rotWithShape="0">
              <a:srgbClr val="000000">
                <a:alpha val="12000"/>
              </a:srgbClr>
            </a:outerShdw>
          </a:effectLst>
        </p:spPr>
        <p:txBody>
          <a:bodyPr/>
          <a:lstStyle/>
          <a:p>
            <a:endParaRPr lang="en-US"/>
          </a:p>
        </p:txBody>
      </p:sp>
      <p:sp>
        <p:nvSpPr>
          <p:cNvPr id="16" name="Text 14"/>
          <p:cNvSpPr/>
          <p:nvPr/>
        </p:nvSpPr>
        <p:spPr>
          <a:xfrm>
            <a:off x="9262872" y="1554480"/>
            <a:ext cx="1892808"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Loyalty</a:t>
            </a:r>
            <a:endParaRPr lang="en-US" sz="1300" dirty="0"/>
          </a:p>
        </p:txBody>
      </p:sp>
      <p:sp>
        <p:nvSpPr>
          <p:cNvPr id="17" name="Text 15"/>
          <p:cNvSpPr/>
          <p:nvPr/>
        </p:nvSpPr>
        <p:spPr>
          <a:xfrm>
            <a:off x="9262872" y="1828800"/>
            <a:ext cx="1892808" cy="3538728"/>
          </a:xfrm>
          <a:prstGeom prst="rect">
            <a:avLst/>
          </a:prstGeom>
          <a:noFill/>
          <a:ln/>
        </p:spPr>
        <p:txBody>
          <a:bodyPr wrap="square" lIns="0" tIns="0" rIns="0" bIns="0" rtlCol="0" anchor="t"/>
          <a:lstStyle/>
          <a:p>
            <a:pPr marL="0" indent="0">
              <a:buNone/>
            </a:pPr>
            <a:endParaRPr lang="en-US" sz="1050" dirty="0"/>
          </a:p>
        </p:txBody>
      </p:sp>
      <p:sp>
        <p:nvSpPr>
          <p:cNvPr id="18" name="Text 16"/>
          <p:cNvSpPr/>
          <p:nvPr/>
        </p:nvSpPr>
        <p:spPr>
          <a:xfrm>
            <a:off x="1078992" y="1828800"/>
            <a:ext cx="2103120" cy="1737360"/>
          </a:xfrm>
          <a:prstGeom prst="rect">
            <a:avLst/>
          </a:prstGeom>
          <a:noFill/>
          <a:ln/>
        </p:spPr>
        <p:txBody>
          <a:bodyPr wrap="square" lIns="0" tIns="0" rIns="0" bIns="0" rtlCol="0" anchor="t"/>
          <a:lstStyle/>
          <a:p>
            <a:pPr marL="0" indent="0">
              <a:buNone/>
            </a:pPr>
            <a:r>
              <a:rPr lang="en-US" sz="1080" b="1" dirty="0">
                <a:solidFill>
                  <a:srgbClr val="113E36"/>
                </a:solidFill>
                <a:latin typeface="Aptos" pitchFamily="34" charset="0"/>
                <a:ea typeface="Aptos" pitchFamily="34" charset="-122"/>
                <a:cs typeface="Aptos" pitchFamily="34" charset="-120"/>
              </a:rPr>
              <a:t>• </a:t>
            </a:r>
            <a:r>
              <a:rPr lang="en-US" sz="1080" dirty="0">
                <a:solidFill>
                  <a:srgbClr val="2C2C2C"/>
                </a:solidFill>
                <a:latin typeface="Aptos" pitchFamily="34" charset="0"/>
                <a:ea typeface="Aptos" pitchFamily="34" charset="-122"/>
                <a:cs typeface="Aptos" pitchFamily="34" charset="-120"/>
              </a:rPr>
              <a:t>OOH near stores and commuter routes
</a:t>
            </a:r>
            <a:r>
              <a:rPr lang="en-US" sz="1080" b="1" dirty="0">
                <a:solidFill>
                  <a:srgbClr val="113E36"/>
                </a:solidFill>
                <a:latin typeface="Aptos" pitchFamily="34" charset="0"/>
                <a:ea typeface="Aptos" pitchFamily="34" charset="-122"/>
                <a:cs typeface="Aptos" pitchFamily="34" charset="-120"/>
              </a:rPr>
              <a:t>• </a:t>
            </a:r>
            <a:r>
              <a:rPr lang="en-US" sz="1080" dirty="0">
                <a:solidFill>
                  <a:srgbClr val="2C2C2C"/>
                </a:solidFill>
                <a:latin typeface="Aptos" pitchFamily="34" charset="0"/>
                <a:ea typeface="Aptos" pitchFamily="34" charset="-122"/>
                <a:cs typeface="Aptos" pitchFamily="34" charset="-120"/>
              </a:rPr>
              <a:t>6s / 15s YouTube video cutdowns
</a:t>
            </a:r>
            <a:r>
              <a:rPr lang="en-US" sz="1080" b="1" dirty="0">
                <a:solidFill>
                  <a:srgbClr val="113E36"/>
                </a:solidFill>
                <a:latin typeface="Aptos" pitchFamily="34" charset="0"/>
                <a:ea typeface="Aptos" pitchFamily="34" charset="-122"/>
                <a:cs typeface="Aptos" pitchFamily="34" charset="-120"/>
              </a:rPr>
              <a:t>• </a:t>
            </a:r>
            <a:r>
              <a:rPr lang="en-US" sz="1080" dirty="0">
                <a:solidFill>
                  <a:srgbClr val="2C2C2C"/>
                </a:solidFill>
                <a:latin typeface="Aptos" pitchFamily="34" charset="0"/>
                <a:ea typeface="Aptos" pitchFamily="34" charset="-122"/>
                <a:cs typeface="Aptos" pitchFamily="34" charset="-120"/>
              </a:rPr>
              <a:t>Meta reach video and seasonal PR
</a:t>
            </a:r>
            <a:r>
              <a:rPr lang="en-US" sz="1080" b="1" dirty="0">
                <a:solidFill>
                  <a:srgbClr val="113E36"/>
                </a:solidFill>
                <a:latin typeface="Aptos" pitchFamily="34" charset="0"/>
                <a:ea typeface="Aptos" pitchFamily="34" charset="-122"/>
                <a:cs typeface="Aptos" pitchFamily="34" charset="-120"/>
              </a:rPr>
              <a:t>• </a:t>
            </a:r>
            <a:r>
              <a:rPr lang="en-US" sz="1080" dirty="0">
                <a:solidFill>
                  <a:srgbClr val="2C2C2C"/>
                </a:solidFill>
                <a:latin typeface="Aptos" pitchFamily="34" charset="0"/>
                <a:ea typeface="Aptos" pitchFamily="34" charset="-122"/>
                <a:cs typeface="Aptos" pitchFamily="34" charset="-120"/>
              </a:rPr>
              <a:t>Short radio bursts around food occasions</a:t>
            </a:r>
            <a:endParaRPr lang="en-US" sz="1080" dirty="0"/>
          </a:p>
        </p:txBody>
      </p:sp>
      <p:sp>
        <p:nvSpPr>
          <p:cNvPr id="19" name="Text 17"/>
          <p:cNvSpPr/>
          <p:nvPr/>
        </p:nvSpPr>
        <p:spPr>
          <a:xfrm>
            <a:off x="3822192" y="1828800"/>
            <a:ext cx="2103120" cy="1737360"/>
          </a:xfrm>
          <a:prstGeom prst="rect">
            <a:avLst/>
          </a:prstGeom>
          <a:noFill/>
          <a:ln/>
        </p:spPr>
        <p:txBody>
          <a:bodyPr wrap="square" lIns="0" tIns="0" rIns="0" bIns="0" rtlCol="0" anchor="t"/>
          <a:lstStyle/>
          <a:p>
            <a:pPr marL="0" indent="0">
              <a:buNone/>
            </a:pPr>
            <a:r>
              <a:rPr lang="en-US" sz="1080" b="1" dirty="0">
                <a:solidFill>
                  <a:srgbClr val="113E36"/>
                </a:solidFill>
                <a:latin typeface="Aptos" pitchFamily="34" charset="0"/>
                <a:ea typeface="Aptos" pitchFamily="34" charset="-122"/>
                <a:cs typeface="Aptos" pitchFamily="34" charset="-120"/>
              </a:rPr>
              <a:t>• </a:t>
            </a:r>
            <a:r>
              <a:rPr lang="en-US" sz="1080" dirty="0">
                <a:solidFill>
                  <a:srgbClr val="2C2C2C"/>
                </a:solidFill>
                <a:latin typeface="Aptos" pitchFamily="34" charset="0"/>
                <a:ea typeface="Aptos" pitchFamily="34" charset="-122"/>
                <a:cs typeface="Aptos" pitchFamily="34" charset="-120"/>
              </a:rPr>
              <a:t>Instagram Reels + carousels
</a:t>
            </a:r>
            <a:r>
              <a:rPr lang="en-US" sz="1080" b="1" dirty="0">
                <a:solidFill>
                  <a:srgbClr val="113E36"/>
                </a:solidFill>
                <a:latin typeface="Aptos" pitchFamily="34" charset="0"/>
                <a:ea typeface="Aptos" pitchFamily="34" charset="-122"/>
                <a:cs typeface="Aptos" pitchFamily="34" charset="-120"/>
              </a:rPr>
              <a:t>• </a:t>
            </a:r>
            <a:r>
              <a:rPr lang="en-US" sz="1080" dirty="0">
                <a:solidFill>
                  <a:srgbClr val="2C2C2C"/>
                </a:solidFill>
                <a:latin typeface="Aptos" pitchFamily="34" charset="0"/>
                <a:ea typeface="Aptos" pitchFamily="34" charset="-122"/>
                <a:cs typeface="Aptos" pitchFamily="34" charset="-120"/>
              </a:rPr>
              <a:t>TikTok creator “worth bringing home” edits
</a:t>
            </a:r>
            <a:r>
              <a:rPr lang="en-US" sz="1080" b="1" dirty="0">
                <a:solidFill>
                  <a:srgbClr val="113E36"/>
                </a:solidFill>
                <a:latin typeface="Aptos" pitchFamily="34" charset="0"/>
                <a:ea typeface="Aptos" pitchFamily="34" charset="-122"/>
                <a:cs typeface="Aptos" pitchFamily="34" charset="-120"/>
              </a:rPr>
              <a:t>• </a:t>
            </a:r>
            <a:r>
              <a:rPr lang="en-US" sz="1080" dirty="0">
                <a:solidFill>
                  <a:srgbClr val="2C2C2C"/>
                </a:solidFill>
                <a:latin typeface="Aptos" pitchFamily="34" charset="0"/>
                <a:ea typeface="Aptos" pitchFamily="34" charset="-122"/>
                <a:cs typeface="Aptos" pitchFamily="34" charset="-120"/>
              </a:rPr>
              <a:t>Boosted best-performing organic posts
</a:t>
            </a:r>
            <a:r>
              <a:rPr lang="en-US" sz="1080" b="1" dirty="0">
                <a:solidFill>
                  <a:srgbClr val="113E36"/>
                </a:solidFill>
                <a:latin typeface="Aptos" pitchFamily="34" charset="0"/>
                <a:ea typeface="Aptos" pitchFamily="34" charset="-122"/>
                <a:cs typeface="Aptos" pitchFamily="34" charset="-120"/>
              </a:rPr>
              <a:t>• </a:t>
            </a:r>
            <a:r>
              <a:rPr lang="en-US" sz="1080" dirty="0">
                <a:solidFill>
                  <a:srgbClr val="2C2C2C"/>
                </a:solidFill>
                <a:latin typeface="Aptos" pitchFamily="34" charset="0"/>
                <a:ea typeface="Aptos" pitchFamily="34" charset="-122"/>
                <a:cs typeface="Aptos" pitchFamily="34" charset="-120"/>
              </a:rPr>
              <a:t>Press / creator seeding around seasonal drops</a:t>
            </a:r>
            <a:endParaRPr lang="en-US" sz="1080" dirty="0"/>
          </a:p>
        </p:txBody>
      </p:sp>
      <p:sp>
        <p:nvSpPr>
          <p:cNvPr id="20" name="Text 18"/>
          <p:cNvSpPr/>
          <p:nvPr/>
        </p:nvSpPr>
        <p:spPr>
          <a:xfrm>
            <a:off x="6565392" y="1828800"/>
            <a:ext cx="2103120" cy="1737360"/>
          </a:xfrm>
          <a:prstGeom prst="rect">
            <a:avLst/>
          </a:prstGeom>
          <a:noFill/>
          <a:ln/>
        </p:spPr>
        <p:txBody>
          <a:bodyPr wrap="square" lIns="0" tIns="0" rIns="0" bIns="0" rtlCol="0" anchor="t"/>
          <a:lstStyle/>
          <a:p>
            <a:pPr marL="0" indent="0">
              <a:buNone/>
            </a:pPr>
            <a:r>
              <a:rPr lang="en-US" sz="1080" b="1" dirty="0">
                <a:solidFill>
                  <a:srgbClr val="113E36"/>
                </a:solidFill>
                <a:latin typeface="Aptos" pitchFamily="34" charset="0"/>
                <a:ea typeface="Aptos" pitchFamily="34" charset="-122"/>
                <a:cs typeface="Aptos" pitchFamily="34" charset="-120"/>
              </a:rPr>
              <a:t>• </a:t>
            </a:r>
            <a:r>
              <a:rPr lang="en-US" sz="1080" dirty="0">
                <a:solidFill>
                  <a:srgbClr val="2C2C2C"/>
                </a:solidFill>
                <a:latin typeface="Aptos" pitchFamily="34" charset="0"/>
                <a:ea typeface="Aptos" pitchFamily="34" charset="-122"/>
                <a:cs typeface="Aptos" pitchFamily="34" charset="-120"/>
              </a:rPr>
              <a:t>Search + retargeting to campaign landing pages
</a:t>
            </a:r>
            <a:r>
              <a:rPr lang="en-US" sz="1080" b="1" dirty="0">
                <a:solidFill>
                  <a:srgbClr val="113E36"/>
                </a:solidFill>
                <a:latin typeface="Aptos" pitchFamily="34" charset="0"/>
                <a:ea typeface="Aptos" pitchFamily="34" charset="-122"/>
                <a:cs typeface="Aptos" pitchFamily="34" charset="-120"/>
              </a:rPr>
              <a:t>• </a:t>
            </a:r>
            <a:r>
              <a:rPr lang="en-US" sz="1080" dirty="0">
                <a:solidFill>
                  <a:srgbClr val="2C2C2C"/>
                </a:solidFill>
                <a:latin typeface="Aptos" pitchFamily="34" charset="0"/>
                <a:ea typeface="Aptos" pitchFamily="34" charset="-122"/>
                <a:cs typeface="Aptos" pitchFamily="34" charset="-120"/>
              </a:rPr>
              <a:t>App push + email to VALUEclub members
</a:t>
            </a:r>
            <a:r>
              <a:rPr lang="en-US" sz="1080" b="1" dirty="0">
                <a:solidFill>
                  <a:srgbClr val="113E36"/>
                </a:solidFill>
                <a:latin typeface="Aptos" pitchFamily="34" charset="0"/>
                <a:ea typeface="Aptos" pitchFamily="34" charset="-122"/>
                <a:cs typeface="Aptos" pitchFamily="34" charset="-120"/>
              </a:rPr>
              <a:t>• </a:t>
            </a:r>
            <a:r>
              <a:rPr lang="en-US" sz="1080" dirty="0">
                <a:solidFill>
                  <a:srgbClr val="2C2C2C"/>
                </a:solidFill>
                <a:latin typeface="Aptos" pitchFamily="34" charset="0"/>
                <a:ea typeface="Aptos" pitchFamily="34" charset="-122"/>
                <a:cs typeface="Aptos" pitchFamily="34" charset="-120"/>
              </a:rPr>
              <a:t>QR on bag / POS / receipt
</a:t>
            </a:r>
            <a:r>
              <a:rPr lang="en-US" sz="1080" b="1" dirty="0">
                <a:solidFill>
                  <a:srgbClr val="113E36"/>
                </a:solidFill>
                <a:latin typeface="Aptos" pitchFamily="34" charset="0"/>
                <a:ea typeface="Aptos" pitchFamily="34" charset="-122"/>
                <a:cs typeface="Aptos" pitchFamily="34" charset="-120"/>
              </a:rPr>
              <a:t>• </a:t>
            </a:r>
            <a:r>
              <a:rPr lang="en-US" sz="1080" dirty="0">
                <a:solidFill>
                  <a:srgbClr val="2C2C2C"/>
                </a:solidFill>
                <a:latin typeface="Aptos" pitchFamily="34" charset="0"/>
                <a:ea typeface="Aptos" pitchFamily="34" charset="-122"/>
                <a:cs typeface="Aptos" pitchFamily="34" charset="-120"/>
              </a:rPr>
              <a:t>Store windows and secondary site displays</a:t>
            </a:r>
            <a:endParaRPr lang="en-US" sz="1080" dirty="0"/>
          </a:p>
        </p:txBody>
      </p:sp>
      <p:sp>
        <p:nvSpPr>
          <p:cNvPr id="21" name="Text 19"/>
          <p:cNvSpPr/>
          <p:nvPr/>
        </p:nvSpPr>
        <p:spPr>
          <a:xfrm>
            <a:off x="9308592" y="1828800"/>
            <a:ext cx="1783080" cy="1737360"/>
          </a:xfrm>
          <a:prstGeom prst="rect">
            <a:avLst/>
          </a:prstGeom>
          <a:noFill/>
          <a:ln/>
        </p:spPr>
        <p:txBody>
          <a:bodyPr wrap="square" lIns="0" tIns="0" rIns="0" bIns="0" rtlCol="0" anchor="t"/>
          <a:lstStyle/>
          <a:p>
            <a:pPr marL="0" indent="0">
              <a:buNone/>
            </a:pPr>
            <a:r>
              <a:rPr lang="en-US" sz="1080" b="1" dirty="0">
                <a:solidFill>
                  <a:srgbClr val="113E36"/>
                </a:solidFill>
                <a:latin typeface="Aptos" pitchFamily="34" charset="0"/>
                <a:ea typeface="Aptos" pitchFamily="34" charset="-122"/>
                <a:cs typeface="Aptos" pitchFamily="34" charset="-120"/>
              </a:rPr>
              <a:t>• </a:t>
            </a:r>
            <a:r>
              <a:rPr lang="en-US" sz="1080" dirty="0">
                <a:solidFill>
                  <a:srgbClr val="2C2C2C"/>
                </a:solidFill>
                <a:latin typeface="Aptos" pitchFamily="34" charset="0"/>
                <a:ea typeface="Aptos" pitchFamily="34" charset="-122"/>
                <a:cs typeface="Aptos" pitchFamily="34" charset="-120"/>
              </a:rPr>
              <a:t>VALUEclub CRM
</a:t>
            </a:r>
            <a:r>
              <a:rPr lang="en-US" sz="1080" b="1" dirty="0">
                <a:solidFill>
                  <a:srgbClr val="113E36"/>
                </a:solidFill>
                <a:latin typeface="Aptos" pitchFamily="34" charset="0"/>
                <a:ea typeface="Aptos" pitchFamily="34" charset="-122"/>
                <a:cs typeface="Aptos" pitchFamily="34" charset="-120"/>
              </a:rPr>
              <a:t>• </a:t>
            </a:r>
            <a:r>
              <a:rPr lang="en-US" sz="1080" dirty="0">
                <a:solidFill>
                  <a:srgbClr val="2C2C2C"/>
                </a:solidFill>
                <a:latin typeface="Aptos" pitchFamily="34" charset="0"/>
                <a:ea typeface="Aptos" pitchFamily="34" charset="-122"/>
                <a:cs typeface="Aptos" pitchFamily="34" charset="-120"/>
              </a:rPr>
              <a:t>UGC + bag shares
</a:t>
            </a:r>
            <a:r>
              <a:rPr lang="en-US" sz="1080" b="1" dirty="0">
                <a:solidFill>
                  <a:srgbClr val="113E36"/>
                </a:solidFill>
                <a:latin typeface="Aptos" pitchFamily="34" charset="0"/>
                <a:ea typeface="Aptos" pitchFamily="34" charset="-122"/>
                <a:cs typeface="Aptos" pitchFamily="34" charset="-120"/>
              </a:rPr>
              <a:t>• </a:t>
            </a:r>
            <a:r>
              <a:rPr lang="en-US" sz="1080" dirty="0">
                <a:solidFill>
                  <a:srgbClr val="2C2C2C"/>
                </a:solidFill>
                <a:latin typeface="Aptos" pitchFamily="34" charset="0"/>
                <a:ea typeface="Aptos" pitchFamily="34" charset="-122"/>
                <a:cs typeface="Aptos" pitchFamily="34" charset="-120"/>
              </a:rPr>
              <a:t>Repeat QR scans
</a:t>
            </a:r>
            <a:r>
              <a:rPr lang="en-US" sz="1080" b="1" dirty="0">
                <a:solidFill>
                  <a:srgbClr val="113E36"/>
                </a:solidFill>
                <a:latin typeface="Aptos" pitchFamily="34" charset="0"/>
                <a:ea typeface="Aptos" pitchFamily="34" charset="-122"/>
                <a:cs typeface="Aptos" pitchFamily="34" charset="-120"/>
              </a:rPr>
              <a:t>• </a:t>
            </a:r>
            <a:r>
              <a:rPr lang="en-US" sz="1080" dirty="0">
                <a:solidFill>
                  <a:srgbClr val="2C2C2C"/>
                </a:solidFill>
                <a:latin typeface="Aptos" pitchFamily="34" charset="0"/>
                <a:ea typeface="Aptos" pitchFamily="34" charset="-122"/>
                <a:cs typeface="Aptos" pitchFamily="34" charset="-120"/>
              </a:rPr>
              <a:t>Seasonal “what’s worth bringing home this week” content</a:t>
            </a:r>
            <a:endParaRPr lang="en-US" sz="1080" dirty="0"/>
          </a:p>
        </p:txBody>
      </p:sp>
      <p:sp>
        <p:nvSpPr>
          <p:cNvPr id="22" name="Text 20"/>
          <p:cNvSpPr/>
          <p:nvPr/>
        </p:nvSpPr>
        <p:spPr>
          <a:xfrm>
            <a:off x="868680" y="5650992"/>
            <a:ext cx="2743200" cy="182880"/>
          </a:xfrm>
          <a:prstGeom prst="rect">
            <a:avLst/>
          </a:prstGeom>
          <a:noFill/>
          <a:ln/>
        </p:spPr>
        <p:txBody>
          <a:bodyPr wrap="square" rtlCol="0" anchor="ctr"/>
          <a:lstStyle/>
          <a:p>
            <a:pPr marL="0" indent="0">
              <a:buNone/>
            </a:pPr>
            <a:r>
              <a:rPr lang="en-US" sz="1200" b="1" dirty="0">
                <a:solidFill>
                  <a:srgbClr val="113E36"/>
                </a:solidFill>
                <a:latin typeface="Aptos" pitchFamily="34" charset="0"/>
                <a:ea typeface="Aptos" pitchFamily="34" charset="-122"/>
                <a:cs typeface="Aptos" pitchFamily="34" charset="-120"/>
              </a:rPr>
              <a:t>How each channel should be used</a:t>
            </a:r>
            <a:endParaRPr lang="en-US" sz="1200" dirty="0"/>
          </a:p>
        </p:txBody>
      </p:sp>
      <p:sp>
        <p:nvSpPr>
          <p:cNvPr id="23" name="Shape 21"/>
          <p:cNvSpPr/>
          <p:nvPr/>
        </p:nvSpPr>
        <p:spPr>
          <a:xfrm>
            <a:off x="868680" y="5984748"/>
            <a:ext cx="3337560" cy="658368"/>
          </a:xfrm>
          <a:prstGeom prst="roundRect">
            <a:avLst>
              <a:gd name="adj" fmla="val 11111"/>
            </a:avLst>
          </a:prstGeom>
          <a:solidFill>
            <a:srgbClr val="FBF8F1"/>
          </a:solidFill>
          <a:ln w="12700">
            <a:solidFill>
              <a:srgbClr val="D8CDBA"/>
            </a:solidFill>
            <a:prstDash val="solid"/>
          </a:ln>
        </p:spPr>
        <p:txBody>
          <a:bodyPr/>
          <a:lstStyle/>
          <a:p>
            <a:endParaRPr lang="en-US"/>
          </a:p>
        </p:txBody>
      </p:sp>
      <p:sp>
        <p:nvSpPr>
          <p:cNvPr id="24" name="Text 22"/>
          <p:cNvSpPr/>
          <p:nvPr/>
        </p:nvSpPr>
        <p:spPr>
          <a:xfrm>
            <a:off x="1033272" y="6007608"/>
            <a:ext cx="3008376"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Paid traditional</a:t>
            </a:r>
            <a:endParaRPr lang="en-US" sz="1300" dirty="0"/>
          </a:p>
        </p:txBody>
      </p:sp>
      <p:sp>
        <p:nvSpPr>
          <p:cNvPr id="25" name="Text 23"/>
          <p:cNvSpPr/>
          <p:nvPr/>
        </p:nvSpPr>
        <p:spPr>
          <a:xfrm>
            <a:off x="1033272" y="6281928"/>
            <a:ext cx="3008376" cy="128016"/>
          </a:xfrm>
          <a:prstGeom prst="rect">
            <a:avLst/>
          </a:prstGeom>
          <a:noFill/>
          <a:ln/>
        </p:spPr>
        <p:txBody>
          <a:bodyPr wrap="square" lIns="0" tIns="0" rIns="0" bIns="0" rtlCol="0" anchor="t"/>
          <a:lstStyle/>
          <a:p>
            <a:pPr marL="0" indent="0">
              <a:buNone/>
            </a:pPr>
            <a:r>
              <a:rPr lang="en-US" sz="1000" dirty="0">
                <a:solidFill>
                  <a:srgbClr val="2C2C2C"/>
                </a:solidFill>
                <a:latin typeface="Aptos" pitchFamily="34" charset="0"/>
                <a:ea typeface="Aptos" pitchFamily="34" charset="-122"/>
                <a:cs typeface="Aptos" pitchFamily="34" charset="-120"/>
              </a:rPr>
              <a:t>OOH, radio and store windows for fame, physical proximity and credibility.</a:t>
            </a:r>
            <a:endParaRPr lang="en-US" sz="1000" dirty="0"/>
          </a:p>
        </p:txBody>
      </p:sp>
      <p:sp>
        <p:nvSpPr>
          <p:cNvPr id="26" name="Shape 24"/>
          <p:cNvSpPr/>
          <p:nvPr/>
        </p:nvSpPr>
        <p:spPr>
          <a:xfrm>
            <a:off x="4407408" y="5972048"/>
            <a:ext cx="3337560" cy="658368"/>
          </a:xfrm>
          <a:prstGeom prst="roundRect">
            <a:avLst>
              <a:gd name="adj" fmla="val 11111"/>
            </a:avLst>
          </a:prstGeom>
          <a:solidFill>
            <a:srgbClr val="FBF8F1"/>
          </a:solidFill>
          <a:ln w="12700">
            <a:solidFill>
              <a:srgbClr val="D8CDBA"/>
            </a:solidFill>
            <a:prstDash val="solid"/>
          </a:ln>
        </p:spPr>
        <p:txBody>
          <a:bodyPr/>
          <a:lstStyle/>
          <a:p>
            <a:endParaRPr lang="en-US"/>
          </a:p>
        </p:txBody>
      </p:sp>
      <p:sp>
        <p:nvSpPr>
          <p:cNvPr id="27" name="Text 25"/>
          <p:cNvSpPr/>
          <p:nvPr/>
        </p:nvSpPr>
        <p:spPr>
          <a:xfrm>
            <a:off x="4572000" y="6007608"/>
            <a:ext cx="3008376"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Organic + boosted social</a:t>
            </a:r>
            <a:endParaRPr lang="en-US" sz="1300" dirty="0"/>
          </a:p>
        </p:txBody>
      </p:sp>
      <p:sp>
        <p:nvSpPr>
          <p:cNvPr id="28" name="Text 26"/>
          <p:cNvSpPr/>
          <p:nvPr/>
        </p:nvSpPr>
        <p:spPr>
          <a:xfrm>
            <a:off x="4572000" y="6281928"/>
            <a:ext cx="3008376" cy="128016"/>
          </a:xfrm>
          <a:prstGeom prst="rect">
            <a:avLst/>
          </a:prstGeom>
          <a:noFill/>
          <a:ln/>
        </p:spPr>
        <p:txBody>
          <a:bodyPr wrap="square" lIns="0" tIns="0" rIns="0" bIns="0" rtlCol="0" anchor="t"/>
          <a:lstStyle/>
          <a:p>
            <a:pPr marL="0" indent="0">
              <a:buNone/>
            </a:pPr>
            <a:r>
              <a:rPr lang="en-US" sz="1000" dirty="0">
                <a:solidFill>
                  <a:srgbClr val="2C2C2C"/>
                </a:solidFill>
                <a:latin typeface="Aptos" pitchFamily="34" charset="0"/>
                <a:ea typeface="Aptos" pitchFamily="34" charset="-122"/>
                <a:cs typeface="Aptos" pitchFamily="34" charset="-120"/>
              </a:rPr>
              <a:t>Use organic to build texture and proof; boost only the posts that naturally earn saves, shares and comments.</a:t>
            </a:r>
            <a:endParaRPr lang="en-US" sz="1000" dirty="0"/>
          </a:p>
        </p:txBody>
      </p:sp>
      <p:sp>
        <p:nvSpPr>
          <p:cNvPr id="29" name="Shape 27"/>
          <p:cNvSpPr/>
          <p:nvPr/>
        </p:nvSpPr>
        <p:spPr>
          <a:xfrm>
            <a:off x="7946136" y="5972048"/>
            <a:ext cx="3337560" cy="658368"/>
          </a:xfrm>
          <a:prstGeom prst="roundRect">
            <a:avLst>
              <a:gd name="adj" fmla="val 11111"/>
            </a:avLst>
          </a:prstGeom>
          <a:solidFill>
            <a:srgbClr val="FBF8F1"/>
          </a:solidFill>
          <a:ln w="12700">
            <a:solidFill>
              <a:srgbClr val="D8CDBA"/>
            </a:solidFill>
            <a:prstDash val="solid"/>
          </a:ln>
        </p:spPr>
        <p:txBody>
          <a:bodyPr/>
          <a:lstStyle/>
          <a:p>
            <a:endParaRPr lang="en-US"/>
          </a:p>
        </p:txBody>
      </p:sp>
      <p:sp>
        <p:nvSpPr>
          <p:cNvPr id="30" name="Text 28"/>
          <p:cNvSpPr/>
          <p:nvPr/>
        </p:nvSpPr>
        <p:spPr>
          <a:xfrm>
            <a:off x="8110728" y="6007608"/>
            <a:ext cx="3008376"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Paid digital</a:t>
            </a:r>
            <a:endParaRPr lang="en-US" sz="1300" dirty="0"/>
          </a:p>
        </p:txBody>
      </p:sp>
      <p:sp>
        <p:nvSpPr>
          <p:cNvPr id="31" name="Text 29"/>
          <p:cNvSpPr/>
          <p:nvPr/>
        </p:nvSpPr>
        <p:spPr>
          <a:xfrm>
            <a:off x="8110728" y="6281928"/>
            <a:ext cx="3008376" cy="128016"/>
          </a:xfrm>
          <a:prstGeom prst="rect">
            <a:avLst/>
          </a:prstGeom>
          <a:noFill/>
          <a:ln/>
        </p:spPr>
        <p:txBody>
          <a:bodyPr wrap="square" lIns="0" tIns="0" rIns="0" bIns="0" rtlCol="0" anchor="t"/>
          <a:lstStyle/>
          <a:p>
            <a:pPr marL="0" indent="0">
              <a:buNone/>
            </a:pPr>
            <a:r>
              <a:rPr lang="en-US" sz="1000" dirty="0">
                <a:solidFill>
                  <a:srgbClr val="2C2C2C"/>
                </a:solidFill>
                <a:latin typeface="Aptos" pitchFamily="34" charset="0"/>
                <a:ea typeface="Aptos" pitchFamily="34" charset="-122"/>
                <a:cs typeface="Aptos" pitchFamily="34" charset="-120"/>
              </a:rPr>
              <a:t>Meta, TikTok, YouTube and retargeting should drive scale, traffic and measurable action.</a:t>
            </a:r>
            <a:endParaRPr lang="en-US" sz="1000" dirty="0"/>
          </a:p>
        </p:txBody>
      </p:sp>
      <p:sp>
        <p:nvSpPr>
          <p:cNvPr id="32" name="Slide Number Placeholder 0"/>
          <p:cNvSpPr>
            <a:spLocks noGrp="1"/>
          </p:cNvSpPr>
          <p:nvPr>
            <p:ph type="sldNum" sz="quarter" idx="4294967295"/>
          </p:nvPr>
        </p:nvSpPr>
        <p:spPr>
          <a:xfrm>
            <a:off x="11658600" y="109728"/>
            <a:ext cx="32004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7D746A"/>
                </a:solidFill>
                <a:latin typeface="Aptos"/>
                <a:ea typeface="Aptos"/>
                <a:cs typeface="Aptos"/>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nvSpPr>
        <p:spPr>
          <a:xfrm>
            <a:off x="914400" y="310896"/>
            <a:ext cx="2286000" cy="164592"/>
          </a:xfrm>
          <a:prstGeom prst="rect">
            <a:avLst/>
          </a:prstGeom>
          <a:noFill/>
          <a:ln/>
        </p:spPr>
        <p:txBody>
          <a:bodyPr wrap="square" rtlCol="0" anchor="ctr"/>
          <a:lstStyle/>
          <a:p>
            <a:pPr marL="0" indent="0">
              <a:buNone/>
            </a:pPr>
            <a:r>
              <a:rPr lang="en-US" sz="900" b="1" dirty="0">
                <a:solidFill>
                  <a:srgbClr val="C96E4D"/>
                </a:solidFill>
                <a:latin typeface="Aptos" pitchFamily="34" charset="0"/>
                <a:ea typeface="Aptos" pitchFamily="34" charset="-122"/>
                <a:cs typeface="Aptos" pitchFamily="34" charset="-120"/>
              </a:rPr>
              <a:t>PLATFORM DETAIL</a:t>
            </a:r>
            <a:endParaRPr lang="en-US" sz="900" dirty="0"/>
          </a:p>
        </p:txBody>
      </p:sp>
      <p:sp>
        <p:nvSpPr>
          <p:cNvPr id="4" name="Text 2"/>
          <p:cNvSpPr/>
          <p:nvPr/>
        </p:nvSpPr>
        <p:spPr>
          <a:xfrm>
            <a:off x="610108" y="568198"/>
            <a:ext cx="11069320" cy="502920"/>
          </a:xfrm>
          <a:prstGeom prst="rect">
            <a:avLst/>
          </a:prstGeom>
          <a:noFill/>
          <a:ln/>
        </p:spPr>
        <p:txBody>
          <a:bodyPr wrap="square" rtlCol="0" anchor="ctr"/>
          <a:lstStyle/>
          <a:p>
            <a:pPr marL="0" indent="0">
              <a:buNone/>
            </a:pPr>
            <a:r>
              <a:rPr lang="en-US" sz="2400" b="1" dirty="0">
                <a:solidFill>
                  <a:srgbClr val="113E36"/>
                </a:solidFill>
                <a:latin typeface="Georgia" pitchFamily="34" charset="0"/>
                <a:ea typeface="Georgia" pitchFamily="34" charset="-122"/>
                <a:cs typeface="Georgia" pitchFamily="34" charset="-120"/>
              </a:rPr>
              <a:t>Exactly what we will run — and whether it is organic, boosted or paid</a:t>
            </a:r>
            <a:endParaRPr lang="en-US" sz="2400" dirty="0"/>
          </a:p>
        </p:txBody>
      </p:sp>
      <p:sp>
        <p:nvSpPr>
          <p:cNvPr id="5" name="Shape 3"/>
          <p:cNvSpPr/>
          <p:nvPr/>
        </p:nvSpPr>
        <p:spPr>
          <a:xfrm>
            <a:off x="868680" y="1142492"/>
            <a:ext cx="10698480" cy="0"/>
          </a:xfrm>
          <a:prstGeom prst="line">
            <a:avLst/>
          </a:prstGeom>
          <a:noFill/>
          <a:ln w="12700">
            <a:solidFill>
              <a:srgbClr val="D8CDBA"/>
            </a:solidFill>
            <a:prstDash val="solid"/>
          </a:ln>
        </p:spPr>
        <p:txBody>
          <a:bodyPr/>
          <a:lstStyle/>
          <a:p>
            <a:endParaRPr lang="en-US"/>
          </a:p>
        </p:txBody>
      </p:sp>
      <p:sp>
        <p:nvSpPr>
          <p:cNvPr id="6" name="Shape 4"/>
          <p:cNvSpPr/>
          <p:nvPr/>
        </p:nvSpPr>
        <p:spPr>
          <a:xfrm>
            <a:off x="868680" y="1417320"/>
            <a:ext cx="1554480" cy="438912"/>
          </a:xfrm>
          <a:prstGeom prst="roundRect">
            <a:avLst>
              <a:gd name="adj" fmla="val 8333"/>
            </a:avLst>
          </a:prstGeom>
          <a:solidFill>
            <a:srgbClr val="113E36"/>
          </a:solidFill>
          <a:ln w="12700">
            <a:solidFill>
              <a:srgbClr val="113E36"/>
            </a:solidFill>
            <a:prstDash val="solid"/>
          </a:ln>
        </p:spPr>
        <p:txBody>
          <a:bodyPr/>
          <a:lstStyle/>
          <a:p>
            <a:endParaRPr lang="en-US"/>
          </a:p>
        </p:txBody>
      </p:sp>
      <p:sp>
        <p:nvSpPr>
          <p:cNvPr id="7" name="Text 5"/>
          <p:cNvSpPr/>
          <p:nvPr/>
        </p:nvSpPr>
        <p:spPr>
          <a:xfrm>
            <a:off x="941832" y="1545336"/>
            <a:ext cx="1408176" cy="146304"/>
          </a:xfrm>
          <a:prstGeom prst="rect">
            <a:avLst/>
          </a:prstGeom>
          <a:noFill/>
          <a:ln/>
        </p:spPr>
        <p:txBody>
          <a:bodyPr wrap="square"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Platform</a:t>
            </a:r>
            <a:endParaRPr lang="en-US" sz="1000" dirty="0"/>
          </a:p>
        </p:txBody>
      </p:sp>
      <p:sp>
        <p:nvSpPr>
          <p:cNvPr id="8" name="Shape 6"/>
          <p:cNvSpPr/>
          <p:nvPr/>
        </p:nvSpPr>
        <p:spPr>
          <a:xfrm>
            <a:off x="2496312" y="1417320"/>
            <a:ext cx="1005840" cy="438912"/>
          </a:xfrm>
          <a:prstGeom prst="roundRect">
            <a:avLst>
              <a:gd name="adj" fmla="val 8333"/>
            </a:avLst>
          </a:prstGeom>
          <a:solidFill>
            <a:srgbClr val="113E36"/>
          </a:solidFill>
          <a:ln w="12700">
            <a:solidFill>
              <a:srgbClr val="113E36"/>
            </a:solidFill>
            <a:prstDash val="solid"/>
          </a:ln>
        </p:spPr>
        <p:txBody>
          <a:bodyPr/>
          <a:lstStyle/>
          <a:p>
            <a:endParaRPr lang="en-US"/>
          </a:p>
        </p:txBody>
      </p:sp>
      <p:sp>
        <p:nvSpPr>
          <p:cNvPr id="9" name="Text 7"/>
          <p:cNvSpPr/>
          <p:nvPr/>
        </p:nvSpPr>
        <p:spPr>
          <a:xfrm>
            <a:off x="2569464" y="1545336"/>
            <a:ext cx="859536" cy="146304"/>
          </a:xfrm>
          <a:prstGeom prst="rect">
            <a:avLst/>
          </a:prstGeom>
          <a:noFill/>
          <a:ln/>
        </p:spPr>
        <p:txBody>
          <a:bodyPr wrap="square"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Media type</a:t>
            </a:r>
            <a:endParaRPr lang="en-US" sz="1000" dirty="0"/>
          </a:p>
        </p:txBody>
      </p:sp>
      <p:sp>
        <p:nvSpPr>
          <p:cNvPr id="10" name="Shape 8"/>
          <p:cNvSpPr/>
          <p:nvPr/>
        </p:nvSpPr>
        <p:spPr>
          <a:xfrm>
            <a:off x="3575304" y="1417320"/>
            <a:ext cx="3063240" cy="438912"/>
          </a:xfrm>
          <a:prstGeom prst="roundRect">
            <a:avLst>
              <a:gd name="adj" fmla="val 8333"/>
            </a:avLst>
          </a:prstGeom>
          <a:solidFill>
            <a:srgbClr val="113E36"/>
          </a:solidFill>
          <a:ln w="12700">
            <a:solidFill>
              <a:srgbClr val="113E36"/>
            </a:solidFill>
            <a:prstDash val="solid"/>
          </a:ln>
        </p:spPr>
        <p:txBody>
          <a:bodyPr/>
          <a:lstStyle/>
          <a:p>
            <a:endParaRPr lang="en-US"/>
          </a:p>
        </p:txBody>
      </p:sp>
      <p:sp>
        <p:nvSpPr>
          <p:cNvPr id="11" name="Text 9"/>
          <p:cNvSpPr/>
          <p:nvPr/>
        </p:nvSpPr>
        <p:spPr>
          <a:xfrm>
            <a:off x="3648456" y="1545336"/>
            <a:ext cx="2916936" cy="146304"/>
          </a:xfrm>
          <a:prstGeom prst="rect">
            <a:avLst/>
          </a:prstGeom>
          <a:noFill/>
          <a:ln/>
        </p:spPr>
        <p:txBody>
          <a:bodyPr wrap="square"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What goes there</a:t>
            </a:r>
            <a:endParaRPr lang="en-US" sz="1000" dirty="0"/>
          </a:p>
        </p:txBody>
      </p:sp>
      <p:sp>
        <p:nvSpPr>
          <p:cNvPr id="12" name="Shape 10"/>
          <p:cNvSpPr/>
          <p:nvPr/>
        </p:nvSpPr>
        <p:spPr>
          <a:xfrm>
            <a:off x="6711696" y="1417320"/>
            <a:ext cx="2148840" cy="438912"/>
          </a:xfrm>
          <a:prstGeom prst="roundRect">
            <a:avLst>
              <a:gd name="adj" fmla="val 8333"/>
            </a:avLst>
          </a:prstGeom>
          <a:solidFill>
            <a:srgbClr val="113E36"/>
          </a:solidFill>
          <a:ln w="12700">
            <a:solidFill>
              <a:srgbClr val="113E36"/>
            </a:solidFill>
            <a:prstDash val="solid"/>
          </a:ln>
        </p:spPr>
        <p:txBody>
          <a:bodyPr/>
          <a:lstStyle/>
          <a:p>
            <a:endParaRPr lang="en-US"/>
          </a:p>
        </p:txBody>
      </p:sp>
      <p:sp>
        <p:nvSpPr>
          <p:cNvPr id="13" name="Text 11"/>
          <p:cNvSpPr/>
          <p:nvPr/>
        </p:nvSpPr>
        <p:spPr>
          <a:xfrm>
            <a:off x="6784848" y="1545336"/>
            <a:ext cx="2002536" cy="146304"/>
          </a:xfrm>
          <a:prstGeom prst="rect">
            <a:avLst/>
          </a:prstGeom>
          <a:noFill/>
          <a:ln/>
        </p:spPr>
        <p:txBody>
          <a:bodyPr wrap="square"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Primary role</a:t>
            </a:r>
            <a:endParaRPr lang="en-US" sz="1000" dirty="0"/>
          </a:p>
        </p:txBody>
      </p:sp>
      <p:sp>
        <p:nvSpPr>
          <p:cNvPr id="14" name="Shape 12"/>
          <p:cNvSpPr/>
          <p:nvPr/>
        </p:nvSpPr>
        <p:spPr>
          <a:xfrm>
            <a:off x="8933688" y="1417320"/>
            <a:ext cx="2697480" cy="438912"/>
          </a:xfrm>
          <a:prstGeom prst="roundRect">
            <a:avLst>
              <a:gd name="adj" fmla="val 8333"/>
            </a:avLst>
          </a:prstGeom>
          <a:solidFill>
            <a:srgbClr val="113E36"/>
          </a:solidFill>
          <a:ln w="12700">
            <a:solidFill>
              <a:srgbClr val="113E36"/>
            </a:solidFill>
            <a:prstDash val="solid"/>
          </a:ln>
        </p:spPr>
        <p:txBody>
          <a:bodyPr/>
          <a:lstStyle/>
          <a:p>
            <a:endParaRPr lang="en-US"/>
          </a:p>
        </p:txBody>
      </p:sp>
      <p:sp>
        <p:nvSpPr>
          <p:cNvPr id="15" name="Text 13"/>
          <p:cNvSpPr/>
          <p:nvPr/>
        </p:nvSpPr>
        <p:spPr>
          <a:xfrm>
            <a:off x="9006840" y="1545336"/>
            <a:ext cx="2551176" cy="146304"/>
          </a:xfrm>
          <a:prstGeom prst="rect">
            <a:avLst/>
          </a:prstGeom>
          <a:noFill/>
          <a:ln/>
        </p:spPr>
        <p:txBody>
          <a:bodyPr wrap="square" rtlCol="0" anchor="ctr"/>
          <a:lstStyle/>
          <a:p>
            <a:pPr marL="0" indent="0" algn="ctr">
              <a:buNone/>
            </a:pPr>
            <a:r>
              <a:rPr lang="en-US" sz="1000" b="1" dirty="0">
                <a:solidFill>
                  <a:srgbClr val="FFFFFF"/>
                </a:solidFill>
                <a:latin typeface="Aptos" pitchFamily="34" charset="0"/>
                <a:ea typeface="Aptos" pitchFamily="34" charset="-122"/>
                <a:cs typeface="Aptos" pitchFamily="34" charset="-120"/>
              </a:rPr>
              <a:t>Success metric focus</a:t>
            </a:r>
            <a:endParaRPr lang="en-US" sz="1000" dirty="0"/>
          </a:p>
        </p:txBody>
      </p:sp>
      <p:sp>
        <p:nvSpPr>
          <p:cNvPr id="16" name="Shape 14"/>
          <p:cNvSpPr/>
          <p:nvPr/>
        </p:nvSpPr>
        <p:spPr>
          <a:xfrm>
            <a:off x="868680" y="1938528"/>
            <a:ext cx="1554480" cy="512064"/>
          </a:xfrm>
          <a:prstGeom prst="roundRect">
            <a:avLst>
              <a:gd name="adj" fmla="val 5357"/>
            </a:avLst>
          </a:prstGeom>
          <a:solidFill>
            <a:srgbClr val="FBF8F1"/>
          </a:solidFill>
          <a:ln w="12700">
            <a:solidFill>
              <a:srgbClr val="D8CDBA"/>
            </a:solidFill>
            <a:prstDash val="solid"/>
          </a:ln>
        </p:spPr>
        <p:txBody>
          <a:bodyPr/>
          <a:lstStyle/>
          <a:p>
            <a:endParaRPr lang="en-US"/>
          </a:p>
        </p:txBody>
      </p:sp>
      <p:sp>
        <p:nvSpPr>
          <p:cNvPr id="17" name="Text 15"/>
          <p:cNvSpPr/>
          <p:nvPr/>
        </p:nvSpPr>
        <p:spPr>
          <a:xfrm>
            <a:off x="941832" y="2002536"/>
            <a:ext cx="1408176" cy="365760"/>
          </a:xfrm>
          <a:prstGeom prst="rect">
            <a:avLst/>
          </a:prstGeom>
          <a:noFill/>
          <a:ln/>
        </p:spPr>
        <p:txBody>
          <a:bodyPr wrap="square" lIns="0" tIns="0" rIns="0" bIns="0" rtlCol="0" anchor="ctr"/>
          <a:lstStyle/>
          <a:p>
            <a:pPr marL="0" indent="0">
              <a:buNone/>
            </a:pPr>
            <a:r>
              <a:rPr lang="en-US" sz="1020" b="1" dirty="0">
                <a:solidFill>
                  <a:srgbClr val="113E36"/>
                </a:solidFill>
                <a:latin typeface="Aptos" pitchFamily="34" charset="0"/>
                <a:ea typeface="Aptos" pitchFamily="34" charset="-122"/>
                <a:cs typeface="Aptos" pitchFamily="34" charset="-120"/>
              </a:rPr>
              <a:t>Instagram</a:t>
            </a:r>
            <a:endParaRPr lang="en-US" sz="1020" dirty="0"/>
          </a:p>
        </p:txBody>
      </p:sp>
      <p:sp>
        <p:nvSpPr>
          <p:cNvPr id="18" name="Shape 16"/>
          <p:cNvSpPr/>
          <p:nvPr/>
        </p:nvSpPr>
        <p:spPr>
          <a:xfrm>
            <a:off x="2496312" y="1938528"/>
            <a:ext cx="1005840" cy="512064"/>
          </a:xfrm>
          <a:prstGeom prst="roundRect">
            <a:avLst>
              <a:gd name="adj" fmla="val 5357"/>
            </a:avLst>
          </a:prstGeom>
          <a:solidFill>
            <a:srgbClr val="FBF8F1"/>
          </a:solidFill>
          <a:ln w="12700">
            <a:solidFill>
              <a:srgbClr val="D8CDBA"/>
            </a:solidFill>
            <a:prstDash val="solid"/>
          </a:ln>
        </p:spPr>
        <p:txBody>
          <a:bodyPr/>
          <a:lstStyle/>
          <a:p>
            <a:endParaRPr lang="en-US"/>
          </a:p>
        </p:txBody>
      </p:sp>
      <p:sp>
        <p:nvSpPr>
          <p:cNvPr id="19" name="Text 17"/>
          <p:cNvSpPr/>
          <p:nvPr/>
        </p:nvSpPr>
        <p:spPr>
          <a:xfrm>
            <a:off x="2569464" y="2002536"/>
            <a:ext cx="859536" cy="365760"/>
          </a:xfrm>
          <a:prstGeom prst="rect">
            <a:avLst/>
          </a:prstGeom>
          <a:noFill/>
          <a:ln/>
        </p:spPr>
        <p:txBody>
          <a:bodyPr wrap="square" lIns="0" tIns="0" rIns="0" bIns="0" rtlCol="0" anchor="ctr"/>
          <a:lstStyle/>
          <a:p>
            <a:pPr marL="0" indent="0">
              <a:buNone/>
            </a:pPr>
            <a:r>
              <a:rPr lang="en-US" sz="910" b="1" dirty="0">
                <a:solidFill>
                  <a:srgbClr val="2C2C2C"/>
                </a:solidFill>
                <a:latin typeface="Aptos" pitchFamily="34" charset="0"/>
                <a:ea typeface="Aptos" pitchFamily="34" charset="-122"/>
                <a:cs typeface="Aptos" pitchFamily="34" charset="-120"/>
              </a:rPr>
              <a:t>Organic + boosted</a:t>
            </a:r>
            <a:endParaRPr lang="en-US" sz="910" dirty="0"/>
          </a:p>
        </p:txBody>
      </p:sp>
      <p:sp>
        <p:nvSpPr>
          <p:cNvPr id="20" name="Shape 18"/>
          <p:cNvSpPr/>
          <p:nvPr/>
        </p:nvSpPr>
        <p:spPr>
          <a:xfrm>
            <a:off x="3575304" y="1938528"/>
            <a:ext cx="3063240" cy="512064"/>
          </a:xfrm>
          <a:prstGeom prst="roundRect">
            <a:avLst>
              <a:gd name="adj" fmla="val 5357"/>
            </a:avLst>
          </a:prstGeom>
          <a:solidFill>
            <a:srgbClr val="FBF8F1"/>
          </a:solidFill>
          <a:ln w="12700">
            <a:solidFill>
              <a:srgbClr val="D8CDBA"/>
            </a:solidFill>
            <a:prstDash val="solid"/>
          </a:ln>
        </p:spPr>
        <p:txBody>
          <a:bodyPr/>
          <a:lstStyle/>
          <a:p>
            <a:endParaRPr lang="en-US"/>
          </a:p>
        </p:txBody>
      </p:sp>
      <p:sp>
        <p:nvSpPr>
          <p:cNvPr id="21" name="Text 19"/>
          <p:cNvSpPr/>
          <p:nvPr/>
        </p:nvSpPr>
        <p:spPr>
          <a:xfrm>
            <a:off x="3648456" y="2002536"/>
            <a:ext cx="2916936" cy="365760"/>
          </a:xfrm>
          <a:prstGeom prst="rect">
            <a:avLst/>
          </a:prstGeom>
          <a:noFill/>
          <a:ln/>
        </p:spPr>
        <p:txBody>
          <a:bodyPr wrap="square" lIns="0" tIns="0" rIns="0" bIns="0" rtlCol="0" anchor="ctr"/>
          <a:lstStyle/>
          <a:p>
            <a:pPr marL="0" indent="0">
              <a:buNone/>
            </a:pPr>
            <a:r>
              <a:rPr lang="en-US" sz="910" dirty="0">
                <a:solidFill>
                  <a:srgbClr val="2C2C2C"/>
                </a:solidFill>
                <a:latin typeface="Aptos" pitchFamily="34" charset="0"/>
                <a:ea typeface="Aptos" pitchFamily="34" charset="-122"/>
                <a:cs typeface="Aptos" pitchFamily="34" charset="-120"/>
              </a:rPr>
              <a:t>Editorial stills, reels, home / table / outfit / basket edits, bag shots, saveable carousels.</a:t>
            </a:r>
            <a:endParaRPr lang="en-US" sz="910" dirty="0"/>
          </a:p>
        </p:txBody>
      </p:sp>
      <p:sp>
        <p:nvSpPr>
          <p:cNvPr id="22" name="Shape 20"/>
          <p:cNvSpPr/>
          <p:nvPr/>
        </p:nvSpPr>
        <p:spPr>
          <a:xfrm>
            <a:off x="6711696" y="1938528"/>
            <a:ext cx="2148840" cy="512064"/>
          </a:xfrm>
          <a:prstGeom prst="roundRect">
            <a:avLst>
              <a:gd name="adj" fmla="val 5357"/>
            </a:avLst>
          </a:prstGeom>
          <a:solidFill>
            <a:srgbClr val="FBF8F1"/>
          </a:solidFill>
          <a:ln w="12700">
            <a:solidFill>
              <a:srgbClr val="D8CDBA"/>
            </a:solidFill>
            <a:prstDash val="solid"/>
          </a:ln>
        </p:spPr>
        <p:txBody>
          <a:bodyPr/>
          <a:lstStyle/>
          <a:p>
            <a:endParaRPr lang="en-US"/>
          </a:p>
        </p:txBody>
      </p:sp>
      <p:sp>
        <p:nvSpPr>
          <p:cNvPr id="23" name="Text 21"/>
          <p:cNvSpPr/>
          <p:nvPr/>
        </p:nvSpPr>
        <p:spPr>
          <a:xfrm>
            <a:off x="6784848" y="2002536"/>
            <a:ext cx="2002536" cy="365760"/>
          </a:xfrm>
          <a:prstGeom prst="rect">
            <a:avLst/>
          </a:prstGeom>
          <a:noFill/>
          <a:ln/>
        </p:spPr>
        <p:txBody>
          <a:bodyPr wrap="square" lIns="0" tIns="0" rIns="0" bIns="0" rtlCol="0" anchor="ctr"/>
          <a:lstStyle/>
          <a:p>
            <a:pPr marL="0" indent="0">
              <a:buNone/>
            </a:pPr>
            <a:r>
              <a:rPr lang="en-US" sz="910" dirty="0">
                <a:solidFill>
                  <a:srgbClr val="2C2C2C"/>
                </a:solidFill>
                <a:latin typeface="Aptos" pitchFamily="34" charset="0"/>
                <a:ea typeface="Aptos" pitchFamily="34" charset="-122"/>
                <a:cs typeface="Aptos" pitchFamily="34" charset="-120"/>
              </a:rPr>
              <a:t>Texture, aspiration, sharing</a:t>
            </a:r>
            <a:endParaRPr lang="en-US" sz="910" dirty="0"/>
          </a:p>
        </p:txBody>
      </p:sp>
      <p:sp>
        <p:nvSpPr>
          <p:cNvPr id="24" name="Shape 22"/>
          <p:cNvSpPr/>
          <p:nvPr/>
        </p:nvSpPr>
        <p:spPr>
          <a:xfrm>
            <a:off x="8933688" y="1938528"/>
            <a:ext cx="2697480" cy="512064"/>
          </a:xfrm>
          <a:prstGeom prst="roundRect">
            <a:avLst>
              <a:gd name="adj" fmla="val 5357"/>
            </a:avLst>
          </a:prstGeom>
          <a:solidFill>
            <a:srgbClr val="FBF8F1"/>
          </a:solidFill>
          <a:ln w="12700">
            <a:solidFill>
              <a:srgbClr val="D8CDBA"/>
            </a:solidFill>
            <a:prstDash val="solid"/>
          </a:ln>
        </p:spPr>
        <p:txBody>
          <a:bodyPr/>
          <a:lstStyle/>
          <a:p>
            <a:endParaRPr lang="en-US"/>
          </a:p>
        </p:txBody>
      </p:sp>
      <p:sp>
        <p:nvSpPr>
          <p:cNvPr id="25" name="Text 23"/>
          <p:cNvSpPr/>
          <p:nvPr/>
        </p:nvSpPr>
        <p:spPr>
          <a:xfrm>
            <a:off x="9006840" y="2002536"/>
            <a:ext cx="2551176" cy="365760"/>
          </a:xfrm>
          <a:prstGeom prst="rect">
            <a:avLst/>
          </a:prstGeom>
          <a:noFill/>
          <a:ln/>
        </p:spPr>
        <p:txBody>
          <a:bodyPr wrap="square" lIns="0" tIns="0" rIns="0" bIns="0" rtlCol="0" anchor="ctr"/>
          <a:lstStyle/>
          <a:p>
            <a:pPr marL="0" indent="0">
              <a:buNone/>
            </a:pPr>
            <a:r>
              <a:rPr lang="en-US" sz="910" dirty="0">
                <a:solidFill>
                  <a:srgbClr val="2C2C2C"/>
                </a:solidFill>
                <a:latin typeface="Aptos" pitchFamily="34" charset="0"/>
                <a:ea typeface="Aptos" pitchFamily="34" charset="-122"/>
                <a:cs typeface="Aptos" pitchFamily="34" charset="-120"/>
              </a:rPr>
              <a:t>Engagement rate, saves, shares, profile visits</a:t>
            </a:r>
            <a:endParaRPr lang="en-US" sz="910" dirty="0"/>
          </a:p>
        </p:txBody>
      </p:sp>
      <p:sp>
        <p:nvSpPr>
          <p:cNvPr id="26" name="Shape 24"/>
          <p:cNvSpPr/>
          <p:nvPr/>
        </p:nvSpPr>
        <p:spPr>
          <a:xfrm>
            <a:off x="868680" y="2542032"/>
            <a:ext cx="1554480" cy="512064"/>
          </a:xfrm>
          <a:prstGeom prst="roundRect">
            <a:avLst>
              <a:gd name="adj" fmla="val 5357"/>
            </a:avLst>
          </a:prstGeom>
          <a:solidFill>
            <a:srgbClr val="F7F2EA"/>
          </a:solidFill>
          <a:ln w="12700">
            <a:solidFill>
              <a:srgbClr val="D8CDBA"/>
            </a:solidFill>
            <a:prstDash val="solid"/>
          </a:ln>
        </p:spPr>
        <p:txBody>
          <a:bodyPr/>
          <a:lstStyle/>
          <a:p>
            <a:endParaRPr lang="en-US"/>
          </a:p>
        </p:txBody>
      </p:sp>
      <p:sp>
        <p:nvSpPr>
          <p:cNvPr id="27" name="Text 25"/>
          <p:cNvSpPr/>
          <p:nvPr/>
        </p:nvSpPr>
        <p:spPr>
          <a:xfrm>
            <a:off x="941832" y="2606040"/>
            <a:ext cx="1408176" cy="365760"/>
          </a:xfrm>
          <a:prstGeom prst="rect">
            <a:avLst/>
          </a:prstGeom>
          <a:noFill/>
          <a:ln/>
        </p:spPr>
        <p:txBody>
          <a:bodyPr wrap="square" lIns="0" tIns="0" rIns="0" bIns="0" rtlCol="0" anchor="ctr"/>
          <a:lstStyle/>
          <a:p>
            <a:pPr marL="0" indent="0">
              <a:buNone/>
            </a:pPr>
            <a:r>
              <a:rPr lang="en-US" sz="1020" b="1" dirty="0">
                <a:solidFill>
                  <a:srgbClr val="113E36"/>
                </a:solidFill>
                <a:latin typeface="Aptos" pitchFamily="34" charset="0"/>
                <a:ea typeface="Aptos" pitchFamily="34" charset="-122"/>
                <a:cs typeface="Aptos" pitchFamily="34" charset="-120"/>
              </a:rPr>
              <a:t>TikTok</a:t>
            </a:r>
            <a:endParaRPr lang="en-US" sz="1020" dirty="0"/>
          </a:p>
        </p:txBody>
      </p:sp>
      <p:sp>
        <p:nvSpPr>
          <p:cNvPr id="28" name="Shape 26"/>
          <p:cNvSpPr/>
          <p:nvPr/>
        </p:nvSpPr>
        <p:spPr>
          <a:xfrm>
            <a:off x="2496312" y="2542032"/>
            <a:ext cx="1005840" cy="512064"/>
          </a:xfrm>
          <a:prstGeom prst="roundRect">
            <a:avLst>
              <a:gd name="adj" fmla="val 5357"/>
            </a:avLst>
          </a:prstGeom>
          <a:solidFill>
            <a:srgbClr val="F7F2EA"/>
          </a:solidFill>
          <a:ln w="12700">
            <a:solidFill>
              <a:srgbClr val="D8CDBA"/>
            </a:solidFill>
            <a:prstDash val="solid"/>
          </a:ln>
        </p:spPr>
        <p:txBody>
          <a:bodyPr/>
          <a:lstStyle/>
          <a:p>
            <a:endParaRPr lang="en-US"/>
          </a:p>
        </p:txBody>
      </p:sp>
      <p:sp>
        <p:nvSpPr>
          <p:cNvPr id="29" name="Text 27"/>
          <p:cNvSpPr/>
          <p:nvPr/>
        </p:nvSpPr>
        <p:spPr>
          <a:xfrm>
            <a:off x="2569464" y="2606040"/>
            <a:ext cx="859536" cy="365760"/>
          </a:xfrm>
          <a:prstGeom prst="rect">
            <a:avLst/>
          </a:prstGeom>
          <a:noFill/>
          <a:ln/>
        </p:spPr>
        <p:txBody>
          <a:bodyPr wrap="square" lIns="0" tIns="0" rIns="0" bIns="0" rtlCol="0" anchor="ctr"/>
          <a:lstStyle/>
          <a:p>
            <a:pPr marL="0" indent="0">
              <a:buNone/>
            </a:pPr>
            <a:r>
              <a:rPr lang="en-US" sz="910" b="1" dirty="0">
                <a:solidFill>
                  <a:srgbClr val="2C2C2C"/>
                </a:solidFill>
                <a:latin typeface="Aptos" pitchFamily="34" charset="0"/>
                <a:ea typeface="Aptos" pitchFamily="34" charset="-122"/>
                <a:cs typeface="Aptos" pitchFamily="34" charset="-120"/>
              </a:rPr>
              <a:t>Organic + Spark ads</a:t>
            </a:r>
            <a:endParaRPr lang="en-US" sz="910" dirty="0"/>
          </a:p>
        </p:txBody>
      </p:sp>
      <p:sp>
        <p:nvSpPr>
          <p:cNvPr id="30" name="Shape 28"/>
          <p:cNvSpPr/>
          <p:nvPr/>
        </p:nvSpPr>
        <p:spPr>
          <a:xfrm>
            <a:off x="3575304" y="2542032"/>
            <a:ext cx="3063240" cy="512064"/>
          </a:xfrm>
          <a:prstGeom prst="roundRect">
            <a:avLst>
              <a:gd name="adj" fmla="val 5357"/>
            </a:avLst>
          </a:prstGeom>
          <a:solidFill>
            <a:srgbClr val="F7F2EA"/>
          </a:solidFill>
          <a:ln w="12700">
            <a:solidFill>
              <a:srgbClr val="D8CDBA"/>
            </a:solidFill>
            <a:prstDash val="solid"/>
          </a:ln>
        </p:spPr>
        <p:txBody>
          <a:bodyPr/>
          <a:lstStyle/>
          <a:p>
            <a:endParaRPr lang="en-US"/>
          </a:p>
        </p:txBody>
      </p:sp>
      <p:sp>
        <p:nvSpPr>
          <p:cNvPr id="31" name="Text 29"/>
          <p:cNvSpPr/>
          <p:nvPr/>
        </p:nvSpPr>
        <p:spPr>
          <a:xfrm>
            <a:off x="3648456" y="2606040"/>
            <a:ext cx="2916936" cy="365760"/>
          </a:xfrm>
          <a:prstGeom prst="rect">
            <a:avLst/>
          </a:prstGeom>
          <a:noFill/>
          <a:ln/>
        </p:spPr>
        <p:txBody>
          <a:bodyPr wrap="square" lIns="0" tIns="0" rIns="0" bIns="0" rtlCol="0" anchor="ctr"/>
          <a:lstStyle/>
          <a:p>
            <a:pPr marL="0" indent="0">
              <a:buNone/>
            </a:pPr>
            <a:r>
              <a:rPr lang="en-US" sz="910" dirty="0">
                <a:solidFill>
                  <a:srgbClr val="2C2C2C"/>
                </a:solidFill>
                <a:latin typeface="Aptos" pitchFamily="34" charset="0"/>
                <a:ea typeface="Aptos" pitchFamily="34" charset="-122"/>
                <a:cs typeface="Aptos" pitchFamily="34" charset="-120"/>
              </a:rPr>
              <a:t>Creator-led “this week from Dunnes” videos, haul-to-home transformations, quick recipes, styling edits.</a:t>
            </a:r>
            <a:endParaRPr lang="en-US" sz="910" dirty="0"/>
          </a:p>
        </p:txBody>
      </p:sp>
      <p:sp>
        <p:nvSpPr>
          <p:cNvPr id="32" name="Shape 30"/>
          <p:cNvSpPr/>
          <p:nvPr/>
        </p:nvSpPr>
        <p:spPr>
          <a:xfrm>
            <a:off x="6711696" y="2542032"/>
            <a:ext cx="2148840" cy="512064"/>
          </a:xfrm>
          <a:prstGeom prst="roundRect">
            <a:avLst>
              <a:gd name="adj" fmla="val 5357"/>
            </a:avLst>
          </a:prstGeom>
          <a:solidFill>
            <a:srgbClr val="F7F2EA"/>
          </a:solidFill>
          <a:ln w="12700">
            <a:solidFill>
              <a:srgbClr val="D8CDBA"/>
            </a:solidFill>
            <a:prstDash val="solid"/>
          </a:ln>
        </p:spPr>
        <p:txBody>
          <a:bodyPr/>
          <a:lstStyle/>
          <a:p>
            <a:endParaRPr lang="en-US"/>
          </a:p>
        </p:txBody>
      </p:sp>
      <p:sp>
        <p:nvSpPr>
          <p:cNvPr id="33" name="Text 31"/>
          <p:cNvSpPr/>
          <p:nvPr/>
        </p:nvSpPr>
        <p:spPr>
          <a:xfrm>
            <a:off x="6784848" y="2606040"/>
            <a:ext cx="2002536" cy="365760"/>
          </a:xfrm>
          <a:prstGeom prst="rect">
            <a:avLst/>
          </a:prstGeom>
          <a:noFill/>
          <a:ln/>
        </p:spPr>
        <p:txBody>
          <a:bodyPr wrap="square" lIns="0" tIns="0" rIns="0" bIns="0" rtlCol="0" anchor="ctr"/>
          <a:lstStyle/>
          <a:p>
            <a:pPr marL="0" indent="0">
              <a:buNone/>
            </a:pPr>
            <a:r>
              <a:rPr lang="en-US" sz="910" dirty="0">
                <a:solidFill>
                  <a:srgbClr val="2C2C2C"/>
                </a:solidFill>
                <a:latin typeface="Aptos" pitchFamily="34" charset="0"/>
                <a:ea typeface="Aptos" pitchFamily="34" charset="-122"/>
                <a:cs typeface="Aptos" pitchFamily="34" charset="-120"/>
              </a:rPr>
              <a:t>Cultural relevance, reach, talkability</a:t>
            </a:r>
            <a:endParaRPr lang="en-US" sz="910" dirty="0"/>
          </a:p>
        </p:txBody>
      </p:sp>
      <p:sp>
        <p:nvSpPr>
          <p:cNvPr id="34" name="Shape 32"/>
          <p:cNvSpPr/>
          <p:nvPr/>
        </p:nvSpPr>
        <p:spPr>
          <a:xfrm>
            <a:off x="8933688" y="2542032"/>
            <a:ext cx="2697480" cy="512064"/>
          </a:xfrm>
          <a:prstGeom prst="roundRect">
            <a:avLst>
              <a:gd name="adj" fmla="val 5357"/>
            </a:avLst>
          </a:prstGeom>
          <a:solidFill>
            <a:srgbClr val="F7F2EA"/>
          </a:solidFill>
          <a:ln w="12700">
            <a:solidFill>
              <a:srgbClr val="D8CDBA"/>
            </a:solidFill>
            <a:prstDash val="solid"/>
          </a:ln>
        </p:spPr>
        <p:txBody>
          <a:bodyPr/>
          <a:lstStyle/>
          <a:p>
            <a:endParaRPr lang="en-US"/>
          </a:p>
        </p:txBody>
      </p:sp>
      <p:sp>
        <p:nvSpPr>
          <p:cNvPr id="35" name="Text 33"/>
          <p:cNvSpPr/>
          <p:nvPr/>
        </p:nvSpPr>
        <p:spPr>
          <a:xfrm>
            <a:off x="9006840" y="2606040"/>
            <a:ext cx="2551176" cy="365760"/>
          </a:xfrm>
          <a:prstGeom prst="rect">
            <a:avLst/>
          </a:prstGeom>
          <a:noFill/>
          <a:ln/>
        </p:spPr>
        <p:txBody>
          <a:bodyPr wrap="square" lIns="0" tIns="0" rIns="0" bIns="0" rtlCol="0" anchor="ctr"/>
          <a:lstStyle/>
          <a:p>
            <a:pPr marL="0" indent="0">
              <a:buNone/>
            </a:pPr>
            <a:r>
              <a:rPr lang="en-US" sz="910" dirty="0">
                <a:solidFill>
                  <a:srgbClr val="2C2C2C"/>
                </a:solidFill>
                <a:latin typeface="Aptos" pitchFamily="34" charset="0"/>
                <a:ea typeface="Aptos" pitchFamily="34" charset="-122"/>
                <a:cs typeface="Aptos" pitchFamily="34" charset="-120"/>
              </a:rPr>
              <a:t>Views, completion, engagement, creator whitelisted CTR</a:t>
            </a:r>
            <a:endParaRPr lang="en-US" sz="910" dirty="0"/>
          </a:p>
        </p:txBody>
      </p:sp>
      <p:sp>
        <p:nvSpPr>
          <p:cNvPr id="36" name="Shape 34"/>
          <p:cNvSpPr/>
          <p:nvPr/>
        </p:nvSpPr>
        <p:spPr>
          <a:xfrm>
            <a:off x="868680" y="3145536"/>
            <a:ext cx="1554480" cy="512064"/>
          </a:xfrm>
          <a:prstGeom prst="roundRect">
            <a:avLst>
              <a:gd name="adj" fmla="val 5357"/>
            </a:avLst>
          </a:prstGeom>
          <a:solidFill>
            <a:srgbClr val="FBF8F1"/>
          </a:solidFill>
          <a:ln w="12700">
            <a:solidFill>
              <a:srgbClr val="D8CDBA"/>
            </a:solidFill>
            <a:prstDash val="solid"/>
          </a:ln>
        </p:spPr>
        <p:txBody>
          <a:bodyPr/>
          <a:lstStyle/>
          <a:p>
            <a:endParaRPr lang="en-US"/>
          </a:p>
        </p:txBody>
      </p:sp>
      <p:sp>
        <p:nvSpPr>
          <p:cNvPr id="37" name="Text 35"/>
          <p:cNvSpPr/>
          <p:nvPr/>
        </p:nvSpPr>
        <p:spPr>
          <a:xfrm>
            <a:off x="941832" y="3209544"/>
            <a:ext cx="1408176" cy="365760"/>
          </a:xfrm>
          <a:prstGeom prst="rect">
            <a:avLst/>
          </a:prstGeom>
          <a:noFill/>
          <a:ln/>
        </p:spPr>
        <p:txBody>
          <a:bodyPr wrap="square" lIns="0" tIns="0" rIns="0" bIns="0" rtlCol="0" anchor="ctr"/>
          <a:lstStyle/>
          <a:p>
            <a:pPr marL="0" indent="0">
              <a:buNone/>
            </a:pPr>
            <a:r>
              <a:rPr lang="en-US" sz="1020" b="1" dirty="0">
                <a:solidFill>
                  <a:srgbClr val="113E36"/>
                </a:solidFill>
                <a:latin typeface="Aptos" pitchFamily="34" charset="0"/>
                <a:ea typeface="Aptos" pitchFamily="34" charset="-122"/>
                <a:cs typeface="Aptos" pitchFamily="34" charset="-120"/>
              </a:rPr>
              <a:t>YouTube</a:t>
            </a:r>
            <a:endParaRPr lang="en-US" sz="1020" dirty="0"/>
          </a:p>
        </p:txBody>
      </p:sp>
      <p:sp>
        <p:nvSpPr>
          <p:cNvPr id="38" name="Shape 36"/>
          <p:cNvSpPr/>
          <p:nvPr/>
        </p:nvSpPr>
        <p:spPr>
          <a:xfrm>
            <a:off x="2496312" y="3145536"/>
            <a:ext cx="1005840" cy="512064"/>
          </a:xfrm>
          <a:prstGeom prst="roundRect">
            <a:avLst>
              <a:gd name="adj" fmla="val 5357"/>
            </a:avLst>
          </a:prstGeom>
          <a:solidFill>
            <a:srgbClr val="FBF8F1"/>
          </a:solidFill>
          <a:ln w="12700">
            <a:solidFill>
              <a:srgbClr val="D8CDBA"/>
            </a:solidFill>
            <a:prstDash val="solid"/>
          </a:ln>
        </p:spPr>
        <p:txBody>
          <a:bodyPr/>
          <a:lstStyle/>
          <a:p>
            <a:endParaRPr lang="en-US"/>
          </a:p>
        </p:txBody>
      </p:sp>
      <p:sp>
        <p:nvSpPr>
          <p:cNvPr id="39" name="Text 37"/>
          <p:cNvSpPr/>
          <p:nvPr/>
        </p:nvSpPr>
        <p:spPr>
          <a:xfrm>
            <a:off x="2569464" y="3209544"/>
            <a:ext cx="859536" cy="365760"/>
          </a:xfrm>
          <a:prstGeom prst="rect">
            <a:avLst/>
          </a:prstGeom>
          <a:noFill/>
          <a:ln/>
        </p:spPr>
        <p:txBody>
          <a:bodyPr wrap="square" lIns="0" tIns="0" rIns="0" bIns="0" rtlCol="0" anchor="ctr"/>
          <a:lstStyle/>
          <a:p>
            <a:pPr marL="0" indent="0">
              <a:buNone/>
            </a:pPr>
            <a:r>
              <a:rPr lang="en-US" sz="910" b="1" dirty="0">
                <a:solidFill>
                  <a:srgbClr val="2C2C2C"/>
                </a:solidFill>
                <a:latin typeface="Aptos" pitchFamily="34" charset="0"/>
                <a:ea typeface="Aptos" pitchFamily="34" charset="-122"/>
                <a:cs typeface="Aptos" pitchFamily="34" charset="-120"/>
              </a:rPr>
              <a:t>Paid</a:t>
            </a:r>
            <a:endParaRPr lang="en-US" sz="910" dirty="0"/>
          </a:p>
        </p:txBody>
      </p:sp>
      <p:sp>
        <p:nvSpPr>
          <p:cNvPr id="40" name="Shape 38"/>
          <p:cNvSpPr/>
          <p:nvPr/>
        </p:nvSpPr>
        <p:spPr>
          <a:xfrm>
            <a:off x="3575304" y="3145536"/>
            <a:ext cx="3063240" cy="512064"/>
          </a:xfrm>
          <a:prstGeom prst="roundRect">
            <a:avLst>
              <a:gd name="adj" fmla="val 5357"/>
            </a:avLst>
          </a:prstGeom>
          <a:solidFill>
            <a:srgbClr val="FBF8F1"/>
          </a:solidFill>
          <a:ln w="12700">
            <a:solidFill>
              <a:srgbClr val="D8CDBA"/>
            </a:solidFill>
            <a:prstDash val="solid"/>
          </a:ln>
        </p:spPr>
        <p:txBody>
          <a:bodyPr/>
          <a:lstStyle/>
          <a:p>
            <a:endParaRPr lang="en-US"/>
          </a:p>
        </p:txBody>
      </p:sp>
      <p:sp>
        <p:nvSpPr>
          <p:cNvPr id="41" name="Text 39"/>
          <p:cNvSpPr/>
          <p:nvPr/>
        </p:nvSpPr>
        <p:spPr>
          <a:xfrm>
            <a:off x="3648456" y="3209544"/>
            <a:ext cx="2916936" cy="365760"/>
          </a:xfrm>
          <a:prstGeom prst="rect">
            <a:avLst/>
          </a:prstGeom>
          <a:noFill/>
          <a:ln/>
        </p:spPr>
        <p:txBody>
          <a:bodyPr wrap="square" lIns="0" tIns="0" rIns="0" bIns="0" rtlCol="0" anchor="ctr"/>
          <a:lstStyle/>
          <a:p>
            <a:pPr marL="0" indent="0">
              <a:buNone/>
            </a:pPr>
            <a:r>
              <a:rPr lang="en-US" sz="910" dirty="0">
                <a:solidFill>
                  <a:srgbClr val="2C2C2C"/>
                </a:solidFill>
                <a:latin typeface="Aptos" pitchFamily="34" charset="0"/>
                <a:ea typeface="Aptos" pitchFamily="34" charset="-122"/>
                <a:cs typeface="Aptos" pitchFamily="34" charset="-120"/>
              </a:rPr>
              <a:t>6s bumpers + 15s cutdowns that dramatise “worth bringing home” moments.</a:t>
            </a:r>
            <a:endParaRPr lang="en-US" sz="910" dirty="0"/>
          </a:p>
        </p:txBody>
      </p:sp>
      <p:sp>
        <p:nvSpPr>
          <p:cNvPr id="42" name="Shape 40"/>
          <p:cNvSpPr/>
          <p:nvPr/>
        </p:nvSpPr>
        <p:spPr>
          <a:xfrm>
            <a:off x="6711696" y="3145536"/>
            <a:ext cx="2148840" cy="512064"/>
          </a:xfrm>
          <a:prstGeom prst="roundRect">
            <a:avLst>
              <a:gd name="adj" fmla="val 5357"/>
            </a:avLst>
          </a:prstGeom>
          <a:solidFill>
            <a:srgbClr val="FBF8F1"/>
          </a:solidFill>
          <a:ln w="12700">
            <a:solidFill>
              <a:srgbClr val="D8CDBA"/>
            </a:solidFill>
            <a:prstDash val="solid"/>
          </a:ln>
        </p:spPr>
        <p:txBody>
          <a:bodyPr/>
          <a:lstStyle/>
          <a:p>
            <a:endParaRPr lang="en-US"/>
          </a:p>
        </p:txBody>
      </p:sp>
      <p:sp>
        <p:nvSpPr>
          <p:cNvPr id="43" name="Text 41"/>
          <p:cNvSpPr/>
          <p:nvPr/>
        </p:nvSpPr>
        <p:spPr>
          <a:xfrm>
            <a:off x="6784848" y="3209544"/>
            <a:ext cx="2002536" cy="365760"/>
          </a:xfrm>
          <a:prstGeom prst="rect">
            <a:avLst/>
          </a:prstGeom>
          <a:noFill/>
          <a:ln/>
        </p:spPr>
        <p:txBody>
          <a:bodyPr wrap="square" lIns="0" tIns="0" rIns="0" bIns="0" rtlCol="0" anchor="ctr"/>
          <a:lstStyle/>
          <a:p>
            <a:pPr marL="0" indent="0">
              <a:buNone/>
            </a:pPr>
            <a:r>
              <a:rPr lang="en-US" sz="910" dirty="0">
                <a:solidFill>
                  <a:srgbClr val="2C2C2C"/>
                </a:solidFill>
                <a:latin typeface="Aptos" pitchFamily="34" charset="0"/>
                <a:ea typeface="Aptos" pitchFamily="34" charset="-122"/>
                <a:cs typeface="Aptos" pitchFamily="34" charset="-120"/>
              </a:rPr>
              <a:t>Top-funnel fame</a:t>
            </a:r>
            <a:endParaRPr lang="en-US" sz="910" dirty="0"/>
          </a:p>
        </p:txBody>
      </p:sp>
      <p:sp>
        <p:nvSpPr>
          <p:cNvPr id="44" name="Shape 42"/>
          <p:cNvSpPr/>
          <p:nvPr/>
        </p:nvSpPr>
        <p:spPr>
          <a:xfrm>
            <a:off x="8933688" y="3145536"/>
            <a:ext cx="2697480" cy="512064"/>
          </a:xfrm>
          <a:prstGeom prst="roundRect">
            <a:avLst>
              <a:gd name="adj" fmla="val 5357"/>
            </a:avLst>
          </a:prstGeom>
          <a:solidFill>
            <a:srgbClr val="FBF8F1"/>
          </a:solidFill>
          <a:ln w="12700">
            <a:solidFill>
              <a:srgbClr val="D8CDBA"/>
            </a:solidFill>
            <a:prstDash val="solid"/>
          </a:ln>
        </p:spPr>
        <p:txBody>
          <a:bodyPr/>
          <a:lstStyle/>
          <a:p>
            <a:endParaRPr lang="en-US"/>
          </a:p>
        </p:txBody>
      </p:sp>
      <p:sp>
        <p:nvSpPr>
          <p:cNvPr id="45" name="Text 43"/>
          <p:cNvSpPr/>
          <p:nvPr/>
        </p:nvSpPr>
        <p:spPr>
          <a:xfrm>
            <a:off x="9006840" y="3209544"/>
            <a:ext cx="2551176" cy="365760"/>
          </a:xfrm>
          <a:prstGeom prst="rect">
            <a:avLst/>
          </a:prstGeom>
          <a:noFill/>
          <a:ln/>
        </p:spPr>
        <p:txBody>
          <a:bodyPr wrap="square" lIns="0" tIns="0" rIns="0" bIns="0" rtlCol="0" anchor="ctr"/>
          <a:lstStyle/>
          <a:p>
            <a:pPr marL="0" indent="0">
              <a:buNone/>
            </a:pPr>
            <a:r>
              <a:rPr lang="en-US" sz="910" dirty="0">
                <a:solidFill>
                  <a:srgbClr val="2C2C2C"/>
                </a:solidFill>
                <a:latin typeface="Aptos" pitchFamily="34" charset="0"/>
                <a:ea typeface="Aptos" pitchFamily="34" charset="-122"/>
                <a:cs typeface="Aptos" pitchFamily="34" charset="-120"/>
              </a:rPr>
              <a:t>Reach, VTR, CPM</a:t>
            </a:r>
            <a:endParaRPr lang="en-US" sz="910" dirty="0"/>
          </a:p>
        </p:txBody>
      </p:sp>
      <p:sp>
        <p:nvSpPr>
          <p:cNvPr id="46" name="Shape 44"/>
          <p:cNvSpPr/>
          <p:nvPr/>
        </p:nvSpPr>
        <p:spPr>
          <a:xfrm>
            <a:off x="868680" y="3749040"/>
            <a:ext cx="1554480" cy="512064"/>
          </a:xfrm>
          <a:prstGeom prst="roundRect">
            <a:avLst>
              <a:gd name="adj" fmla="val 5357"/>
            </a:avLst>
          </a:prstGeom>
          <a:solidFill>
            <a:srgbClr val="F7F2EA"/>
          </a:solidFill>
          <a:ln w="12700">
            <a:solidFill>
              <a:srgbClr val="D8CDBA"/>
            </a:solidFill>
            <a:prstDash val="solid"/>
          </a:ln>
        </p:spPr>
        <p:txBody>
          <a:bodyPr/>
          <a:lstStyle/>
          <a:p>
            <a:endParaRPr lang="en-US"/>
          </a:p>
        </p:txBody>
      </p:sp>
      <p:sp>
        <p:nvSpPr>
          <p:cNvPr id="47" name="Text 45"/>
          <p:cNvSpPr/>
          <p:nvPr/>
        </p:nvSpPr>
        <p:spPr>
          <a:xfrm>
            <a:off x="941832" y="3813048"/>
            <a:ext cx="1408176" cy="365760"/>
          </a:xfrm>
          <a:prstGeom prst="rect">
            <a:avLst/>
          </a:prstGeom>
          <a:noFill/>
          <a:ln/>
        </p:spPr>
        <p:txBody>
          <a:bodyPr wrap="square" lIns="0" tIns="0" rIns="0" bIns="0" rtlCol="0" anchor="ctr"/>
          <a:lstStyle/>
          <a:p>
            <a:pPr marL="0" indent="0">
              <a:buNone/>
            </a:pPr>
            <a:r>
              <a:rPr lang="en-US" sz="1020" b="1" dirty="0">
                <a:solidFill>
                  <a:srgbClr val="113E36"/>
                </a:solidFill>
                <a:latin typeface="Aptos" pitchFamily="34" charset="0"/>
                <a:ea typeface="Aptos" pitchFamily="34" charset="-122"/>
                <a:cs typeface="Aptos" pitchFamily="34" charset="-120"/>
              </a:rPr>
              <a:t>Meta</a:t>
            </a:r>
            <a:endParaRPr lang="en-US" sz="1020" dirty="0"/>
          </a:p>
        </p:txBody>
      </p:sp>
      <p:sp>
        <p:nvSpPr>
          <p:cNvPr id="48" name="Shape 46"/>
          <p:cNvSpPr/>
          <p:nvPr/>
        </p:nvSpPr>
        <p:spPr>
          <a:xfrm>
            <a:off x="2496312" y="3749040"/>
            <a:ext cx="1005840" cy="512064"/>
          </a:xfrm>
          <a:prstGeom prst="roundRect">
            <a:avLst>
              <a:gd name="adj" fmla="val 5357"/>
            </a:avLst>
          </a:prstGeom>
          <a:solidFill>
            <a:srgbClr val="F7F2EA"/>
          </a:solidFill>
          <a:ln w="12700">
            <a:solidFill>
              <a:srgbClr val="D8CDBA"/>
            </a:solidFill>
            <a:prstDash val="solid"/>
          </a:ln>
        </p:spPr>
        <p:txBody>
          <a:bodyPr/>
          <a:lstStyle/>
          <a:p>
            <a:endParaRPr lang="en-US"/>
          </a:p>
        </p:txBody>
      </p:sp>
      <p:sp>
        <p:nvSpPr>
          <p:cNvPr id="49" name="Text 47"/>
          <p:cNvSpPr/>
          <p:nvPr/>
        </p:nvSpPr>
        <p:spPr>
          <a:xfrm>
            <a:off x="2569464" y="3813048"/>
            <a:ext cx="859536" cy="365760"/>
          </a:xfrm>
          <a:prstGeom prst="rect">
            <a:avLst/>
          </a:prstGeom>
          <a:noFill/>
          <a:ln/>
        </p:spPr>
        <p:txBody>
          <a:bodyPr wrap="square" lIns="0" tIns="0" rIns="0" bIns="0" rtlCol="0" anchor="ctr"/>
          <a:lstStyle/>
          <a:p>
            <a:pPr marL="0" indent="0">
              <a:buNone/>
            </a:pPr>
            <a:r>
              <a:rPr lang="en-US" sz="910" b="1" dirty="0">
                <a:solidFill>
                  <a:srgbClr val="2C2C2C"/>
                </a:solidFill>
                <a:latin typeface="Aptos" pitchFamily="34" charset="0"/>
                <a:ea typeface="Aptos" pitchFamily="34" charset="-122"/>
                <a:cs typeface="Aptos" pitchFamily="34" charset="-120"/>
              </a:rPr>
              <a:t>Paid</a:t>
            </a:r>
            <a:endParaRPr lang="en-US" sz="910" dirty="0"/>
          </a:p>
        </p:txBody>
      </p:sp>
      <p:sp>
        <p:nvSpPr>
          <p:cNvPr id="50" name="Shape 48"/>
          <p:cNvSpPr/>
          <p:nvPr/>
        </p:nvSpPr>
        <p:spPr>
          <a:xfrm>
            <a:off x="3575304" y="3749040"/>
            <a:ext cx="3063240" cy="512064"/>
          </a:xfrm>
          <a:prstGeom prst="roundRect">
            <a:avLst>
              <a:gd name="adj" fmla="val 5357"/>
            </a:avLst>
          </a:prstGeom>
          <a:solidFill>
            <a:srgbClr val="F7F2EA"/>
          </a:solidFill>
          <a:ln w="12700">
            <a:solidFill>
              <a:srgbClr val="D8CDBA"/>
            </a:solidFill>
            <a:prstDash val="solid"/>
          </a:ln>
        </p:spPr>
        <p:txBody>
          <a:bodyPr/>
          <a:lstStyle/>
          <a:p>
            <a:endParaRPr lang="en-US"/>
          </a:p>
        </p:txBody>
      </p:sp>
      <p:sp>
        <p:nvSpPr>
          <p:cNvPr id="51" name="Text 49"/>
          <p:cNvSpPr/>
          <p:nvPr/>
        </p:nvSpPr>
        <p:spPr>
          <a:xfrm>
            <a:off x="3648456" y="3813048"/>
            <a:ext cx="2916936" cy="365760"/>
          </a:xfrm>
          <a:prstGeom prst="rect">
            <a:avLst/>
          </a:prstGeom>
          <a:noFill/>
          <a:ln/>
        </p:spPr>
        <p:txBody>
          <a:bodyPr wrap="square" lIns="0" tIns="0" rIns="0" bIns="0" rtlCol="0" anchor="ctr"/>
          <a:lstStyle/>
          <a:p>
            <a:pPr marL="0" indent="0">
              <a:buNone/>
            </a:pPr>
            <a:r>
              <a:rPr lang="en-US" sz="910" dirty="0">
                <a:solidFill>
                  <a:srgbClr val="2C2C2C"/>
                </a:solidFill>
                <a:latin typeface="Aptos" pitchFamily="34" charset="0"/>
                <a:ea typeface="Aptos" pitchFamily="34" charset="-122"/>
                <a:cs typeface="Aptos" pitchFamily="34" charset="-120"/>
              </a:rPr>
              <a:t>Video, carousels, geo-targeted store bursts, retargeting to landing pages and app actions.</a:t>
            </a:r>
            <a:endParaRPr lang="en-US" sz="910" dirty="0"/>
          </a:p>
        </p:txBody>
      </p:sp>
      <p:sp>
        <p:nvSpPr>
          <p:cNvPr id="52" name="Shape 50"/>
          <p:cNvSpPr/>
          <p:nvPr/>
        </p:nvSpPr>
        <p:spPr>
          <a:xfrm>
            <a:off x="6711696" y="3749040"/>
            <a:ext cx="2148840" cy="512064"/>
          </a:xfrm>
          <a:prstGeom prst="roundRect">
            <a:avLst>
              <a:gd name="adj" fmla="val 5357"/>
            </a:avLst>
          </a:prstGeom>
          <a:solidFill>
            <a:srgbClr val="F7F2EA"/>
          </a:solidFill>
          <a:ln w="12700">
            <a:solidFill>
              <a:srgbClr val="D8CDBA"/>
            </a:solidFill>
            <a:prstDash val="solid"/>
          </a:ln>
        </p:spPr>
        <p:txBody>
          <a:bodyPr/>
          <a:lstStyle/>
          <a:p>
            <a:endParaRPr lang="en-US"/>
          </a:p>
        </p:txBody>
      </p:sp>
      <p:sp>
        <p:nvSpPr>
          <p:cNvPr id="53" name="Text 51"/>
          <p:cNvSpPr/>
          <p:nvPr/>
        </p:nvSpPr>
        <p:spPr>
          <a:xfrm>
            <a:off x="6784848" y="3813048"/>
            <a:ext cx="2002536" cy="365760"/>
          </a:xfrm>
          <a:prstGeom prst="rect">
            <a:avLst/>
          </a:prstGeom>
          <a:noFill/>
          <a:ln/>
        </p:spPr>
        <p:txBody>
          <a:bodyPr wrap="square" lIns="0" tIns="0" rIns="0" bIns="0" rtlCol="0" anchor="ctr"/>
          <a:lstStyle/>
          <a:p>
            <a:pPr marL="0" indent="0">
              <a:buNone/>
            </a:pPr>
            <a:r>
              <a:rPr lang="en-US" sz="910" dirty="0">
                <a:solidFill>
                  <a:srgbClr val="2C2C2C"/>
                </a:solidFill>
                <a:latin typeface="Aptos" pitchFamily="34" charset="0"/>
                <a:ea typeface="Aptos" pitchFamily="34" charset="-122"/>
                <a:cs typeface="Aptos" pitchFamily="34" charset="-120"/>
              </a:rPr>
              <a:t>Efficiency + traffic</a:t>
            </a:r>
            <a:endParaRPr lang="en-US" sz="910" dirty="0"/>
          </a:p>
        </p:txBody>
      </p:sp>
      <p:sp>
        <p:nvSpPr>
          <p:cNvPr id="54" name="Shape 52"/>
          <p:cNvSpPr/>
          <p:nvPr/>
        </p:nvSpPr>
        <p:spPr>
          <a:xfrm>
            <a:off x="8933688" y="3749040"/>
            <a:ext cx="2697480" cy="512064"/>
          </a:xfrm>
          <a:prstGeom prst="roundRect">
            <a:avLst>
              <a:gd name="adj" fmla="val 5357"/>
            </a:avLst>
          </a:prstGeom>
          <a:solidFill>
            <a:srgbClr val="F7F2EA"/>
          </a:solidFill>
          <a:ln w="12700">
            <a:solidFill>
              <a:srgbClr val="D8CDBA"/>
            </a:solidFill>
            <a:prstDash val="solid"/>
          </a:ln>
        </p:spPr>
        <p:txBody>
          <a:bodyPr/>
          <a:lstStyle/>
          <a:p>
            <a:endParaRPr lang="en-US"/>
          </a:p>
        </p:txBody>
      </p:sp>
      <p:sp>
        <p:nvSpPr>
          <p:cNvPr id="55" name="Text 53"/>
          <p:cNvSpPr/>
          <p:nvPr/>
        </p:nvSpPr>
        <p:spPr>
          <a:xfrm>
            <a:off x="9006840" y="3813048"/>
            <a:ext cx="2551176" cy="365760"/>
          </a:xfrm>
          <a:prstGeom prst="rect">
            <a:avLst/>
          </a:prstGeom>
          <a:noFill/>
          <a:ln/>
        </p:spPr>
        <p:txBody>
          <a:bodyPr wrap="square" lIns="0" tIns="0" rIns="0" bIns="0" rtlCol="0" anchor="ctr"/>
          <a:lstStyle/>
          <a:p>
            <a:pPr marL="0" indent="0">
              <a:buNone/>
            </a:pPr>
            <a:r>
              <a:rPr lang="en-US" sz="910" dirty="0">
                <a:solidFill>
                  <a:srgbClr val="2C2C2C"/>
                </a:solidFill>
                <a:latin typeface="Aptos" pitchFamily="34" charset="0"/>
                <a:ea typeface="Aptos" pitchFamily="34" charset="-122"/>
                <a:cs typeface="Aptos" pitchFamily="34" charset="-120"/>
              </a:rPr>
              <a:t>CTR, CPC, landing-page visits, store-visit lift</a:t>
            </a:r>
            <a:endParaRPr lang="en-US" sz="910" dirty="0"/>
          </a:p>
        </p:txBody>
      </p:sp>
      <p:sp>
        <p:nvSpPr>
          <p:cNvPr id="56" name="Shape 54"/>
          <p:cNvSpPr/>
          <p:nvPr/>
        </p:nvSpPr>
        <p:spPr>
          <a:xfrm>
            <a:off x="868680" y="4352544"/>
            <a:ext cx="1554480" cy="512064"/>
          </a:xfrm>
          <a:prstGeom prst="roundRect">
            <a:avLst>
              <a:gd name="adj" fmla="val 5357"/>
            </a:avLst>
          </a:prstGeom>
          <a:solidFill>
            <a:srgbClr val="FBF8F1"/>
          </a:solidFill>
          <a:ln w="12700">
            <a:solidFill>
              <a:srgbClr val="D8CDBA"/>
            </a:solidFill>
            <a:prstDash val="solid"/>
          </a:ln>
        </p:spPr>
        <p:txBody>
          <a:bodyPr/>
          <a:lstStyle/>
          <a:p>
            <a:endParaRPr lang="en-US"/>
          </a:p>
        </p:txBody>
      </p:sp>
      <p:sp>
        <p:nvSpPr>
          <p:cNvPr id="57" name="Text 55"/>
          <p:cNvSpPr/>
          <p:nvPr/>
        </p:nvSpPr>
        <p:spPr>
          <a:xfrm>
            <a:off x="941832" y="4416552"/>
            <a:ext cx="1408176" cy="365760"/>
          </a:xfrm>
          <a:prstGeom prst="rect">
            <a:avLst/>
          </a:prstGeom>
          <a:noFill/>
          <a:ln/>
        </p:spPr>
        <p:txBody>
          <a:bodyPr wrap="square" lIns="0" tIns="0" rIns="0" bIns="0" rtlCol="0" anchor="ctr"/>
          <a:lstStyle/>
          <a:p>
            <a:pPr marL="0" indent="0">
              <a:buNone/>
            </a:pPr>
            <a:r>
              <a:rPr lang="en-US" sz="1020" b="1" dirty="0">
                <a:solidFill>
                  <a:srgbClr val="113E36"/>
                </a:solidFill>
                <a:latin typeface="Aptos" pitchFamily="34" charset="0"/>
                <a:ea typeface="Aptos" pitchFamily="34" charset="-122"/>
                <a:cs typeface="Aptos" pitchFamily="34" charset="-120"/>
              </a:rPr>
              <a:t>OOH / DOOH</a:t>
            </a:r>
            <a:endParaRPr lang="en-US" sz="1020" dirty="0"/>
          </a:p>
        </p:txBody>
      </p:sp>
      <p:sp>
        <p:nvSpPr>
          <p:cNvPr id="58" name="Shape 56"/>
          <p:cNvSpPr/>
          <p:nvPr/>
        </p:nvSpPr>
        <p:spPr>
          <a:xfrm>
            <a:off x="2496312" y="4352544"/>
            <a:ext cx="1005840" cy="512064"/>
          </a:xfrm>
          <a:prstGeom prst="roundRect">
            <a:avLst>
              <a:gd name="adj" fmla="val 5357"/>
            </a:avLst>
          </a:prstGeom>
          <a:solidFill>
            <a:srgbClr val="FBF8F1"/>
          </a:solidFill>
          <a:ln w="12700">
            <a:solidFill>
              <a:srgbClr val="D8CDBA"/>
            </a:solidFill>
            <a:prstDash val="solid"/>
          </a:ln>
        </p:spPr>
        <p:txBody>
          <a:bodyPr/>
          <a:lstStyle/>
          <a:p>
            <a:endParaRPr lang="en-US"/>
          </a:p>
        </p:txBody>
      </p:sp>
      <p:sp>
        <p:nvSpPr>
          <p:cNvPr id="59" name="Text 57"/>
          <p:cNvSpPr/>
          <p:nvPr/>
        </p:nvSpPr>
        <p:spPr>
          <a:xfrm>
            <a:off x="2569464" y="4416552"/>
            <a:ext cx="859536" cy="365760"/>
          </a:xfrm>
          <a:prstGeom prst="rect">
            <a:avLst/>
          </a:prstGeom>
          <a:noFill/>
          <a:ln/>
        </p:spPr>
        <p:txBody>
          <a:bodyPr wrap="square" lIns="0" tIns="0" rIns="0" bIns="0" rtlCol="0" anchor="ctr"/>
          <a:lstStyle/>
          <a:p>
            <a:pPr marL="0" indent="0">
              <a:buNone/>
            </a:pPr>
            <a:r>
              <a:rPr lang="en-US" sz="910" b="1" dirty="0">
                <a:solidFill>
                  <a:srgbClr val="2C2C2C"/>
                </a:solidFill>
                <a:latin typeface="Aptos" pitchFamily="34" charset="0"/>
                <a:ea typeface="Aptos" pitchFamily="34" charset="-122"/>
                <a:cs typeface="Aptos" pitchFamily="34" charset="-120"/>
              </a:rPr>
              <a:t>Paid traditional</a:t>
            </a:r>
            <a:endParaRPr lang="en-US" sz="910" dirty="0"/>
          </a:p>
        </p:txBody>
      </p:sp>
      <p:sp>
        <p:nvSpPr>
          <p:cNvPr id="60" name="Shape 58"/>
          <p:cNvSpPr/>
          <p:nvPr/>
        </p:nvSpPr>
        <p:spPr>
          <a:xfrm>
            <a:off x="3575304" y="4352544"/>
            <a:ext cx="3063240" cy="512064"/>
          </a:xfrm>
          <a:prstGeom prst="roundRect">
            <a:avLst>
              <a:gd name="adj" fmla="val 5357"/>
            </a:avLst>
          </a:prstGeom>
          <a:solidFill>
            <a:srgbClr val="FBF8F1"/>
          </a:solidFill>
          <a:ln w="12700">
            <a:solidFill>
              <a:srgbClr val="D8CDBA"/>
            </a:solidFill>
            <a:prstDash val="solid"/>
          </a:ln>
        </p:spPr>
        <p:txBody>
          <a:bodyPr/>
          <a:lstStyle/>
          <a:p>
            <a:endParaRPr lang="en-US"/>
          </a:p>
        </p:txBody>
      </p:sp>
      <p:sp>
        <p:nvSpPr>
          <p:cNvPr id="61" name="Text 59"/>
          <p:cNvSpPr/>
          <p:nvPr/>
        </p:nvSpPr>
        <p:spPr>
          <a:xfrm>
            <a:off x="3648456" y="4416552"/>
            <a:ext cx="2916936" cy="365760"/>
          </a:xfrm>
          <a:prstGeom prst="rect">
            <a:avLst/>
          </a:prstGeom>
          <a:noFill/>
          <a:ln/>
        </p:spPr>
        <p:txBody>
          <a:bodyPr wrap="square" lIns="0" tIns="0" rIns="0" bIns="0" rtlCol="0" anchor="ctr"/>
          <a:lstStyle/>
          <a:p>
            <a:pPr marL="0" indent="0">
              <a:buNone/>
            </a:pPr>
            <a:r>
              <a:rPr lang="en-US" sz="910" dirty="0">
                <a:solidFill>
                  <a:srgbClr val="2C2C2C"/>
                </a:solidFill>
                <a:latin typeface="Aptos" pitchFamily="34" charset="0"/>
                <a:ea typeface="Aptos" pitchFamily="34" charset="-122"/>
                <a:cs typeface="Aptos" pitchFamily="34" charset="-120"/>
              </a:rPr>
              <a:t>Store-near sites, commuter routes, city-centre seasonal bursts, bag-led visuals.</a:t>
            </a:r>
            <a:endParaRPr lang="en-US" sz="910" dirty="0"/>
          </a:p>
        </p:txBody>
      </p:sp>
      <p:sp>
        <p:nvSpPr>
          <p:cNvPr id="62" name="Shape 60"/>
          <p:cNvSpPr/>
          <p:nvPr/>
        </p:nvSpPr>
        <p:spPr>
          <a:xfrm>
            <a:off x="6711696" y="4352544"/>
            <a:ext cx="2148840" cy="512064"/>
          </a:xfrm>
          <a:prstGeom prst="roundRect">
            <a:avLst>
              <a:gd name="adj" fmla="val 5357"/>
            </a:avLst>
          </a:prstGeom>
          <a:solidFill>
            <a:srgbClr val="FBF8F1"/>
          </a:solidFill>
          <a:ln w="12700">
            <a:solidFill>
              <a:srgbClr val="D8CDBA"/>
            </a:solidFill>
            <a:prstDash val="solid"/>
          </a:ln>
        </p:spPr>
        <p:txBody>
          <a:bodyPr/>
          <a:lstStyle/>
          <a:p>
            <a:endParaRPr lang="en-US"/>
          </a:p>
        </p:txBody>
      </p:sp>
      <p:sp>
        <p:nvSpPr>
          <p:cNvPr id="63" name="Text 61"/>
          <p:cNvSpPr/>
          <p:nvPr/>
        </p:nvSpPr>
        <p:spPr>
          <a:xfrm>
            <a:off x="6784848" y="4416552"/>
            <a:ext cx="2002536" cy="365760"/>
          </a:xfrm>
          <a:prstGeom prst="rect">
            <a:avLst/>
          </a:prstGeom>
          <a:noFill/>
          <a:ln/>
        </p:spPr>
        <p:txBody>
          <a:bodyPr wrap="square" lIns="0" tIns="0" rIns="0" bIns="0" rtlCol="0" anchor="ctr"/>
          <a:lstStyle/>
          <a:p>
            <a:pPr marL="0" indent="0">
              <a:buNone/>
            </a:pPr>
            <a:r>
              <a:rPr lang="en-US" sz="910" dirty="0">
                <a:solidFill>
                  <a:srgbClr val="2C2C2C"/>
                </a:solidFill>
                <a:latin typeface="Aptos" pitchFamily="34" charset="0"/>
                <a:ea typeface="Aptos" pitchFamily="34" charset="-122"/>
                <a:cs typeface="Aptos" pitchFamily="34" charset="-120"/>
              </a:rPr>
              <a:t>Physical fame + proximity</a:t>
            </a:r>
            <a:endParaRPr lang="en-US" sz="910" dirty="0"/>
          </a:p>
        </p:txBody>
      </p:sp>
      <p:sp>
        <p:nvSpPr>
          <p:cNvPr id="64" name="Shape 62"/>
          <p:cNvSpPr/>
          <p:nvPr/>
        </p:nvSpPr>
        <p:spPr>
          <a:xfrm>
            <a:off x="8933688" y="4352544"/>
            <a:ext cx="2697480" cy="512064"/>
          </a:xfrm>
          <a:prstGeom prst="roundRect">
            <a:avLst>
              <a:gd name="adj" fmla="val 5357"/>
            </a:avLst>
          </a:prstGeom>
          <a:solidFill>
            <a:srgbClr val="FBF8F1"/>
          </a:solidFill>
          <a:ln w="12700">
            <a:solidFill>
              <a:srgbClr val="D8CDBA"/>
            </a:solidFill>
            <a:prstDash val="solid"/>
          </a:ln>
        </p:spPr>
        <p:txBody>
          <a:bodyPr/>
          <a:lstStyle/>
          <a:p>
            <a:endParaRPr lang="en-US"/>
          </a:p>
        </p:txBody>
      </p:sp>
      <p:sp>
        <p:nvSpPr>
          <p:cNvPr id="65" name="Text 63"/>
          <p:cNvSpPr/>
          <p:nvPr/>
        </p:nvSpPr>
        <p:spPr>
          <a:xfrm>
            <a:off x="9006840" y="4416552"/>
            <a:ext cx="2551176" cy="365760"/>
          </a:xfrm>
          <a:prstGeom prst="rect">
            <a:avLst/>
          </a:prstGeom>
          <a:noFill/>
          <a:ln/>
        </p:spPr>
        <p:txBody>
          <a:bodyPr wrap="square" lIns="0" tIns="0" rIns="0" bIns="0" rtlCol="0" anchor="ctr"/>
          <a:lstStyle/>
          <a:p>
            <a:pPr marL="0" indent="0">
              <a:buNone/>
            </a:pPr>
            <a:r>
              <a:rPr lang="en-US" sz="910" dirty="0">
                <a:solidFill>
                  <a:srgbClr val="2C2C2C"/>
                </a:solidFill>
                <a:latin typeface="Aptos" pitchFamily="34" charset="0"/>
                <a:ea typeface="Aptos" pitchFamily="34" charset="-122"/>
                <a:cs typeface="Aptos" pitchFamily="34" charset="-120"/>
              </a:rPr>
              <a:t>Reach, frequency, recall</a:t>
            </a:r>
            <a:endParaRPr lang="en-US" sz="910" dirty="0"/>
          </a:p>
        </p:txBody>
      </p:sp>
      <p:sp>
        <p:nvSpPr>
          <p:cNvPr id="66" name="Shape 64"/>
          <p:cNvSpPr/>
          <p:nvPr/>
        </p:nvSpPr>
        <p:spPr>
          <a:xfrm>
            <a:off x="868680" y="4956048"/>
            <a:ext cx="1554480" cy="512064"/>
          </a:xfrm>
          <a:prstGeom prst="roundRect">
            <a:avLst>
              <a:gd name="adj" fmla="val 5357"/>
            </a:avLst>
          </a:prstGeom>
          <a:solidFill>
            <a:srgbClr val="F7F2EA"/>
          </a:solidFill>
          <a:ln w="12700">
            <a:solidFill>
              <a:srgbClr val="D8CDBA"/>
            </a:solidFill>
            <a:prstDash val="solid"/>
          </a:ln>
        </p:spPr>
        <p:txBody>
          <a:bodyPr/>
          <a:lstStyle/>
          <a:p>
            <a:endParaRPr lang="en-US"/>
          </a:p>
        </p:txBody>
      </p:sp>
      <p:sp>
        <p:nvSpPr>
          <p:cNvPr id="67" name="Text 65"/>
          <p:cNvSpPr/>
          <p:nvPr/>
        </p:nvSpPr>
        <p:spPr>
          <a:xfrm>
            <a:off x="941832" y="5020056"/>
            <a:ext cx="1408176" cy="365760"/>
          </a:xfrm>
          <a:prstGeom prst="rect">
            <a:avLst/>
          </a:prstGeom>
          <a:noFill/>
          <a:ln/>
        </p:spPr>
        <p:txBody>
          <a:bodyPr wrap="square" lIns="0" tIns="0" rIns="0" bIns="0" rtlCol="0" anchor="ctr"/>
          <a:lstStyle/>
          <a:p>
            <a:pPr marL="0" indent="0">
              <a:buNone/>
            </a:pPr>
            <a:r>
              <a:rPr lang="en-US" sz="1020" b="1" dirty="0">
                <a:solidFill>
                  <a:srgbClr val="113E36"/>
                </a:solidFill>
                <a:latin typeface="Aptos" pitchFamily="34" charset="0"/>
                <a:ea typeface="Aptos" pitchFamily="34" charset="-122"/>
                <a:cs typeface="Aptos" pitchFamily="34" charset="-120"/>
              </a:rPr>
              <a:t>App / email / QR</a:t>
            </a:r>
            <a:endParaRPr lang="en-US" sz="1020" dirty="0"/>
          </a:p>
        </p:txBody>
      </p:sp>
      <p:sp>
        <p:nvSpPr>
          <p:cNvPr id="68" name="Shape 66"/>
          <p:cNvSpPr/>
          <p:nvPr/>
        </p:nvSpPr>
        <p:spPr>
          <a:xfrm>
            <a:off x="2496312" y="4956048"/>
            <a:ext cx="1005840" cy="512064"/>
          </a:xfrm>
          <a:prstGeom prst="roundRect">
            <a:avLst>
              <a:gd name="adj" fmla="val 5357"/>
            </a:avLst>
          </a:prstGeom>
          <a:solidFill>
            <a:srgbClr val="F7F2EA"/>
          </a:solidFill>
          <a:ln w="12700">
            <a:solidFill>
              <a:srgbClr val="D8CDBA"/>
            </a:solidFill>
            <a:prstDash val="solid"/>
          </a:ln>
        </p:spPr>
        <p:txBody>
          <a:bodyPr/>
          <a:lstStyle/>
          <a:p>
            <a:endParaRPr lang="en-US"/>
          </a:p>
        </p:txBody>
      </p:sp>
      <p:sp>
        <p:nvSpPr>
          <p:cNvPr id="69" name="Text 67"/>
          <p:cNvSpPr/>
          <p:nvPr/>
        </p:nvSpPr>
        <p:spPr>
          <a:xfrm>
            <a:off x="2569464" y="5020056"/>
            <a:ext cx="859536" cy="365760"/>
          </a:xfrm>
          <a:prstGeom prst="rect">
            <a:avLst/>
          </a:prstGeom>
          <a:noFill/>
          <a:ln/>
        </p:spPr>
        <p:txBody>
          <a:bodyPr wrap="square" lIns="0" tIns="0" rIns="0" bIns="0" rtlCol="0" anchor="ctr"/>
          <a:lstStyle/>
          <a:p>
            <a:pPr marL="0" indent="0">
              <a:buNone/>
            </a:pPr>
            <a:r>
              <a:rPr lang="en-US" sz="910" b="1" dirty="0">
                <a:solidFill>
                  <a:srgbClr val="2C2C2C"/>
                </a:solidFill>
                <a:latin typeface="Aptos" pitchFamily="34" charset="0"/>
                <a:ea typeface="Aptos" pitchFamily="34" charset="-122"/>
                <a:cs typeface="Aptos" pitchFamily="34" charset="-120"/>
              </a:rPr>
              <a:t>Owned</a:t>
            </a:r>
            <a:endParaRPr lang="en-US" sz="910" dirty="0"/>
          </a:p>
        </p:txBody>
      </p:sp>
      <p:sp>
        <p:nvSpPr>
          <p:cNvPr id="70" name="Shape 68"/>
          <p:cNvSpPr/>
          <p:nvPr/>
        </p:nvSpPr>
        <p:spPr>
          <a:xfrm>
            <a:off x="3575304" y="4956048"/>
            <a:ext cx="3063240" cy="512064"/>
          </a:xfrm>
          <a:prstGeom prst="roundRect">
            <a:avLst>
              <a:gd name="adj" fmla="val 5357"/>
            </a:avLst>
          </a:prstGeom>
          <a:solidFill>
            <a:srgbClr val="F7F2EA"/>
          </a:solidFill>
          <a:ln w="12700">
            <a:solidFill>
              <a:srgbClr val="D8CDBA"/>
            </a:solidFill>
            <a:prstDash val="solid"/>
          </a:ln>
        </p:spPr>
        <p:txBody>
          <a:bodyPr/>
          <a:lstStyle/>
          <a:p>
            <a:endParaRPr lang="en-US"/>
          </a:p>
        </p:txBody>
      </p:sp>
      <p:sp>
        <p:nvSpPr>
          <p:cNvPr id="71" name="Text 69"/>
          <p:cNvSpPr/>
          <p:nvPr/>
        </p:nvSpPr>
        <p:spPr>
          <a:xfrm>
            <a:off x="3648456" y="5020056"/>
            <a:ext cx="2916936" cy="365760"/>
          </a:xfrm>
          <a:prstGeom prst="rect">
            <a:avLst/>
          </a:prstGeom>
          <a:noFill/>
          <a:ln/>
        </p:spPr>
        <p:txBody>
          <a:bodyPr wrap="square" lIns="0" tIns="0" rIns="0" bIns="0" rtlCol="0" anchor="ctr"/>
          <a:lstStyle/>
          <a:p>
            <a:pPr marL="0" indent="0">
              <a:buNone/>
            </a:pPr>
            <a:r>
              <a:rPr lang="en-US" sz="910" dirty="0">
                <a:solidFill>
                  <a:srgbClr val="2C2C2C"/>
                </a:solidFill>
                <a:latin typeface="Aptos" pitchFamily="34" charset="0"/>
                <a:ea typeface="Aptos" pitchFamily="34" charset="-122"/>
                <a:cs typeface="Aptos" pitchFamily="34" charset="-120"/>
              </a:rPr>
              <a:t>VALUEclub pushes, wallet nudges, voucher prompts, bag QR and receipt journeys.</a:t>
            </a:r>
            <a:endParaRPr lang="en-US" sz="910" dirty="0"/>
          </a:p>
        </p:txBody>
      </p:sp>
      <p:sp>
        <p:nvSpPr>
          <p:cNvPr id="72" name="Shape 70"/>
          <p:cNvSpPr/>
          <p:nvPr/>
        </p:nvSpPr>
        <p:spPr>
          <a:xfrm>
            <a:off x="6711696" y="4956048"/>
            <a:ext cx="2148840" cy="512064"/>
          </a:xfrm>
          <a:prstGeom prst="roundRect">
            <a:avLst>
              <a:gd name="adj" fmla="val 5357"/>
            </a:avLst>
          </a:prstGeom>
          <a:solidFill>
            <a:srgbClr val="F7F2EA"/>
          </a:solidFill>
          <a:ln w="12700">
            <a:solidFill>
              <a:srgbClr val="D8CDBA"/>
            </a:solidFill>
            <a:prstDash val="solid"/>
          </a:ln>
        </p:spPr>
        <p:txBody>
          <a:bodyPr/>
          <a:lstStyle/>
          <a:p>
            <a:endParaRPr lang="en-US"/>
          </a:p>
        </p:txBody>
      </p:sp>
      <p:sp>
        <p:nvSpPr>
          <p:cNvPr id="73" name="Text 71"/>
          <p:cNvSpPr/>
          <p:nvPr/>
        </p:nvSpPr>
        <p:spPr>
          <a:xfrm>
            <a:off x="6784848" y="5020056"/>
            <a:ext cx="2002536" cy="365760"/>
          </a:xfrm>
          <a:prstGeom prst="rect">
            <a:avLst/>
          </a:prstGeom>
          <a:noFill/>
          <a:ln/>
        </p:spPr>
        <p:txBody>
          <a:bodyPr wrap="square" lIns="0" tIns="0" rIns="0" bIns="0" rtlCol="0" anchor="ctr"/>
          <a:lstStyle/>
          <a:p>
            <a:pPr marL="0" indent="0">
              <a:buNone/>
            </a:pPr>
            <a:r>
              <a:rPr lang="en-US" sz="910" dirty="0">
                <a:solidFill>
                  <a:srgbClr val="2C2C2C"/>
                </a:solidFill>
                <a:latin typeface="Aptos" pitchFamily="34" charset="0"/>
                <a:ea typeface="Aptos" pitchFamily="34" charset="-122"/>
                <a:cs typeface="Aptos" pitchFamily="34" charset="-120"/>
              </a:rPr>
              <a:t>Conversion + loyalty</a:t>
            </a:r>
            <a:endParaRPr lang="en-US" sz="910" dirty="0"/>
          </a:p>
        </p:txBody>
      </p:sp>
      <p:sp>
        <p:nvSpPr>
          <p:cNvPr id="74" name="Shape 72"/>
          <p:cNvSpPr/>
          <p:nvPr/>
        </p:nvSpPr>
        <p:spPr>
          <a:xfrm>
            <a:off x="8933688" y="4956048"/>
            <a:ext cx="2697480" cy="512064"/>
          </a:xfrm>
          <a:prstGeom prst="roundRect">
            <a:avLst>
              <a:gd name="adj" fmla="val 5357"/>
            </a:avLst>
          </a:prstGeom>
          <a:solidFill>
            <a:srgbClr val="F7F2EA"/>
          </a:solidFill>
          <a:ln w="12700">
            <a:solidFill>
              <a:srgbClr val="D8CDBA"/>
            </a:solidFill>
            <a:prstDash val="solid"/>
          </a:ln>
        </p:spPr>
        <p:txBody>
          <a:bodyPr/>
          <a:lstStyle/>
          <a:p>
            <a:endParaRPr lang="en-US"/>
          </a:p>
        </p:txBody>
      </p:sp>
      <p:sp>
        <p:nvSpPr>
          <p:cNvPr id="75" name="Text 73"/>
          <p:cNvSpPr/>
          <p:nvPr/>
        </p:nvSpPr>
        <p:spPr>
          <a:xfrm>
            <a:off x="9006840" y="5020056"/>
            <a:ext cx="2551176" cy="365760"/>
          </a:xfrm>
          <a:prstGeom prst="rect">
            <a:avLst/>
          </a:prstGeom>
          <a:noFill/>
          <a:ln/>
        </p:spPr>
        <p:txBody>
          <a:bodyPr wrap="square" lIns="0" tIns="0" rIns="0" bIns="0" rtlCol="0" anchor="ctr"/>
          <a:lstStyle/>
          <a:p>
            <a:pPr marL="0" indent="0">
              <a:buNone/>
            </a:pPr>
            <a:r>
              <a:rPr lang="en-US" sz="910" dirty="0">
                <a:solidFill>
                  <a:srgbClr val="2C2C2C"/>
                </a:solidFill>
                <a:latin typeface="Aptos" pitchFamily="34" charset="0"/>
                <a:ea typeface="Aptos" pitchFamily="34" charset="-122"/>
                <a:cs typeface="Aptos" pitchFamily="34" charset="-120"/>
              </a:rPr>
              <a:t>Open rate, redemption, scans, repeat visits</a:t>
            </a:r>
            <a:endParaRPr lang="en-US" sz="910" dirty="0"/>
          </a:p>
        </p:txBody>
      </p:sp>
      <p:sp>
        <p:nvSpPr>
          <p:cNvPr id="76" name="Shape 74"/>
          <p:cNvSpPr/>
          <p:nvPr/>
        </p:nvSpPr>
        <p:spPr>
          <a:xfrm>
            <a:off x="868680" y="5728716"/>
            <a:ext cx="3566160" cy="502920"/>
          </a:xfrm>
          <a:prstGeom prst="roundRect">
            <a:avLst>
              <a:gd name="adj" fmla="val 14545"/>
            </a:avLst>
          </a:prstGeom>
          <a:solidFill>
            <a:srgbClr val="113E36"/>
          </a:solidFill>
          <a:ln w="12700">
            <a:solidFill>
              <a:srgbClr val="113E36"/>
            </a:solidFill>
            <a:prstDash val="solid"/>
          </a:ln>
        </p:spPr>
        <p:txBody>
          <a:bodyPr/>
          <a:lstStyle/>
          <a:p>
            <a:endParaRPr lang="en-US"/>
          </a:p>
        </p:txBody>
      </p:sp>
      <p:sp>
        <p:nvSpPr>
          <p:cNvPr id="77" name="Text 75"/>
          <p:cNvSpPr/>
          <p:nvPr/>
        </p:nvSpPr>
        <p:spPr>
          <a:xfrm>
            <a:off x="1033272" y="5751576"/>
            <a:ext cx="3236976" cy="228600"/>
          </a:xfrm>
          <a:prstGeom prst="rect">
            <a:avLst/>
          </a:prstGeom>
          <a:noFill/>
          <a:ln/>
        </p:spPr>
        <p:txBody>
          <a:bodyPr wrap="square" rtlCol="0" anchor="ctr"/>
          <a:lstStyle/>
          <a:p>
            <a:pPr marL="0" indent="0">
              <a:buNone/>
            </a:pPr>
            <a:r>
              <a:rPr lang="en-US" sz="1100" b="1" dirty="0">
                <a:solidFill>
                  <a:srgbClr val="FFFFFF"/>
                </a:solidFill>
                <a:latin typeface="Aptos" pitchFamily="34" charset="0"/>
                <a:ea typeface="Aptos" pitchFamily="34" charset="-122"/>
                <a:cs typeface="Aptos" pitchFamily="34" charset="-120"/>
              </a:rPr>
              <a:t>Recommendation</a:t>
            </a:r>
            <a:endParaRPr lang="en-US" sz="1100" dirty="0"/>
          </a:p>
        </p:txBody>
      </p:sp>
      <p:sp>
        <p:nvSpPr>
          <p:cNvPr id="78" name="Text 76"/>
          <p:cNvSpPr/>
          <p:nvPr/>
        </p:nvSpPr>
        <p:spPr>
          <a:xfrm>
            <a:off x="1033272" y="6025896"/>
            <a:ext cx="3236976" cy="0"/>
          </a:xfrm>
          <a:prstGeom prst="rect">
            <a:avLst/>
          </a:prstGeom>
          <a:noFill/>
          <a:ln/>
        </p:spPr>
        <p:txBody>
          <a:bodyPr wrap="square" lIns="0" tIns="0" rIns="0" bIns="0" rtlCol="0" anchor="t"/>
          <a:lstStyle/>
          <a:p>
            <a:pPr marL="0" indent="0">
              <a:buNone/>
            </a:pPr>
            <a:r>
              <a:rPr lang="en-US" sz="960" dirty="0">
                <a:solidFill>
                  <a:srgbClr val="FFFFFF"/>
                </a:solidFill>
                <a:latin typeface="Aptos" pitchFamily="34" charset="0"/>
                <a:ea typeface="Aptos" pitchFamily="34" charset="-122"/>
                <a:cs typeface="Aptos" pitchFamily="34" charset="-120"/>
              </a:rPr>
              <a:t>Lead with digital + OOH; use owned channels to convert.</a:t>
            </a:r>
            <a:endParaRPr lang="en-US" sz="960" dirty="0"/>
          </a:p>
        </p:txBody>
      </p:sp>
      <p:sp>
        <p:nvSpPr>
          <p:cNvPr id="79" name="Shape 77"/>
          <p:cNvSpPr/>
          <p:nvPr/>
        </p:nvSpPr>
        <p:spPr>
          <a:xfrm>
            <a:off x="4590288" y="5716016"/>
            <a:ext cx="3108960" cy="502920"/>
          </a:xfrm>
          <a:prstGeom prst="roundRect">
            <a:avLst>
              <a:gd name="adj" fmla="val 14545"/>
            </a:avLst>
          </a:prstGeom>
          <a:solidFill>
            <a:srgbClr val="FBF8F1"/>
          </a:solidFill>
          <a:ln w="12700">
            <a:solidFill>
              <a:srgbClr val="D8CDBA"/>
            </a:solidFill>
            <a:prstDash val="solid"/>
          </a:ln>
        </p:spPr>
        <p:txBody>
          <a:bodyPr/>
          <a:lstStyle/>
          <a:p>
            <a:endParaRPr lang="en-US"/>
          </a:p>
        </p:txBody>
      </p:sp>
      <p:sp>
        <p:nvSpPr>
          <p:cNvPr id="80" name="Text 78"/>
          <p:cNvSpPr/>
          <p:nvPr/>
        </p:nvSpPr>
        <p:spPr>
          <a:xfrm>
            <a:off x="4754880" y="5751576"/>
            <a:ext cx="2779776"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Organic rule</a:t>
            </a:r>
            <a:endParaRPr lang="en-US" sz="1300" dirty="0"/>
          </a:p>
        </p:txBody>
      </p:sp>
      <p:sp>
        <p:nvSpPr>
          <p:cNvPr id="81" name="Text 79"/>
          <p:cNvSpPr/>
          <p:nvPr/>
        </p:nvSpPr>
        <p:spPr>
          <a:xfrm>
            <a:off x="4754880" y="6025896"/>
            <a:ext cx="2779776" cy="0"/>
          </a:xfrm>
          <a:prstGeom prst="rect">
            <a:avLst/>
          </a:prstGeom>
          <a:noFill/>
          <a:ln/>
        </p:spPr>
        <p:txBody>
          <a:bodyPr wrap="square" lIns="0" tIns="0" rIns="0" bIns="0" rtlCol="0" anchor="t"/>
          <a:lstStyle/>
          <a:p>
            <a:pPr marL="0" indent="0">
              <a:buNone/>
            </a:pPr>
            <a:r>
              <a:rPr lang="en-US" sz="960" dirty="0">
                <a:solidFill>
                  <a:srgbClr val="2C2C2C"/>
                </a:solidFill>
                <a:latin typeface="Aptos" pitchFamily="34" charset="0"/>
                <a:ea typeface="Aptos" pitchFamily="34" charset="-122"/>
                <a:cs typeface="Aptos" pitchFamily="34" charset="-120"/>
              </a:rPr>
              <a:t>Build desire and proof, not only offers.</a:t>
            </a:r>
            <a:endParaRPr lang="en-US" sz="960" dirty="0"/>
          </a:p>
        </p:txBody>
      </p:sp>
      <p:sp>
        <p:nvSpPr>
          <p:cNvPr id="82" name="Shape 80"/>
          <p:cNvSpPr/>
          <p:nvPr/>
        </p:nvSpPr>
        <p:spPr>
          <a:xfrm>
            <a:off x="7854696" y="5716016"/>
            <a:ext cx="3410712" cy="502920"/>
          </a:xfrm>
          <a:prstGeom prst="roundRect">
            <a:avLst>
              <a:gd name="adj" fmla="val 14545"/>
            </a:avLst>
          </a:prstGeom>
          <a:solidFill>
            <a:srgbClr val="FBF8F1"/>
          </a:solidFill>
          <a:ln w="12700">
            <a:solidFill>
              <a:srgbClr val="D8CDBA"/>
            </a:solidFill>
            <a:prstDash val="solid"/>
          </a:ln>
        </p:spPr>
        <p:txBody>
          <a:bodyPr/>
          <a:lstStyle/>
          <a:p>
            <a:endParaRPr lang="en-US"/>
          </a:p>
        </p:txBody>
      </p:sp>
      <p:sp>
        <p:nvSpPr>
          <p:cNvPr id="83" name="Text 81"/>
          <p:cNvSpPr/>
          <p:nvPr/>
        </p:nvSpPr>
        <p:spPr>
          <a:xfrm>
            <a:off x="8019288" y="5751576"/>
            <a:ext cx="3081528"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Boosting rule</a:t>
            </a:r>
            <a:endParaRPr lang="en-US" sz="1300" dirty="0"/>
          </a:p>
        </p:txBody>
      </p:sp>
      <p:sp>
        <p:nvSpPr>
          <p:cNvPr id="84" name="Text 82"/>
          <p:cNvSpPr/>
          <p:nvPr/>
        </p:nvSpPr>
        <p:spPr>
          <a:xfrm>
            <a:off x="8019288" y="6025896"/>
            <a:ext cx="3081528" cy="0"/>
          </a:xfrm>
          <a:prstGeom prst="rect">
            <a:avLst/>
          </a:prstGeom>
          <a:noFill/>
          <a:ln/>
        </p:spPr>
        <p:txBody>
          <a:bodyPr wrap="square" lIns="0" tIns="0" rIns="0" bIns="0" rtlCol="0" anchor="t"/>
          <a:lstStyle/>
          <a:p>
            <a:pPr marL="0" indent="0">
              <a:buNone/>
            </a:pPr>
            <a:r>
              <a:rPr lang="en-US" sz="960" dirty="0">
                <a:solidFill>
                  <a:srgbClr val="2C2C2C"/>
                </a:solidFill>
                <a:latin typeface="Aptos" pitchFamily="34" charset="0"/>
                <a:ea typeface="Aptos" pitchFamily="34" charset="-122"/>
                <a:cs typeface="Aptos" pitchFamily="34" charset="-120"/>
              </a:rPr>
              <a:t>Boost only posts that already earn attention.</a:t>
            </a:r>
            <a:endParaRPr lang="en-US" sz="960" dirty="0"/>
          </a:p>
        </p:txBody>
      </p:sp>
      <p:sp>
        <p:nvSpPr>
          <p:cNvPr id="85" name="Slide Number Placeholder 0"/>
          <p:cNvSpPr>
            <a:spLocks noGrp="1"/>
          </p:cNvSpPr>
          <p:nvPr>
            <p:ph type="sldNum" sz="quarter" idx="4294967295"/>
          </p:nvPr>
        </p:nvSpPr>
        <p:spPr>
          <a:xfrm>
            <a:off x="11658600" y="109728"/>
            <a:ext cx="32004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7D746A"/>
                </a:solidFill>
                <a:latin typeface="Aptos"/>
                <a:ea typeface="Aptos"/>
                <a:cs typeface="Aptos"/>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nvSpPr>
        <p:spPr>
          <a:xfrm>
            <a:off x="914400" y="310896"/>
            <a:ext cx="2286000" cy="164592"/>
          </a:xfrm>
          <a:prstGeom prst="rect">
            <a:avLst/>
          </a:prstGeom>
          <a:noFill/>
          <a:ln/>
        </p:spPr>
        <p:txBody>
          <a:bodyPr wrap="square" rtlCol="0" anchor="ctr"/>
          <a:lstStyle/>
          <a:p>
            <a:pPr marL="0" indent="0">
              <a:buNone/>
            </a:pPr>
            <a:r>
              <a:rPr lang="en-US" sz="900" b="1" dirty="0">
                <a:solidFill>
                  <a:srgbClr val="C96E4D"/>
                </a:solidFill>
                <a:latin typeface="Aptos" pitchFamily="34" charset="0"/>
                <a:ea typeface="Aptos" pitchFamily="34" charset="-122"/>
                <a:cs typeface="Aptos" pitchFamily="34" charset="-120"/>
              </a:rPr>
              <a:t>MEASUREMENT FRAMEWORK</a:t>
            </a:r>
            <a:endParaRPr lang="en-US" sz="900" dirty="0"/>
          </a:p>
        </p:txBody>
      </p:sp>
      <p:sp>
        <p:nvSpPr>
          <p:cNvPr id="4" name="Text 2"/>
          <p:cNvSpPr/>
          <p:nvPr/>
        </p:nvSpPr>
        <p:spPr>
          <a:xfrm>
            <a:off x="868680" y="530352"/>
            <a:ext cx="10789920" cy="502920"/>
          </a:xfrm>
          <a:prstGeom prst="rect">
            <a:avLst/>
          </a:prstGeom>
          <a:noFill/>
          <a:ln/>
        </p:spPr>
        <p:txBody>
          <a:bodyPr wrap="square" rtlCol="0" anchor="ctr"/>
          <a:lstStyle/>
          <a:p>
            <a:pPr marL="0" indent="0">
              <a:buNone/>
            </a:pPr>
            <a:r>
              <a:rPr lang="en-US" sz="2400" b="1" dirty="0">
                <a:solidFill>
                  <a:srgbClr val="113E36"/>
                </a:solidFill>
                <a:latin typeface="Georgia" pitchFamily="34" charset="0"/>
                <a:ea typeface="Georgia" pitchFamily="34" charset="-122"/>
                <a:cs typeface="Georgia" pitchFamily="34" charset="-120"/>
              </a:rPr>
              <a:t>What we will target, and how we will know the campaign is working</a:t>
            </a:r>
            <a:endParaRPr lang="en-US" sz="2400" dirty="0"/>
          </a:p>
        </p:txBody>
      </p:sp>
      <p:sp>
        <p:nvSpPr>
          <p:cNvPr id="5" name="Shape 3"/>
          <p:cNvSpPr/>
          <p:nvPr/>
        </p:nvSpPr>
        <p:spPr>
          <a:xfrm>
            <a:off x="868680" y="1078992"/>
            <a:ext cx="10698480" cy="0"/>
          </a:xfrm>
          <a:prstGeom prst="line">
            <a:avLst/>
          </a:prstGeom>
          <a:noFill/>
          <a:ln w="12700">
            <a:solidFill>
              <a:srgbClr val="D8CDBA"/>
            </a:solidFill>
            <a:prstDash val="solid"/>
          </a:ln>
        </p:spPr>
        <p:txBody>
          <a:bodyPr/>
          <a:lstStyle/>
          <a:p>
            <a:endParaRPr lang="en-US"/>
          </a:p>
        </p:txBody>
      </p:sp>
      <p:sp>
        <p:nvSpPr>
          <p:cNvPr id="6" name="Shape 4"/>
          <p:cNvSpPr/>
          <p:nvPr/>
        </p:nvSpPr>
        <p:spPr>
          <a:xfrm>
            <a:off x="868680" y="1353312"/>
            <a:ext cx="1645920" cy="256032"/>
          </a:xfrm>
          <a:prstGeom prst="roundRect">
            <a:avLst>
              <a:gd name="adj" fmla="val 28571"/>
            </a:avLst>
          </a:prstGeom>
          <a:solidFill>
            <a:srgbClr val="EDE6DA"/>
          </a:solidFill>
          <a:ln w="12700">
            <a:solidFill>
              <a:srgbClr val="D9CCB8"/>
            </a:solidFill>
            <a:prstDash val="solid"/>
          </a:ln>
        </p:spPr>
        <p:txBody>
          <a:bodyPr/>
          <a:lstStyle/>
          <a:p>
            <a:endParaRPr lang="en-US"/>
          </a:p>
        </p:txBody>
      </p:sp>
      <p:sp>
        <p:nvSpPr>
          <p:cNvPr id="7" name="Text 5"/>
          <p:cNvSpPr/>
          <p:nvPr/>
        </p:nvSpPr>
        <p:spPr>
          <a:xfrm>
            <a:off x="941832" y="1408176"/>
            <a:ext cx="1499616" cy="146304"/>
          </a:xfrm>
          <a:prstGeom prst="rect">
            <a:avLst/>
          </a:prstGeom>
          <a:noFill/>
          <a:ln/>
        </p:spPr>
        <p:txBody>
          <a:bodyPr wrap="square" rtlCol="0" anchor="ctr"/>
          <a:lstStyle/>
          <a:p>
            <a:pPr marL="0" indent="0" algn="ctr">
              <a:buNone/>
            </a:pPr>
            <a:r>
              <a:rPr lang="en-US" sz="800" b="1" dirty="0">
                <a:solidFill>
                  <a:srgbClr val="113E36"/>
                </a:solidFill>
                <a:latin typeface="Aptos" pitchFamily="34" charset="0"/>
                <a:ea typeface="Aptos" pitchFamily="34" charset="-122"/>
                <a:cs typeface="Aptos" pitchFamily="34" charset="-120"/>
              </a:rPr>
              <a:t>ORGANIC SOCIAL TARGETS</a:t>
            </a:r>
            <a:endParaRPr lang="en-US" sz="800" dirty="0"/>
          </a:p>
        </p:txBody>
      </p:sp>
      <p:sp>
        <p:nvSpPr>
          <p:cNvPr id="8" name="Shape 6"/>
          <p:cNvSpPr/>
          <p:nvPr/>
        </p:nvSpPr>
        <p:spPr>
          <a:xfrm>
            <a:off x="868680" y="1664208"/>
            <a:ext cx="2468880" cy="1325880"/>
          </a:xfrm>
          <a:prstGeom prst="roundRect">
            <a:avLst>
              <a:gd name="adj" fmla="val 4138"/>
            </a:avLst>
          </a:prstGeom>
          <a:solidFill>
            <a:srgbClr val="FBF8F1"/>
          </a:solidFill>
          <a:ln w="12700">
            <a:solidFill>
              <a:srgbClr val="D8CDBA"/>
            </a:solidFill>
            <a:prstDash val="solid"/>
          </a:ln>
        </p:spPr>
        <p:txBody>
          <a:bodyPr/>
          <a:lstStyle/>
          <a:p>
            <a:endParaRPr lang="en-US"/>
          </a:p>
        </p:txBody>
      </p:sp>
      <p:sp>
        <p:nvSpPr>
          <p:cNvPr id="9" name="Text 7"/>
          <p:cNvSpPr/>
          <p:nvPr/>
        </p:nvSpPr>
        <p:spPr>
          <a:xfrm>
            <a:off x="996696" y="1773936"/>
            <a:ext cx="2212848" cy="182880"/>
          </a:xfrm>
          <a:prstGeom prst="rect">
            <a:avLst/>
          </a:prstGeom>
          <a:noFill/>
          <a:ln/>
        </p:spPr>
        <p:txBody>
          <a:bodyPr wrap="square" rtlCol="0" anchor="ctr"/>
          <a:lstStyle/>
          <a:p>
            <a:pPr marL="0" indent="0">
              <a:buNone/>
            </a:pPr>
            <a:r>
              <a:rPr lang="en-US" sz="1000" b="1" dirty="0">
                <a:solidFill>
                  <a:srgbClr val="113E36"/>
                </a:solidFill>
                <a:latin typeface="Aptos" pitchFamily="34" charset="0"/>
                <a:ea typeface="Aptos" pitchFamily="34" charset="-122"/>
                <a:cs typeface="Aptos" pitchFamily="34" charset="-120"/>
              </a:rPr>
              <a:t>Engagement rate</a:t>
            </a:r>
            <a:endParaRPr lang="en-US" sz="1000" dirty="0"/>
          </a:p>
        </p:txBody>
      </p:sp>
      <p:sp>
        <p:nvSpPr>
          <p:cNvPr id="10" name="Text 8"/>
          <p:cNvSpPr/>
          <p:nvPr/>
        </p:nvSpPr>
        <p:spPr>
          <a:xfrm>
            <a:off x="996696" y="1975104"/>
            <a:ext cx="2212848" cy="201168"/>
          </a:xfrm>
          <a:prstGeom prst="rect">
            <a:avLst/>
          </a:prstGeom>
          <a:noFill/>
          <a:ln/>
        </p:spPr>
        <p:txBody>
          <a:bodyPr wrap="square" rtlCol="0" anchor="ctr"/>
          <a:lstStyle/>
          <a:p>
            <a:pPr marL="0" indent="0">
              <a:buNone/>
            </a:pPr>
            <a:r>
              <a:rPr lang="en-US" sz="1600" b="1" dirty="0">
                <a:solidFill>
                  <a:srgbClr val="B48C52"/>
                </a:solidFill>
                <a:latin typeface="Georgia" pitchFamily="34" charset="0"/>
                <a:ea typeface="Georgia" pitchFamily="34" charset="-122"/>
                <a:cs typeface="Georgia" pitchFamily="34" charset="-120"/>
              </a:rPr>
              <a:t>4%–6%</a:t>
            </a:r>
            <a:endParaRPr lang="en-US" sz="1600" dirty="0"/>
          </a:p>
        </p:txBody>
      </p:sp>
      <p:sp>
        <p:nvSpPr>
          <p:cNvPr id="11" name="Text 9"/>
          <p:cNvSpPr/>
          <p:nvPr/>
        </p:nvSpPr>
        <p:spPr>
          <a:xfrm>
            <a:off x="996696" y="2221992"/>
            <a:ext cx="2212848" cy="667512"/>
          </a:xfrm>
          <a:prstGeom prst="rect">
            <a:avLst/>
          </a:prstGeom>
          <a:noFill/>
          <a:ln/>
        </p:spPr>
        <p:txBody>
          <a:bodyPr wrap="square" rtlCol="0" anchor="ctr"/>
          <a:lstStyle/>
          <a:p>
            <a:pPr marL="0" indent="0">
              <a:buNone/>
            </a:pPr>
            <a:r>
              <a:rPr lang="en-US" sz="880" dirty="0">
                <a:solidFill>
                  <a:srgbClr val="2C2C2C"/>
                </a:solidFill>
                <a:latin typeface="Aptos" pitchFamily="34" charset="0"/>
                <a:ea typeface="Aptos" pitchFamily="34" charset="-122"/>
                <a:cs typeface="Aptos" pitchFamily="34" charset="-120"/>
              </a:rPr>
              <a:t>Combined engagement rate on Instagram / TikTok hero content; higher on creator posts.</a:t>
            </a:r>
            <a:endParaRPr lang="en-US" sz="880" dirty="0"/>
          </a:p>
        </p:txBody>
      </p:sp>
      <p:sp>
        <p:nvSpPr>
          <p:cNvPr id="12" name="Shape 10"/>
          <p:cNvSpPr/>
          <p:nvPr/>
        </p:nvSpPr>
        <p:spPr>
          <a:xfrm>
            <a:off x="3566160" y="1664208"/>
            <a:ext cx="2468880" cy="1325880"/>
          </a:xfrm>
          <a:prstGeom prst="roundRect">
            <a:avLst>
              <a:gd name="adj" fmla="val 4138"/>
            </a:avLst>
          </a:prstGeom>
          <a:solidFill>
            <a:srgbClr val="FBF8F1"/>
          </a:solidFill>
          <a:ln w="12700">
            <a:solidFill>
              <a:srgbClr val="D8CDBA"/>
            </a:solidFill>
            <a:prstDash val="solid"/>
          </a:ln>
        </p:spPr>
        <p:txBody>
          <a:bodyPr/>
          <a:lstStyle/>
          <a:p>
            <a:endParaRPr lang="en-US"/>
          </a:p>
        </p:txBody>
      </p:sp>
      <p:sp>
        <p:nvSpPr>
          <p:cNvPr id="13" name="Text 11"/>
          <p:cNvSpPr/>
          <p:nvPr/>
        </p:nvSpPr>
        <p:spPr>
          <a:xfrm>
            <a:off x="3694176" y="1773936"/>
            <a:ext cx="2212848" cy="182880"/>
          </a:xfrm>
          <a:prstGeom prst="rect">
            <a:avLst/>
          </a:prstGeom>
          <a:noFill/>
          <a:ln/>
        </p:spPr>
        <p:txBody>
          <a:bodyPr wrap="square" rtlCol="0" anchor="ctr"/>
          <a:lstStyle/>
          <a:p>
            <a:pPr marL="0" indent="0">
              <a:buNone/>
            </a:pPr>
            <a:r>
              <a:rPr lang="en-US" sz="1000" b="1" dirty="0">
                <a:solidFill>
                  <a:srgbClr val="113E36"/>
                </a:solidFill>
                <a:latin typeface="Aptos" pitchFamily="34" charset="0"/>
                <a:ea typeface="Aptos" pitchFamily="34" charset="-122"/>
                <a:cs typeface="Aptos" pitchFamily="34" charset="-120"/>
              </a:rPr>
              <a:t>Saves + shares</a:t>
            </a:r>
            <a:endParaRPr lang="en-US" sz="1000" dirty="0"/>
          </a:p>
        </p:txBody>
      </p:sp>
      <p:sp>
        <p:nvSpPr>
          <p:cNvPr id="14" name="Text 12"/>
          <p:cNvSpPr/>
          <p:nvPr/>
        </p:nvSpPr>
        <p:spPr>
          <a:xfrm>
            <a:off x="3694176" y="1975104"/>
            <a:ext cx="2212848" cy="201168"/>
          </a:xfrm>
          <a:prstGeom prst="rect">
            <a:avLst/>
          </a:prstGeom>
          <a:noFill/>
          <a:ln/>
        </p:spPr>
        <p:txBody>
          <a:bodyPr wrap="square" rtlCol="0" anchor="ctr"/>
          <a:lstStyle/>
          <a:p>
            <a:pPr marL="0" indent="0">
              <a:buNone/>
            </a:pPr>
            <a:r>
              <a:rPr lang="en-US" sz="1600" b="1" dirty="0">
                <a:solidFill>
                  <a:srgbClr val="B48C52"/>
                </a:solidFill>
                <a:latin typeface="Georgia" pitchFamily="34" charset="0"/>
                <a:ea typeface="Georgia" pitchFamily="34" charset="-122"/>
                <a:cs typeface="Georgia" pitchFamily="34" charset="-120"/>
              </a:rPr>
              <a:t>12%+ of engagements</a:t>
            </a:r>
            <a:endParaRPr lang="en-US" sz="1600" dirty="0"/>
          </a:p>
        </p:txBody>
      </p:sp>
      <p:sp>
        <p:nvSpPr>
          <p:cNvPr id="15" name="Text 13"/>
          <p:cNvSpPr/>
          <p:nvPr/>
        </p:nvSpPr>
        <p:spPr>
          <a:xfrm>
            <a:off x="3694176" y="2221992"/>
            <a:ext cx="2212848" cy="667512"/>
          </a:xfrm>
          <a:prstGeom prst="rect">
            <a:avLst/>
          </a:prstGeom>
          <a:noFill/>
          <a:ln/>
        </p:spPr>
        <p:txBody>
          <a:bodyPr wrap="square" rtlCol="0" anchor="ctr"/>
          <a:lstStyle/>
          <a:p>
            <a:pPr marL="0" indent="0">
              <a:buNone/>
            </a:pPr>
            <a:r>
              <a:rPr lang="en-US" sz="880" dirty="0">
                <a:solidFill>
                  <a:srgbClr val="2C2C2C"/>
                </a:solidFill>
                <a:latin typeface="Aptos" pitchFamily="34" charset="0"/>
                <a:ea typeface="Aptos" pitchFamily="34" charset="-122"/>
                <a:cs typeface="Aptos" pitchFamily="34" charset="-120"/>
              </a:rPr>
              <a:t>Signals that the content is useful, aspirational and worth passing on.</a:t>
            </a:r>
            <a:endParaRPr lang="en-US" sz="880" dirty="0"/>
          </a:p>
        </p:txBody>
      </p:sp>
      <p:sp>
        <p:nvSpPr>
          <p:cNvPr id="16" name="Shape 14"/>
          <p:cNvSpPr/>
          <p:nvPr/>
        </p:nvSpPr>
        <p:spPr>
          <a:xfrm>
            <a:off x="6263640" y="1664208"/>
            <a:ext cx="2468880" cy="1325880"/>
          </a:xfrm>
          <a:prstGeom prst="roundRect">
            <a:avLst>
              <a:gd name="adj" fmla="val 4138"/>
            </a:avLst>
          </a:prstGeom>
          <a:solidFill>
            <a:srgbClr val="FBF8F1"/>
          </a:solidFill>
          <a:ln w="12700">
            <a:solidFill>
              <a:srgbClr val="D8CDBA"/>
            </a:solidFill>
            <a:prstDash val="solid"/>
          </a:ln>
        </p:spPr>
        <p:txBody>
          <a:bodyPr/>
          <a:lstStyle/>
          <a:p>
            <a:endParaRPr lang="en-US"/>
          </a:p>
        </p:txBody>
      </p:sp>
      <p:sp>
        <p:nvSpPr>
          <p:cNvPr id="17" name="Text 15"/>
          <p:cNvSpPr/>
          <p:nvPr/>
        </p:nvSpPr>
        <p:spPr>
          <a:xfrm>
            <a:off x="6391656" y="1773936"/>
            <a:ext cx="2212848" cy="182880"/>
          </a:xfrm>
          <a:prstGeom prst="rect">
            <a:avLst/>
          </a:prstGeom>
          <a:noFill/>
          <a:ln/>
        </p:spPr>
        <p:txBody>
          <a:bodyPr wrap="square" rtlCol="0" anchor="ctr"/>
          <a:lstStyle/>
          <a:p>
            <a:pPr marL="0" indent="0">
              <a:buNone/>
            </a:pPr>
            <a:r>
              <a:rPr lang="en-US" sz="1000" b="1" dirty="0">
                <a:solidFill>
                  <a:srgbClr val="113E36"/>
                </a:solidFill>
                <a:latin typeface="Aptos" pitchFamily="34" charset="0"/>
                <a:ea typeface="Aptos" pitchFamily="34" charset="-122"/>
                <a:cs typeface="Aptos" pitchFamily="34" charset="-120"/>
              </a:rPr>
              <a:t>Organic reach</a:t>
            </a:r>
            <a:endParaRPr lang="en-US" sz="1000" dirty="0"/>
          </a:p>
        </p:txBody>
      </p:sp>
      <p:sp>
        <p:nvSpPr>
          <p:cNvPr id="18" name="Text 16"/>
          <p:cNvSpPr/>
          <p:nvPr/>
        </p:nvSpPr>
        <p:spPr>
          <a:xfrm>
            <a:off x="6391656" y="1975104"/>
            <a:ext cx="2212848" cy="201168"/>
          </a:xfrm>
          <a:prstGeom prst="rect">
            <a:avLst/>
          </a:prstGeom>
          <a:noFill/>
          <a:ln/>
        </p:spPr>
        <p:txBody>
          <a:bodyPr wrap="square" rtlCol="0" anchor="ctr"/>
          <a:lstStyle/>
          <a:p>
            <a:pPr marL="0" indent="0">
              <a:buNone/>
            </a:pPr>
            <a:r>
              <a:rPr lang="en-US" sz="1600" b="1" dirty="0">
                <a:solidFill>
                  <a:srgbClr val="B48C52"/>
                </a:solidFill>
                <a:latin typeface="Georgia" pitchFamily="34" charset="0"/>
                <a:ea typeface="Georgia" pitchFamily="34" charset="-122"/>
                <a:cs typeface="Georgia" pitchFamily="34" charset="-120"/>
              </a:rPr>
              <a:t>1.0m–1.5m / 90 days</a:t>
            </a:r>
            <a:endParaRPr lang="en-US" sz="1600" dirty="0"/>
          </a:p>
        </p:txBody>
      </p:sp>
      <p:sp>
        <p:nvSpPr>
          <p:cNvPr id="19" name="Text 17"/>
          <p:cNvSpPr/>
          <p:nvPr/>
        </p:nvSpPr>
        <p:spPr>
          <a:xfrm>
            <a:off x="6391656" y="2221992"/>
            <a:ext cx="2212848" cy="667512"/>
          </a:xfrm>
          <a:prstGeom prst="rect">
            <a:avLst/>
          </a:prstGeom>
          <a:noFill/>
          <a:ln/>
        </p:spPr>
        <p:txBody>
          <a:bodyPr wrap="square" rtlCol="0" anchor="ctr"/>
          <a:lstStyle/>
          <a:p>
            <a:pPr marL="0" indent="0">
              <a:buNone/>
            </a:pPr>
            <a:r>
              <a:rPr lang="en-US" sz="880" dirty="0">
                <a:solidFill>
                  <a:srgbClr val="2C2C2C"/>
                </a:solidFill>
                <a:latin typeface="Aptos" pitchFamily="34" charset="0"/>
                <a:ea typeface="Aptos" pitchFamily="34" charset="-122"/>
                <a:cs typeface="Aptos" pitchFamily="34" charset="-120"/>
              </a:rPr>
              <a:t>Across Dunnes channels and creator participation in launch markets.</a:t>
            </a:r>
            <a:endParaRPr lang="en-US" sz="880" dirty="0"/>
          </a:p>
        </p:txBody>
      </p:sp>
      <p:sp>
        <p:nvSpPr>
          <p:cNvPr id="20" name="Shape 18"/>
          <p:cNvSpPr/>
          <p:nvPr/>
        </p:nvSpPr>
        <p:spPr>
          <a:xfrm>
            <a:off x="8961120" y="1664208"/>
            <a:ext cx="2304288" cy="1325880"/>
          </a:xfrm>
          <a:prstGeom prst="roundRect">
            <a:avLst>
              <a:gd name="adj" fmla="val 4138"/>
            </a:avLst>
          </a:prstGeom>
          <a:solidFill>
            <a:srgbClr val="FBF8F1"/>
          </a:solidFill>
          <a:ln w="12700">
            <a:solidFill>
              <a:srgbClr val="D8CDBA"/>
            </a:solidFill>
            <a:prstDash val="solid"/>
          </a:ln>
        </p:spPr>
        <p:txBody>
          <a:bodyPr/>
          <a:lstStyle/>
          <a:p>
            <a:endParaRPr lang="en-US"/>
          </a:p>
        </p:txBody>
      </p:sp>
      <p:sp>
        <p:nvSpPr>
          <p:cNvPr id="21" name="Text 19"/>
          <p:cNvSpPr/>
          <p:nvPr/>
        </p:nvSpPr>
        <p:spPr>
          <a:xfrm>
            <a:off x="9089136" y="1773936"/>
            <a:ext cx="2048256" cy="182880"/>
          </a:xfrm>
          <a:prstGeom prst="rect">
            <a:avLst/>
          </a:prstGeom>
          <a:noFill/>
          <a:ln/>
        </p:spPr>
        <p:txBody>
          <a:bodyPr wrap="square" rtlCol="0" anchor="ctr"/>
          <a:lstStyle/>
          <a:p>
            <a:pPr marL="0" indent="0">
              <a:buNone/>
            </a:pPr>
            <a:r>
              <a:rPr lang="en-US" sz="1000" b="1" dirty="0">
                <a:solidFill>
                  <a:srgbClr val="113E36"/>
                </a:solidFill>
                <a:latin typeface="Aptos" pitchFamily="34" charset="0"/>
                <a:ea typeface="Aptos" pitchFamily="34" charset="-122"/>
                <a:cs typeface="Aptos" pitchFamily="34" charset="-120"/>
              </a:rPr>
              <a:t>UGC volume</a:t>
            </a:r>
            <a:endParaRPr lang="en-US" sz="1000" dirty="0"/>
          </a:p>
        </p:txBody>
      </p:sp>
      <p:sp>
        <p:nvSpPr>
          <p:cNvPr id="22" name="Text 20"/>
          <p:cNvSpPr/>
          <p:nvPr/>
        </p:nvSpPr>
        <p:spPr>
          <a:xfrm>
            <a:off x="9089136" y="1975104"/>
            <a:ext cx="2048256" cy="201168"/>
          </a:xfrm>
          <a:prstGeom prst="rect">
            <a:avLst/>
          </a:prstGeom>
          <a:noFill/>
          <a:ln/>
        </p:spPr>
        <p:txBody>
          <a:bodyPr wrap="square" rtlCol="0" anchor="ctr"/>
          <a:lstStyle/>
          <a:p>
            <a:pPr marL="0" indent="0">
              <a:buNone/>
            </a:pPr>
            <a:r>
              <a:rPr lang="en-US" sz="1600" b="1" dirty="0">
                <a:solidFill>
                  <a:srgbClr val="B48C52"/>
                </a:solidFill>
                <a:latin typeface="Georgia" pitchFamily="34" charset="0"/>
                <a:ea typeface="Georgia" pitchFamily="34" charset="-122"/>
                <a:cs typeface="Georgia" pitchFamily="34" charset="-120"/>
              </a:rPr>
              <a:t>400+ tagged posts</a:t>
            </a:r>
            <a:endParaRPr lang="en-US" sz="1600" dirty="0"/>
          </a:p>
        </p:txBody>
      </p:sp>
      <p:sp>
        <p:nvSpPr>
          <p:cNvPr id="23" name="Text 21"/>
          <p:cNvSpPr/>
          <p:nvPr/>
        </p:nvSpPr>
        <p:spPr>
          <a:xfrm>
            <a:off x="9089136" y="2221992"/>
            <a:ext cx="2048256" cy="667512"/>
          </a:xfrm>
          <a:prstGeom prst="rect">
            <a:avLst/>
          </a:prstGeom>
          <a:noFill/>
          <a:ln/>
        </p:spPr>
        <p:txBody>
          <a:bodyPr wrap="square" rtlCol="0" anchor="ctr"/>
          <a:lstStyle/>
          <a:p>
            <a:pPr marL="0" indent="0">
              <a:buNone/>
            </a:pPr>
            <a:r>
              <a:rPr lang="en-US" sz="880" dirty="0">
                <a:solidFill>
                  <a:srgbClr val="2C2C2C"/>
                </a:solidFill>
                <a:latin typeface="Aptos" pitchFamily="34" charset="0"/>
                <a:ea typeface="Aptos" pitchFamily="34" charset="-122"/>
                <a:cs typeface="Aptos" pitchFamily="34" charset="-120"/>
              </a:rPr>
              <a:t>Bag shots, haul content, hosting tables, weekly finds and creator remixes.</a:t>
            </a:r>
            <a:endParaRPr lang="en-US" sz="880" dirty="0"/>
          </a:p>
        </p:txBody>
      </p:sp>
      <p:sp>
        <p:nvSpPr>
          <p:cNvPr id="24" name="Shape 22"/>
          <p:cNvSpPr/>
          <p:nvPr/>
        </p:nvSpPr>
        <p:spPr>
          <a:xfrm>
            <a:off x="868680" y="3255264"/>
            <a:ext cx="1508760" cy="256032"/>
          </a:xfrm>
          <a:prstGeom prst="roundRect">
            <a:avLst>
              <a:gd name="adj" fmla="val 28571"/>
            </a:avLst>
          </a:prstGeom>
          <a:solidFill>
            <a:srgbClr val="EDE6DA"/>
          </a:solidFill>
          <a:ln w="12700">
            <a:solidFill>
              <a:srgbClr val="D9CCB8"/>
            </a:solidFill>
            <a:prstDash val="solid"/>
          </a:ln>
        </p:spPr>
        <p:txBody>
          <a:bodyPr/>
          <a:lstStyle/>
          <a:p>
            <a:endParaRPr lang="en-US"/>
          </a:p>
        </p:txBody>
      </p:sp>
      <p:sp>
        <p:nvSpPr>
          <p:cNvPr id="25" name="Text 23"/>
          <p:cNvSpPr/>
          <p:nvPr/>
        </p:nvSpPr>
        <p:spPr>
          <a:xfrm>
            <a:off x="941832" y="3310128"/>
            <a:ext cx="1362456" cy="146304"/>
          </a:xfrm>
          <a:prstGeom prst="rect">
            <a:avLst/>
          </a:prstGeom>
          <a:noFill/>
          <a:ln/>
        </p:spPr>
        <p:txBody>
          <a:bodyPr wrap="square" rtlCol="0" anchor="ctr"/>
          <a:lstStyle/>
          <a:p>
            <a:pPr marL="0" indent="0" algn="ctr">
              <a:buNone/>
            </a:pPr>
            <a:r>
              <a:rPr lang="en-US" sz="800" b="1" dirty="0">
                <a:solidFill>
                  <a:srgbClr val="113E36"/>
                </a:solidFill>
                <a:latin typeface="Aptos" pitchFamily="34" charset="0"/>
                <a:ea typeface="Aptos" pitchFamily="34" charset="-122"/>
                <a:cs typeface="Aptos" pitchFamily="34" charset="-120"/>
              </a:rPr>
              <a:t>PAID DIGITAL TARGETS</a:t>
            </a:r>
            <a:endParaRPr lang="en-US" sz="800" dirty="0"/>
          </a:p>
        </p:txBody>
      </p:sp>
      <p:sp>
        <p:nvSpPr>
          <p:cNvPr id="26" name="Shape 24"/>
          <p:cNvSpPr/>
          <p:nvPr/>
        </p:nvSpPr>
        <p:spPr>
          <a:xfrm>
            <a:off x="868680" y="3566160"/>
            <a:ext cx="2468880" cy="1325880"/>
          </a:xfrm>
          <a:prstGeom prst="roundRect">
            <a:avLst>
              <a:gd name="adj" fmla="val 4138"/>
            </a:avLst>
          </a:prstGeom>
          <a:solidFill>
            <a:srgbClr val="FBF8F1"/>
          </a:solidFill>
          <a:ln w="12700">
            <a:solidFill>
              <a:srgbClr val="D8CDBA"/>
            </a:solidFill>
            <a:prstDash val="solid"/>
          </a:ln>
        </p:spPr>
        <p:txBody>
          <a:bodyPr/>
          <a:lstStyle/>
          <a:p>
            <a:endParaRPr lang="en-US"/>
          </a:p>
        </p:txBody>
      </p:sp>
      <p:sp>
        <p:nvSpPr>
          <p:cNvPr id="27" name="Text 25"/>
          <p:cNvSpPr/>
          <p:nvPr/>
        </p:nvSpPr>
        <p:spPr>
          <a:xfrm>
            <a:off x="996696" y="3675888"/>
            <a:ext cx="2212848" cy="182880"/>
          </a:xfrm>
          <a:prstGeom prst="rect">
            <a:avLst/>
          </a:prstGeom>
          <a:noFill/>
          <a:ln/>
        </p:spPr>
        <p:txBody>
          <a:bodyPr wrap="square" rtlCol="0" anchor="ctr"/>
          <a:lstStyle/>
          <a:p>
            <a:pPr marL="0" indent="0">
              <a:buNone/>
            </a:pPr>
            <a:r>
              <a:rPr lang="en-US" sz="1000" b="1" dirty="0">
                <a:solidFill>
                  <a:srgbClr val="113E36"/>
                </a:solidFill>
                <a:latin typeface="Aptos" pitchFamily="34" charset="0"/>
                <a:ea typeface="Aptos" pitchFamily="34" charset="-122"/>
                <a:cs typeface="Aptos" pitchFamily="34" charset="-120"/>
              </a:rPr>
              <a:t>Meta / TikTok CTR</a:t>
            </a:r>
            <a:endParaRPr lang="en-US" sz="1000" dirty="0"/>
          </a:p>
        </p:txBody>
      </p:sp>
      <p:sp>
        <p:nvSpPr>
          <p:cNvPr id="28" name="Text 26"/>
          <p:cNvSpPr/>
          <p:nvPr/>
        </p:nvSpPr>
        <p:spPr>
          <a:xfrm>
            <a:off x="996696" y="3877056"/>
            <a:ext cx="2212848" cy="201168"/>
          </a:xfrm>
          <a:prstGeom prst="rect">
            <a:avLst/>
          </a:prstGeom>
          <a:noFill/>
          <a:ln/>
        </p:spPr>
        <p:txBody>
          <a:bodyPr wrap="square" rtlCol="0" anchor="ctr"/>
          <a:lstStyle/>
          <a:p>
            <a:pPr marL="0" indent="0">
              <a:buNone/>
            </a:pPr>
            <a:r>
              <a:rPr lang="en-US" sz="1600" b="1" dirty="0">
                <a:solidFill>
                  <a:srgbClr val="B48C52"/>
                </a:solidFill>
                <a:latin typeface="Georgia" pitchFamily="34" charset="0"/>
                <a:ea typeface="Georgia" pitchFamily="34" charset="-122"/>
                <a:cs typeface="Georgia" pitchFamily="34" charset="-120"/>
              </a:rPr>
              <a:t>1.2%–1.8%</a:t>
            </a:r>
            <a:endParaRPr lang="en-US" sz="1600" dirty="0"/>
          </a:p>
        </p:txBody>
      </p:sp>
      <p:sp>
        <p:nvSpPr>
          <p:cNvPr id="29" name="Text 27"/>
          <p:cNvSpPr/>
          <p:nvPr/>
        </p:nvSpPr>
        <p:spPr>
          <a:xfrm>
            <a:off x="996696" y="4123944"/>
            <a:ext cx="2212848" cy="667512"/>
          </a:xfrm>
          <a:prstGeom prst="rect">
            <a:avLst/>
          </a:prstGeom>
          <a:noFill/>
          <a:ln/>
        </p:spPr>
        <p:txBody>
          <a:bodyPr wrap="square" rtlCol="0" anchor="ctr"/>
          <a:lstStyle/>
          <a:p>
            <a:pPr marL="0" indent="0">
              <a:buNone/>
            </a:pPr>
            <a:r>
              <a:rPr lang="en-US" sz="880" dirty="0">
                <a:solidFill>
                  <a:srgbClr val="2C2C2C"/>
                </a:solidFill>
                <a:latin typeface="Aptos" pitchFamily="34" charset="0"/>
                <a:ea typeface="Aptos" pitchFamily="34" charset="-122"/>
                <a:cs typeface="Aptos" pitchFamily="34" charset="-120"/>
              </a:rPr>
              <a:t>Traffic and action campaigns should clear this range in burst periods.</a:t>
            </a:r>
            <a:endParaRPr lang="en-US" sz="880" dirty="0"/>
          </a:p>
        </p:txBody>
      </p:sp>
      <p:sp>
        <p:nvSpPr>
          <p:cNvPr id="30" name="Shape 28"/>
          <p:cNvSpPr/>
          <p:nvPr/>
        </p:nvSpPr>
        <p:spPr>
          <a:xfrm>
            <a:off x="3566160" y="3566160"/>
            <a:ext cx="2468880" cy="1325880"/>
          </a:xfrm>
          <a:prstGeom prst="roundRect">
            <a:avLst>
              <a:gd name="adj" fmla="val 4138"/>
            </a:avLst>
          </a:prstGeom>
          <a:solidFill>
            <a:srgbClr val="FBF8F1"/>
          </a:solidFill>
          <a:ln w="12700">
            <a:solidFill>
              <a:srgbClr val="D8CDBA"/>
            </a:solidFill>
            <a:prstDash val="solid"/>
          </a:ln>
        </p:spPr>
        <p:txBody>
          <a:bodyPr/>
          <a:lstStyle/>
          <a:p>
            <a:endParaRPr lang="en-US"/>
          </a:p>
        </p:txBody>
      </p:sp>
      <p:sp>
        <p:nvSpPr>
          <p:cNvPr id="31" name="Text 29"/>
          <p:cNvSpPr/>
          <p:nvPr/>
        </p:nvSpPr>
        <p:spPr>
          <a:xfrm>
            <a:off x="3694176" y="3675888"/>
            <a:ext cx="2212848" cy="182880"/>
          </a:xfrm>
          <a:prstGeom prst="rect">
            <a:avLst/>
          </a:prstGeom>
          <a:noFill/>
          <a:ln/>
        </p:spPr>
        <p:txBody>
          <a:bodyPr wrap="square" rtlCol="0" anchor="ctr"/>
          <a:lstStyle/>
          <a:p>
            <a:pPr marL="0" indent="0">
              <a:buNone/>
            </a:pPr>
            <a:r>
              <a:rPr lang="en-US" sz="1000" b="1" dirty="0">
                <a:solidFill>
                  <a:srgbClr val="113E36"/>
                </a:solidFill>
                <a:latin typeface="Aptos" pitchFamily="34" charset="0"/>
                <a:ea typeface="Aptos" pitchFamily="34" charset="-122"/>
                <a:cs typeface="Aptos" pitchFamily="34" charset="-120"/>
              </a:rPr>
              <a:t>Video completion</a:t>
            </a:r>
            <a:endParaRPr lang="en-US" sz="1000" dirty="0"/>
          </a:p>
        </p:txBody>
      </p:sp>
      <p:sp>
        <p:nvSpPr>
          <p:cNvPr id="32" name="Text 30"/>
          <p:cNvSpPr/>
          <p:nvPr/>
        </p:nvSpPr>
        <p:spPr>
          <a:xfrm>
            <a:off x="3694176" y="3877056"/>
            <a:ext cx="2212848" cy="201168"/>
          </a:xfrm>
          <a:prstGeom prst="rect">
            <a:avLst/>
          </a:prstGeom>
          <a:noFill/>
          <a:ln/>
        </p:spPr>
        <p:txBody>
          <a:bodyPr wrap="square" rtlCol="0" anchor="ctr"/>
          <a:lstStyle/>
          <a:p>
            <a:pPr marL="0" indent="0">
              <a:buNone/>
            </a:pPr>
            <a:r>
              <a:rPr lang="en-US" sz="1600" b="1" dirty="0">
                <a:solidFill>
                  <a:srgbClr val="B48C52"/>
                </a:solidFill>
                <a:latin typeface="Georgia" pitchFamily="34" charset="0"/>
                <a:ea typeface="Georgia" pitchFamily="34" charset="-122"/>
                <a:cs typeface="Georgia" pitchFamily="34" charset="-120"/>
              </a:rPr>
              <a:t>20%–30%</a:t>
            </a:r>
            <a:endParaRPr lang="en-US" sz="1600" dirty="0"/>
          </a:p>
        </p:txBody>
      </p:sp>
      <p:sp>
        <p:nvSpPr>
          <p:cNvPr id="33" name="Text 31"/>
          <p:cNvSpPr/>
          <p:nvPr/>
        </p:nvSpPr>
        <p:spPr>
          <a:xfrm>
            <a:off x="3694176" y="4123944"/>
            <a:ext cx="2212848" cy="667512"/>
          </a:xfrm>
          <a:prstGeom prst="rect">
            <a:avLst/>
          </a:prstGeom>
          <a:noFill/>
          <a:ln/>
        </p:spPr>
        <p:txBody>
          <a:bodyPr wrap="square" rtlCol="0" anchor="ctr"/>
          <a:lstStyle/>
          <a:p>
            <a:pPr marL="0" indent="0">
              <a:buNone/>
            </a:pPr>
            <a:r>
              <a:rPr lang="en-US" sz="880" dirty="0">
                <a:solidFill>
                  <a:srgbClr val="2C2C2C"/>
                </a:solidFill>
                <a:latin typeface="Aptos" pitchFamily="34" charset="0"/>
                <a:ea typeface="Aptos" pitchFamily="34" charset="-122"/>
                <a:cs typeface="Aptos" pitchFamily="34" charset="-120"/>
              </a:rPr>
              <a:t>For 15s cutdowns; higher on shorter edits and creator cuts.</a:t>
            </a:r>
            <a:endParaRPr lang="en-US" sz="880" dirty="0"/>
          </a:p>
        </p:txBody>
      </p:sp>
      <p:sp>
        <p:nvSpPr>
          <p:cNvPr id="34" name="Shape 32"/>
          <p:cNvSpPr/>
          <p:nvPr/>
        </p:nvSpPr>
        <p:spPr>
          <a:xfrm>
            <a:off x="6263640" y="3566160"/>
            <a:ext cx="2468880" cy="1325880"/>
          </a:xfrm>
          <a:prstGeom prst="roundRect">
            <a:avLst>
              <a:gd name="adj" fmla="val 4138"/>
            </a:avLst>
          </a:prstGeom>
          <a:solidFill>
            <a:srgbClr val="FBF8F1"/>
          </a:solidFill>
          <a:ln w="12700">
            <a:solidFill>
              <a:srgbClr val="D8CDBA"/>
            </a:solidFill>
            <a:prstDash val="solid"/>
          </a:ln>
        </p:spPr>
        <p:txBody>
          <a:bodyPr/>
          <a:lstStyle/>
          <a:p>
            <a:endParaRPr lang="en-US"/>
          </a:p>
        </p:txBody>
      </p:sp>
      <p:sp>
        <p:nvSpPr>
          <p:cNvPr id="35" name="Text 33"/>
          <p:cNvSpPr/>
          <p:nvPr/>
        </p:nvSpPr>
        <p:spPr>
          <a:xfrm>
            <a:off x="6391656" y="3675888"/>
            <a:ext cx="2212848" cy="182880"/>
          </a:xfrm>
          <a:prstGeom prst="rect">
            <a:avLst/>
          </a:prstGeom>
          <a:noFill/>
          <a:ln/>
        </p:spPr>
        <p:txBody>
          <a:bodyPr wrap="square" rtlCol="0" anchor="ctr"/>
          <a:lstStyle/>
          <a:p>
            <a:pPr marL="0" indent="0">
              <a:buNone/>
            </a:pPr>
            <a:r>
              <a:rPr lang="en-US" sz="1000" b="1" dirty="0">
                <a:solidFill>
                  <a:srgbClr val="113E36"/>
                </a:solidFill>
                <a:latin typeface="Aptos" pitchFamily="34" charset="0"/>
                <a:ea typeface="Aptos" pitchFamily="34" charset="-122"/>
                <a:cs typeface="Aptos" pitchFamily="34" charset="-120"/>
              </a:rPr>
              <a:t>CPC</a:t>
            </a:r>
            <a:endParaRPr lang="en-US" sz="1000" dirty="0"/>
          </a:p>
        </p:txBody>
      </p:sp>
      <p:sp>
        <p:nvSpPr>
          <p:cNvPr id="36" name="Text 34"/>
          <p:cNvSpPr/>
          <p:nvPr/>
        </p:nvSpPr>
        <p:spPr>
          <a:xfrm>
            <a:off x="6391656" y="3877056"/>
            <a:ext cx="2212848" cy="201168"/>
          </a:xfrm>
          <a:prstGeom prst="rect">
            <a:avLst/>
          </a:prstGeom>
          <a:noFill/>
          <a:ln/>
        </p:spPr>
        <p:txBody>
          <a:bodyPr wrap="square" rtlCol="0" anchor="ctr"/>
          <a:lstStyle/>
          <a:p>
            <a:pPr marL="0" indent="0">
              <a:buNone/>
            </a:pPr>
            <a:r>
              <a:rPr lang="en-US" sz="1600" b="1" dirty="0">
                <a:solidFill>
                  <a:srgbClr val="B48C52"/>
                </a:solidFill>
                <a:latin typeface="Georgia" pitchFamily="34" charset="0"/>
                <a:ea typeface="Georgia" pitchFamily="34" charset="-122"/>
                <a:cs typeface="Georgia" pitchFamily="34" charset="-120"/>
              </a:rPr>
              <a:t>Below €0.80</a:t>
            </a:r>
            <a:endParaRPr lang="en-US" sz="1600" dirty="0"/>
          </a:p>
        </p:txBody>
      </p:sp>
      <p:sp>
        <p:nvSpPr>
          <p:cNvPr id="37" name="Text 35"/>
          <p:cNvSpPr/>
          <p:nvPr/>
        </p:nvSpPr>
        <p:spPr>
          <a:xfrm>
            <a:off x="6391656" y="4123944"/>
            <a:ext cx="2212848" cy="667512"/>
          </a:xfrm>
          <a:prstGeom prst="rect">
            <a:avLst/>
          </a:prstGeom>
          <a:noFill/>
          <a:ln/>
        </p:spPr>
        <p:txBody>
          <a:bodyPr wrap="square" rtlCol="0" anchor="ctr"/>
          <a:lstStyle/>
          <a:p>
            <a:pPr marL="0" indent="0">
              <a:buNone/>
            </a:pPr>
            <a:r>
              <a:rPr lang="en-US" sz="880" dirty="0">
                <a:solidFill>
                  <a:srgbClr val="2C2C2C"/>
                </a:solidFill>
                <a:latin typeface="Aptos" pitchFamily="34" charset="0"/>
                <a:ea typeface="Aptos" pitchFamily="34" charset="-122"/>
                <a:cs typeface="Aptos" pitchFamily="34" charset="-120"/>
              </a:rPr>
              <a:t>Efficiency benchmark for traffic-driving paid social and retargeting.</a:t>
            </a:r>
            <a:endParaRPr lang="en-US" sz="880" dirty="0"/>
          </a:p>
        </p:txBody>
      </p:sp>
      <p:sp>
        <p:nvSpPr>
          <p:cNvPr id="38" name="Shape 36"/>
          <p:cNvSpPr/>
          <p:nvPr/>
        </p:nvSpPr>
        <p:spPr>
          <a:xfrm>
            <a:off x="8961120" y="3566160"/>
            <a:ext cx="2304288" cy="1325880"/>
          </a:xfrm>
          <a:prstGeom prst="roundRect">
            <a:avLst>
              <a:gd name="adj" fmla="val 4138"/>
            </a:avLst>
          </a:prstGeom>
          <a:solidFill>
            <a:srgbClr val="FBF8F1"/>
          </a:solidFill>
          <a:ln w="12700">
            <a:solidFill>
              <a:srgbClr val="D8CDBA"/>
            </a:solidFill>
            <a:prstDash val="solid"/>
          </a:ln>
        </p:spPr>
        <p:txBody>
          <a:bodyPr/>
          <a:lstStyle/>
          <a:p>
            <a:endParaRPr lang="en-US"/>
          </a:p>
        </p:txBody>
      </p:sp>
      <p:sp>
        <p:nvSpPr>
          <p:cNvPr id="39" name="Text 37"/>
          <p:cNvSpPr/>
          <p:nvPr/>
        </p:nvSpPr>
        <p:spPr>
          <a:xfrm>
            <a:off x="9089136" y="3675888"/>
            <a:ext cx="2048256" cy="182880"/>
          </a:xfrm>
          <a:prstGeom prst="rect">
            <a:avLst/>
          </a:prstGeom>
          <a:noFill/>
          <a:ln/>
        </p:spPr>
        <p:txBody>
          <a:bodyPr wrap="square" rtlCol="0" anchor="ctr"/>
          <a:lstStyle/>
          <a:p>
            <a:pPr marL="0" indent="0">
              <a:buNone/>
            </a:pPr>
            <a:r>
              <a:rPr lang="en-US" sz="1000" b="1" dirty="0">
                <a:solidFill>
                  <a:srgbClr val="113E36"/>
                </a:solidFill>
                <a:latin typeface="Aptos" pitchFamily="34" charset="0"/>
                <a:ea typeface="Aptos" pitchFamily="34" charset="-122"/>
                <a:cs typeface="Aptos" pitchFamily="34" charset="-120"/>
              </a:rPr>
              <a:t>Landing-page visits</a:t>
            </a:r>
            <a:endParaRPr lang="en-US" sz="1000" dirty="0"/>
          </a:p>
        </p:txBody>
      </p:sp>
      <p:sp>
        <p:nvSpPr>
          <p:cNvPr id="40" name="Text 38"/>
          <p:cNvSpPr/>
          <p:nvPr/>
        </p:nvSpPr>
        <p:spPr>
          <a:xfrm>
            <a:off x="9089136" y="3877056"/>
            <a:ext cx="2048256" cy="201168"/>
          </a:xfrm>
          <a:prstGeom prst="rect">
            <a:avLst/>
          </a:prstGeom>
          <a:noFill/>
          <a:ln/>
        </p:spPr>
        <p:txBody>
          <a:bodyPr wrap="square" rtlCol="0" anchor="ctr"/>
          <a:lstStyle/>
          <a:p>
            <a:pPr marL="0" indent="0">
              <a:buNone/>
            </a:pPr>
            <a:r>
              <a:rPr lang="en-US" sz="1600" b="1" dirty="0">
                <a:solidFill>
                  <a:srgbClr val="B48C52"/>
                </a:solidFill>
                <a:latin typeface="Georgia" pitchFamily="34" charset="0"/>
                <a:ea typeface="Georgia" pitchFamily="34" charset="-122"/>
                <a:cs typeface="Georgia" pitchFamily="34" charset="-120"/>
              </a:rPr>
              <a:t>80k–120k</a:t>
            </a:r>
            <a:endParaRPr lang="en-US" sz="1600" dirty="0"/>
          </a:p>
        </p:txBody>
      </p:sp>
      <p:sp>
        <p:nvSpPr>
          <p:cNvPr id="41" name="Text 39"/>
          <p:cNvSpPr/>
          <p:nvPr/>
        </p:nvSpPr>
        <p:spPr>
          <a:xfrm>
            <a:off x="9089136" y="4123944"/>
            <a:ext cx="2048256" cy="667512"/>
          </a:xfrm>
          <a:prstGeom prst="rect">
            <a:avLst/>
          </a:prstGeom>
          <a:noFill/>
          <a:ln/>
        </p:spPr>
        <p:txBody>
          <a:bodyPr wrap="square" rtlCol="0" anchor="ctr"/>
          <a:lstStyle/>
          <a:p>
            <a:pPr marL="0" indent="0">
              <a:buNone/>
            </a:pPr>
            <a:r>
              <a:rPr lang="en-US" sz="880" dirty="0">
                <a:solidFill>
                  <a:srgbClr val="2C2C2C"/>
                </a:solidFill>
                <a:latin typeface="Aptos" pitchFamily="34" charset="0"/>
                <a:ea typeface="Aptos" pitchFamily="34" charset="-122"/>
                <a:cs typeface="Aptos" pitchFamily="34" charset="-120"/>
              </a:rPr>
              <a:t>Across campaign site, recipes, VALUEclub and app journeys.</a:t>
            </a:r>
            <a:endParaRPr lang="en-US" sz="880" dirty="0"/>
          </a:p>
        </p:txBody>
      </p:sp>
      <p:sp>
        <p:nvSpPr>
          <p:cNvPr id="42" name="Shape 40"/>
          <p:cNvSpPr/>
          <p:nvPr/>
        </p:nvSpPr>
        <p:spPr>
          <a:xfrm>
            <a:off x="868680" y="5157216"/>
            <a:ext cx="1508760" cy="256032"/>
          </a:xfrm>
          <a:prstGeom prst="roundRect">
            <a:avLst>
              <a:gd name="adj" fmla="val 28571"/>
            </a:avLst>
          </a:prstGeom>
          <a:solidFill>
            <a:srgbClr val="EDE6DA"/>
          </a:solidFill>
          <a:ln w="12700">
            <a:solidFill>
              <a:srgbClr val="D9CCB8"/>
            </a:solidFill>
            <a:prstDash val="solid"/>
          </a:ln>
        </p:spPr>
        <p:txBody>
          <a:bodyPr/>
          <a:lstStyle/>
          <a:p>
            <a:endParaRPr lang="en-US"/>
          </a:p>
        </p:txBody>
      </p:sp>
      <p:sp>
        <p:nvSpPr>
          <p:cNvPr id="43" name="Text 41"/>
          <p:cNvSpPr/>
          <p:nvPr/>
        </p:nvSpPr>
        <p:spPr>
          <a:xfrm>
            <a:off x="941832" y="5212080"/>
            <a:ext cx="1362456" cy="146304"/>
          </a:xfrm>
          <a:prstGeom prst="rect">
            <a:avLst/>
          </a:prstGeom>
          <a:noFill/>
          <a:ln/>
        </p:spPr>
        <p:txBody>
          <a:bodyPr wrap="square" rtlCol="0" anchor="ctr"/>
          <a:lstStyle/>
          <a:p>
            <a:pPr marL="0" indent="0" algn="ctr">
              <a:buNone/>
            </a:pPr>
            <a:r>
              <a:rPr lang="en-US" sz="800" b="1" dirty="0">
                <a:solidFill>
                  <a:srgbClr val="113E36"/>
                </a:solidFill>
                <a:latin typeface="Aptos" pitchFamily="34" charset="0"/>
                <a:ea typeface="Aptos" pitchFamily="34" charset="-122"/>
                <a:cs typeface="Aptos" pitchFamily="34" charset="-120"/>
              </a:rPr>
              <a:t>RETAIL + OWNED TARGETS</a:t>
            </a:r>
            <a:endParaRPr lang="en-US" sz="800" dirty="0"/>
          </a:p>
        </p:txBody>
      </p:sp>
      <p:sp>
        <p:nvSpPr>
          <p:cNvPr id="44" name="Shape 42"/>
          <p:cNvSpPr/>
          <p:nvPr/>
        </p:nvSpPr>
        <p:spPr>
          <a:xfrm>
            <a:off x="868680" y="5468112"/>
            <a:ext cx="2468880" cy="1051560"/>
          </a:xfrm>
          <a:prstGeom prst="roundRect">
            <a:avLst>
              <a:gd name="adj" fmla="val 5217"/>
            </a:avLst>
          </a:prstGeom>
          <a:solidFill>
            <a:srgbClr val="FBF8F1"/>
          </a:solidFill>
          <a:ln w="12700">
            <a:solidFill>
              <a:srgbClr val="D8CDBA"/>
            </a:solidFill>
            <a:prstDash val="solid"/>
          </a:ln>
        </p:spPr>
        <p:txBody>
          <a:bodyPr/>
          <a:lstStyle/>
          <a:p>
            <a:endParaRPr lang="en-US"/>
          </a:p>
        </p:txBody>
      </p:sp>
      <p:sp>
        <p:nvSpPr>
          <p:cNvPr id="45" name="Text 43"/>
          <p:cNvSpPr/>
          <p:nvPr/>
        </p:nvSpPr>
        <p:spPr>
          <a:xfrm>
            <a:off x="996696" y="5577840"/>
            <a:ext cx="2212848" cy="182880"/>
          </a:xfrm>
          <a:prstGeom prst="rect">
            <a:avLst/>
          </a:prstGeom>
          <a:noFill/>
          <a:ln/>
        </p:spPr>
        <p:txBody>
          <a:bodyPr wrap="square" rtlCol="0" anchor="ctr"/>
          <a:lstStyle/>
          <a:p>
            <a:pPr marL="0" indent="0">
              <a:buNone/>
            </a:pPr>
            <a:r>
              <a:rPr lang="en-US" sz="1000" b="1" dirty="0">
                <a:solidFill>
                  <a:srgbClr val="113E36"/>
                </a:solidFill>
                <a:latin typeface="Aptos" pitchFamily="34" charset="0"/>
                <a:ea typeface="Aptos" pitchFamily="34" charset="-122"/>
                <a:cs typeface="Aptos" pitchFamily="34" charset="-120"/>
              </a:rPr>
              <a:t>QR scans</a:t>
            </a:r>
            <a:endParaRPr lang="en-US" sz="1000" dirty="0"/>
          </a:p>
        </p:txBody>
      </p:sp>
      <p:sp>
        <p:nvSpPr>
          <p:cNvPr id="46" name="Text 44"/>
          <p:cNvSpPr/>
          <p:nvPr/>
        </p:nvSpPr>
        <p:spPr>
          <a:xfrm>
            <a:off x="996696" y="5779008"/>
            <a:ext cx="2212848" cy="201168"/>
          </a:xfrm>
          <a:prstGeom prst="rect">
            <a:avLst/>
          </a:prstGeom>
          <a:noFill/>
          <a:ln/>
        </p:spPr>
        <p:txBody>
          <a:bodyPr wrap="square" rtlCol="0" anchor="ctr"/>
          <a:lstStyle/>
          <a:p>
            <a:pPr marL="0" indent="0">
              <a:buNone/>
            </a:pPr>
            <a:r>
              <a:rPr lang="en-US" sz="1600" b="1" dirty="0">
                <a:solidFill>
                  <a:srgbClr val="B48C52"/>
                </a:solidFill>
                <a:latin typeface="Georgia" pitchFamily="34" charset="0"/>
                <a:ea typeface="Georgia" pitchFamily="34" charset="-122"/>
                <a:cs typeface="Georgia" pitchFamily="34" charset="-120"/>
              </a:rPr>
              <a:t>15k+</a:t>
            </a:r>
            <a:endParaRPr lang="en-US" sz="1600" dirty="0"/>
          </a:p>
        </p:txBody>
      </p:sp>
      <p:sp>
        <p:nvSpPr>
          <p:cNvPr id="47" name="Text 45"/>
          <p:cNvSpPr/>
          <p:nvPr/>
        </p:nvSpPr>
        <p:spPr>
          <a:xfrm>
            <a:off x="996696" y="6025896"/>
            <a:ext cx="2212848" cy="393192"/>
          </a:xfrm>
          <a:prstGeom prst="rect">
            <a:avLst/>
          </a:prstGeom>
          <a:noFill/>
          <a:ln/>
        </p:spPr>
        <p:txBody>
          <a:bodyPr wrap="square" rtlCol="0" anchor="ctr"/>
          <a:lstStyle/>
          <a:p>
            <a:pPr marL="0" indent="0">
              <a:buNone/>
            </a:pPr>
            <a:r>
              <a:rPr lang="en-US" sz="880" dirty="0">
                <a:solidFill>
                  <a:srgbClr val="2C2C2C"/>
                </a:solidFill>
                <a:latin typeface="Aptos" pitchFamily="34" charset="0"/>
                <a:ea typeface="Aptos" pitchFamily="34" charset="-122"/>
                <a:cs typeface="Aptos" pitchFamily="34" charset="-120"/>
              </a:rPr>
              <a:t>From bag, POS and receipt journeys within the launch period.</a:t>
            </a:r>
            <a:endParaRPr lang="en-US" sz="880" dirty="0"/>
          </a:p>
        </p:txBody>
      </p:sp>
      <p:sp>
        <p:nvSpPr>
          <p:cNvPr id="48" name="Shape 46"/>
          <p:cNvSpPr/>
          <p:nvPr/>
        </p:nvSpPr>
        <p:spPr>
          <a:xfrm>
            <a:off x="3566160" y="5468112"/>
            <a:ext cx="2468880" cy="1051560"/>
          </a:xfrm>
          <a:prstGeom prst="roundRect">
            <a:avLst>
              <a:gd name="adj" fmla="val 5217"/>
            </a:avLst>
          </a:prstGeom>
          <a:solidFill>
            <a:srgbClr val="FBF8F1"/>
          </a:solidFill>
          <a:ln w="12700">
            <a:solidFill>
              <a:srgbClr val="D8CDBA"/>
            </a:solidFill>
            <a:prstDash val="solid"/>
          </a:ln>
        </p:spPr>
        <p:txBody>
          <a:bodyPr/>
          <a:lstStyle/>
          <a:p>
            <a:endParaRPr lang="en-US"/>
          </a:p>
        </p:txBody>
      </p:sp>
      <p:sp>
        <p:nvSpPr>
          <p:cNvPr id="49" name="Text 47"/>
          <p:cNvSpPr/>
          <p:nvPr/>
        </p:nvSpPr>
        <p:spPr>
          <a:xfrm>
            <a:off x="3694176" y="5577840"/>
            <a:ext cx="2212848" cy="182880"/>
          </a:xfrm>
          <a:prstGeom prst="rect">
            <a:avLst/>
          </a:prstGeom>
          <a:noFill/>
          <a:ln/>
        </p:spPr>
        <p:txBody>
          <a:bodyPr wrap="square" rtlCol="0" anchor="ctr"/>
          <a:lstStyle/>
          <a:p>
            <a:pPr marL="0" indent="0">
              <a:buNone/>
            </a:pPr>
            <a:r>
              <a:rPr lang="en-US" sz="1000" b="1" dirty="0">
                <a:solidFill>
                  <a:srgbClr val="113E36"/>
                </a:solidFill>
                <a:latin typeface="Aptos" pitchFamily="34" charset="0"/>
                <a:ea typeface="Aptos" pitchFamily="34" charset="-122"/>
                <a:cs typeface="Aptos" pitchFamily="34" charset="-120"/>
              </a:rPr>
              <a:t>App opens</a:t>
            </a:r>
            <a:endParaRPr lang="en-US" sz="1000" dirty="0"/>
          </a:p>
        </p:txBody>
      </p:sp>
      <p:sp>
        <p:nvSpPr>
          <p:cNvPr id="50" name="Text 48"/>
          <p:cNvSpPr/>
          <p:nvPr/>
        </p:nvSpPr>
        <p:spPr>
          <a:xfrm>
            <a:off x="3694176" y="5779008"/>
            <a:ext cx="2212848" cy="201168"/>
          </a:xfrm>
          <a:prstGeom prst="rect">
            <a:avLst/>
          </a:prstGeom>
          <a:noFill/>
          <a:ln/>
        </p:spPr>
        <p:txBody>
          <a:bodyPr wrap="square" rtlCol="0" anchor="ctr"/>
          <a:lstStyle/>
          <a:p>
            <a:pPr marL="0" indent="0">
              <a:buNone/>
            </a:pPr>
            <a:r>
              <a:rPr lang="en-US" sz="1600" b="1" dirty="0">
                <a:solidFill>
                  <a:srgbClr val="B48C52"/>
                </a:solidFill>
                <a:latin typeface="Georgia" pitchFamily="34" charset="0"/>
                <a:ea typeface="Georgia" pitchFamily="34" charset="-122"/>
                <a:cs typeface="Georgia" pitchFamily="34" charset="-120"/>
              </a:rPr>
              <a:t>+8% to +12%</a:t>
            </a:r>
            <a:endParaRPr lang="en-US" sz="1600" dirty="0"/>
          </a:p>
        </p:txBody>
      </p:sp>
      <p:sp>
        <p:nvSpPr>
          <p:cNvPr id="51" name="Text 49"/>
          <p:cNvSpPr/>
          <p:nvPr/>
        </p:nvSpPr>
        <p:spPr>
          <a:xfrm>
            <a:off x="3694176" y="6025896"/>
            <a:ext cx="2212848" cy="393192"/>
          </a:xfrm>
          <a:prstGeom prst="rect">
            <a:avLst/>
          </a:prstGeom>
          <a:noFill/>
          <a:ln/>
        </p:spPr>
        <p:txBody>
          <a:bodyPr wrap="square" rtlCol="0" anchor="ctr"/>
          <a:lstStyle/>
          <a:p>
            <a:pPr marL="0" indent="0">
              <a:buNone/>
            </a:pPr>
            <a:r>
              <a:rPr lang="en-US" sz="880" dirty="0">
                <a:solidFill>
                  <a:srgbClr val="2C2C2C"/>
                </a:solidFill>
                <a:latin typeface="Aptos" pitchFamily="34" charset="0"/>
                <a:ea typeface="Aptos" pitchFamily="34" charset="-122"/>
                <a:cs typeface="Aptos" pitchFamily="34" charset="-120"/>
              </a:rPr>
              <a:t>Lift versus pre-campaign active app baseline.</a:t>
            </a:r>
            <a:endParaRPr lang="en-US" sz="880" dirty="0"/>
          </a:p>
        </p:txBody>
      </p:sp>
      <p:sp>
        <p:nvSpPr>
          <p:cNvPr id="52" name="Shape 50"/>
          <p:cNvSpPr/>
          <p:nvPr/>
        </p:nvSpPr>
        <p:spPr>
          <a:xfrm>
            <a:off x="6263640" y="5468112"/>
            <a:ext cx="2468880" cy="1051560"/>
          </a:xfrm>
          <a:prstGeom prst="roundRect">
            <a:avLst>
              <a:gd name="adj" fmla="val 5217"/>
            </a:avLst>
          </a:prstGeom>
          <a:solidFill>
            <a:srgbClr val="FBF8F1"/>
          </a:solidFill>
          <a:ln w="12700">
            <a:solidFill>
              <a:srgbClr val="D8CDBA"/>
            </a:solidFill>
            <a:prstDash val="solid"/>
          </a:ln>
        </p:spPr>
        <p:txBody>
          <a:bodyPr/>
          <a:lstStyle/>
          <a:p>
            <a:endParaRPr lang="en-US"/>
          </a:p>
        </p:txBody>
      </p:sp>
      <p:sp>
        <p:nvSpPr>
          <p:cNvPr id="53" name="Text 51"/>
          <p:cNvSpPr/>
          <p:nvPr/>
        </p:nvSpPr>
        <p:spPr>
          <a:xfrm>
            <a:off x="6391656" y="5577840"/>
            <a:ext cx="2212848" cy="182880"/>
          </a:xfrm>
          <a:prstGeom prst="rect">
            <a:avLst/>
          </a:prstGeom>
          <a:noFill/>
          <a:ln/>
        </p:spPr>
        <p:txBody>
          <a:bodyPr wrap="square" rtlCol="0" anchor="ctr"/>
          <a:lstStyle/>
          <a:p>
            <a:pPr marL="0" indent="0">
              <a:buNone/>
            </a:pPr>
            <a:r>
              <a:rPr lang="en-US" sz="1000" b="1" dirty="0">
                <a:solidFill>
                  <a:srgbClr val="113E36"/>
                </a:solidFill>
                <a:latin typeface="Aptos" pitchFamily="34" charset="0"/>
                <a:ea typeface="Aptos" pitchFamily="34" charset="-122"/>
                <a:cs typeface="Aptos" pitchFamily="34" charset="-120"/>
              </a:rPr>
              <a:t>Cross-category basket</a:t>
            </a:r>
            <a:endParaRPr lang="en-US" sz="1000" dirty="0"/>
          </a:p>
        </p:txBody>
      </p:sp>
      <p:sp>
        <p:nvSpPr>
          <p:cNvPr id="54" name="Text 52"/>
          <p:cNvSpPr/>
          <p:nvPr/>
        </p:nvSpPr>
        <p:spPr>
          <a:xfrm>
            <a:off x="6391656" y="5779008"/>
            <a:ext cx="2212848" cy="201168"/>
          </a:xfrm>
          <a:prstGeom prst="rect">
            <a:avLst/>
          </a:prstGeom>
          <a:noFill/>
          <a:ln/>
        </p:spPr>
        <p:txBody>
          <a:bodyPr wrap="square" rtlCol="0" anchor="ctr"/>
          <a:lstStyle/>
          <a:p>
            <a:pPr marL="0" indent="0">
              <a:buNone/>
            </a:pPr>
            <a:r>
              <a:rPr lang="en-US" sz="1600" b="1" dirty="0">
                <a:solidFill>
                  <a:srgbClr val="B48C52"/>
                </a:solidFill>
                <a:latin typeface="Georgia" pitchFamily="34" charset="0"/>
                <a:ea typeface="Georgia" pitchFamily="34" charset="-122"/>
                <a:cs typeface="Georgia" pitchFamily="34" charset="-120"/>
              </a:rPr>
              <a:t>+2%</a:t>
            </a:r>
            <a:endParaRPr lang="en-US" sz="1600" dirty="0"/>
          </a:p>
        </p:txBody>
      </p:sp>
      <p:sp>
        <p:nvSpPr>
          <p:cNvPr id="55" name="Text 53"/>
          <p:cNvSpPr/>
          <p:nvPr/>
        </p:nvSpPr>
        <p:spPr>
          <a:xfrm>
            <a:off x="6391656" y="6025896"/>
            <a:ext cx="2212848" cy="393192"/>
          </a:xfrm>
          <a:prstGeom prst="rect">
            <a:avLst/>
          </a:prstGeom>
          <a:noFill/>
          <a:ln/>
        </p:spPr>
        <p:txBody>
          <a:bodyPr wrap="square" rtlCol="0" anchor="ctr"/>
          <a:lstStyle/>
          <a:p>
            <a:pPr marL="0" indent="0">
              <a:buNone/>
            </a:pPr>
            <a:r>
              <a:rPr lang="en-US" sz="880" dirty="0">
                <a:solidFill>
                  <a:srgbClr val="2C2C2C"/>
                </a:solidFill>
                <a:latin typeface="Aptos" pitchFamily="34" charset="0"/>
                <a:ea typeface="Aptos" pitchFamily="34" charset="-122"/>
                <a:cs typeface="Aptos" pitchFamily="34" charset="-120"/>
              </a:rPr>
              <a:t>Increase in baskets containing grocery + fashion / home in selected stores or periods.</a:t>
            </a:r>
            <a:endParaRPr lang="en-US" sz="880" dirty="0"/>
          </a:p>
        </p:txBody>
      </p:sp>
      <p:sp>
        <p:nvSpPr>
          <p:cNvPr id="56" name="Shape 54"/>
          <p:cNvSpPr/>
          <p:nvPr/>
        </p:nvSpPr>
        <p:spPr>
          <a:xfrm>
            <a:off x="8961120" y="5468112"/>
            <a:ext cx="2304288" cy="1051560"/>
          </a:xfrm>
          <a:prstGeom prst="roundRect">
            <a:avLst>
              <a:gd name="adj" fmla="val 5217"/>
            </a:avLst>
          </a:prstGeom>
          <a:solidFill>
            <a:srgbClr val="FBF8F1"/>
          </a:solidFill>
          <a:ln w="12700">
            <a:solidFill>
              <a:srgbClr val="D8CDBA"/>
            </a:solidFill>
            <a:prstDash val="solid"/>
          </a:ln>
        </p:spPr>
        <p:txBody>
          <a:bodyPr/>
          <a:lstStyle/>
          <a:p>
            <a:endParaRPr lang="en-US"/>
          </a:p>
        </p:txBody>
      </p:sp>
      <p:sp>
        <p:nvSpPr>
          <p:cNvPr id="57" name="Text 55"/>
          <p:cNvSpPr/>
          <p:nvPr/>
        </p:nvSpPr>
        <p:spPr>
          <a:xfrm>
            <a:off x="9089136" y="5577840"/>
            <a:ext cx="2048256" cy="182880"/>
          </a:xfrm>
          <a:prstGeom prst="rect">
            <a:avLst/>
          </a:prstGeom>
          <a:noFill/>
          <a:ln/>
        </p:spPr>
        <p:txBody>
          <a:bodyPr wrap="square" rtlCol="0" anchor="ctr"/>
          <a:lstStyle/>
          <a:p>
            <a:pPr marL="0" indent="0">
              <a:buNone/>
            </a:pPr>
            <a:r>
              <a:rPr lang="en-US" sz="1000" b="1" dirty="0">
                <a:solidFill>
                  <a:srgbClr val="113E36"/>
                </a:solidFill>
                <a:latin typeface="Aptos" pitchFamily="34" charset="0"/>
                <a:ea typeface="Aptos" pitchFamily="34" charset="-122"/>
                <a:cs typeface="Aptos" pitchFamily="34" charset="-120"/>
              </a:rPr>
              <a:t>Brand perception</a:t>
            </a:r>
            <a:endParaRPr lang="en-US" sz="1000" dirty="0"/>
          </a:p>
        </p:txBody>
      </p:sp>
      <p:sp>
        <p:nvSpPr>
          <p:cNvPr id="58" name="Text 56"/>
          <p:cNvSpPr/>
          <p:nvPr/>
        </p:nvSpPr>
        <p:spPr>
          <a:xfrm>
            <a:off x="9089136" y="5779008"/>
            <a:ext cx="2048256" cy="201168"/>
          </a:xfrm>
          <a:prstGeom prst="rect">
            <a:avLst/>
          </a:prstGeom>
          <a:noFill/>
          <a:ln/>
        </p:spPr>
        <p:txBody>
          <a:bodyPr wrap="square" rtlCol="0" anchor="ctr"/>
          <a:lstStyle/>
          <a:p>
            <a:pPr marL="0" indent="0">
              <a:buNone/>
            </a:pPr>
            <a:r>
              <a:rPr lang="en-US" sz="1600" b="1" dirty="0">
                <a:solidFill>
                  <a:srgbClr val="B48C52"/>
                </a:solidFill>
                <a:latin typeface="Georgia" pitchFamily="34" charset="0"/>
                <a:ea typeface="Georgia" pitchFamily="34" charset="-122"/>
                <a:cs typeface="Georgia" pitchFamily="34" charset="-120"/>
              </a:rPr>
              <a:t>+5pts</a:t>
            </a:r>
            <a:endParaRPr lang="en-US" sz="1600" dirty="0"/>
          </a:p>
        </p:txBody>
      </p:sp>
      <p:sp>
        <p:nvSpPr>
          <p:cNvPr id="59" name="Text 57"/>
          <p:cNvSpPr/>
          <p:nvPr/>
        </p:nvSpPr>
        <p:spPr>
          <a:xfrm>
            <a:off x="9089136" y="6025896"/>
            <a:ext cx="2048256" cy="393192"/>
          </a:xfrm>
          <a:prstGeom prst="rect">
            <a:avLst/>
          </a:prstGeom>
          <a:noFill/>
          <a:ln/>
        </p:spPr>
        <p:txBody>
          <a:bodyPr wrap="square" rtlCol="0" anchor="ctr"/>
          <a:lstStyle/>
          <a:p>
            <a:pPr marL="0" indent="0">
              <a:buNone/>
            </a:pPr>
            <a:r>
              <a:rPr lang="en-US" sz="880" dirty="0">
                <a:solidFill>
                  <a:srgbClr val="2C2C2C"/>
                </a:solidFill>
                <a:latin typeface="Aptos" pitchFamily="34" charset="0"/>
                <a:ea typeface="Aptos" pitchFamily="34" charset="-122"/>
                <a:cs typeface="Aptos" pitchFamily="34" charset="-120"/>
              </a:rPr>
              <a:t>Lift on “quality / stylish / worth it” associations in post-campaign research.</a:t>
            </a:r>
            <a:endParaRPr lang="en-US" sz="880" dirty="0"/>
          </a:p>
        </p:txBody>
      </p:sp>
      <p:sp>
        <p:nvSpPr>
          <p:cNvPr id="60" name="Slide Number Placeholder 0"/>
          <p:cNvSpPr>
            <a:spLocks noGrp="1"/>
          </p:cNvSpPr>
          <p:nvPr>
            <p:ph type="sldNum" sz="quarter" idx="4294967295"/>
          </p:nvPr>
        </p:nvSpPr>
        <p:spPr>
          <a:xfrm>
            <a:off x="11658600" y="109728"/>
            <a:ext cx="32004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7D746A"/>
                </a:solidFill>
                <a:latin typeface="Aptos"/>
                <a:ea typeface="Aptos"/>
                <a:cs typeface="Aptos"/>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nvSpPr>
        <p:spPr>
          <a:xfrm>
            <a:off x="914400" y="310896"/>
            <a:ext cx="2286000" cy="164592"/>
          </a:xfrm>
          <a:prstGeom prst="rect">
            <a:avLst/>
          </a:prstGeom>
          <a:noFill/>
          <a:ln/>
        </p:spPr>
        <p:txBody>
          <a:bodyPr wrap="square" rtlCol="0" anchor="ctr"/>
          <a:lstStyle/>
          <a:p>
            <a:pPr marL="0" indent="0">
              <a:buNone/>
            </a:pPr>
            <a:r>
              <a:rPr lang="en-US" sz="900" b="1" dirty="0">
                <a:solidFill>
                  <a:srgbClr val="C96E4D"/>
                </a:solidFill>
                <a:latin typeface="Aptos" pitchFamily="34" charset="0"/>
                <a:ea typeface="Aptos" pitchFamily="34" charset="-122"/>
                <a:cs typeface="Aptos" pitchFamily="34" charset="-120"/>
              </a:rPr>
              <a:t>ROLLOUT</a:t>
            </a:r>
            <a:endParaRPr lang="en-US" sz="900" dirty="0"/>
          </a:p>
        </p:txBody>
      </p:sp>
      <p:sp>
        <p:nvSpPr>
          <p:cNvPr id="4" name="Text 2"/>
          <p:cNvSpPr/>
          <p:nvPr/>
        </p:nvSpPr>
        <p:spPr>
          <a:xfrm>
            <a:off x="868680" y="530352"/>
            <a:ext cx="10424160" cy="502920"/>
          </a:xfrm>
          <a:prstGeom prst="rect">
            <a:avLst/>
          </a:prstGeom>
          <a:noFill/>
          <a:ln/>
        </p:spPr>
        <p:txBody>
          <a:bodyPr wrap="square" rtlCol="0" anchor="ctr"/>
          <a:lstStyle/>
          <a:p>
            <a:pPr marL="0" indent="0">
              <a:buNone/>
            </a:pPr>
            <a:r>
              <a:rPr lang="en-US" sz="2400" b="1" dirty="0">
                <a:solidFill>
                  <a:srgbClr val="113E36"/>
                </a:solidFill>
                <a:latin typeface="Georgia" pitchFamily="34" charset="0"/>
                <a:ea typeface="Georgia" pitchFamily="34" charset="-122"/>
                <a:cs typeface="Georgia" pitchFamily="34" charset="-120"/>
              </a:rPr>
              <a:t>How the campaign should land over 6–9 months</a:t>
            </a:r>
            <a:endParaRPr lang="en-US" sz="2400" dirty="0"/>
          </a:p>
        </p:txBody>
      </p:sp>
      <p:sp>
        <p:nvSpPr>
          <p:cNvPr id="5" name="Shape 3"/>
          <p:cNvSpPr/>
          <p:nvPr/>
        </p:nvSpPr>
        <p:spPr>
          <a:xfrm>
            <a:off x="868680" y="1078992"/>
            <a:ext cx="10698480" cy="0"/>
          </a:xfrm>
          <a:prstGeom prst="line">
            <a:avLst/>
          </a:prstGeom>
          <a:noFill/>
          <a:ln w="12700">
            <a:solidFill>
              <a:srgbClr val="D8CDBA"/>
            </a:solidFill>
            <a:prstDash val="solid"/>
          </a:ln>
        </p:spPr>
        <p:txBody>
          <a:bodyPr/>
          <a:lstStyle/>
          <a:p>
            <a:endParaRPr lang="en-US"/>
          </a:p>
        </p:txBody>
      </p:sp>
      <p:sp>
        <p:nvSpPr>
          <p:cNvPr id="6" name="Shape 4"/>
          <p:cNvSpPr/>
          <p:nvPr/>
        </p:nvSpPr>
        <p:spPr>
          <a:xfrm>
            <a:off x="868680" y="1417320"/>
            <a:ext cx="3291840" cy="3291840"/>
          </a:xfrm>
          <a:prstGeom prst="roundRect">
            <a:avLst>
              <a:gd name="adj" fmla="val 2222"/>
            </a:avLst>
          </a:prstGeom>
          <a:solidFill>
            <a:srgbClr val="FBF8F1"/>
          </a:solidFill>
          <a:ln w="12700">
            <a:solidFill>
              <a:srgbClr val="D8CDBA"/>
            </a:solidFill>
            <a:prstDash val="solid"/>
          </a:ln>
          <a:effectLst>
            <a:outerShdw blurRad="19050" dist="12700" dir="2700000" algn="bl" rotWithShape="0">
              <a:srgbClr val="000000">
                <a:alpha val="12000"/>
              </a:srgbClr>
            </a:outerShdw>
          </a:effectLst>
        </p:spPr>
        <p:txBody>
          <a:bodyPr/>
          <a:lstStyle/>
          <a:p>
            <a:endParaRPr lang="en-US"/>
          </a:p>
        </p:txBody>
      </p:sp>
      <p:sp>
        <p:nvSpPr>
          <p:cNvPr id="7" name="Text 5"/>
          <p:cNvSpPr/>
          <p:nvPr/>
        </p:nvSpPr>
        <p:spPr>
          <a:xfrm>
            <a:off x="1033272" y="1554480"/>
            <a:ext cx="2962656"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Phase 1  |  Launch burst</a:t>
            </a:r>
            <a:endParaRPr lang="en-US" sz="1300" dirty="0"/>
          </a:p>
        </p:txBody>
      </p:sp>
      <p:sp>
        <p:nvSpPr>
          <p:cNvPr id="8" name="Text 6"/>
          <p:cNvSpPr/>
          <p:nvPr/>
        </p:nvSpPr>
        <p:spPr>
          <a:xfrm>
            <a:off x="1033272" y="1828800"/>
            <a:ext cx="2962656" cy="2761488"/>
          </a:xfrm>
          <a:prstGeom prst="rect">
            <a:avLst/>
          </a:prstGeom>
          <a:noFill/>
          <a:ln/>
        </p:spPr>
        <p:txBody>
          <a:bodyPr wrap="square" lIns="0" tIns="0" rIns="0" bIns="0" rtlCol="0" anchor="t"/>
          <a:lstStyle/>
          <a:p>
            <a:pPr marL="0" indent="0">
              <a:buNone/>
            </a:pPr>
            <a:r>
              <a:rPr lang="en-US" sz="1100" dirty="0">
                <a:solidFill>
                  <a:srgbClr val="2C2C2C"/>
                </a:solidFill>
                <a:latin typeface="Aptos" pitchFamily="34" charset="0"/>
                <a:ea typeface="Aptos" pitchFamily="34" charset="-122"/>
                <a:cs typeface="Aptos" pitchFamily="34" charset="-120"/>
              </a:rPr>
              <a:t>• OOH near priority stores and commuter routes</a:t>
            </a:r>
            <a:endParaRPr lang="en-US" sz="1100" dirty="0"/>
          </a:p>
          <a:p>
            <a:pPr marL="0" indent="0">
              <a:buNone/>
            </a:pPr>
            <a:r>
              <a:rPr lang="en-US" sz="1100" dirty="0">
                <a:solidFill>
                  <a:srgbClr val="2C2C2C"/>
                </a:solidFill>
                <a:latin typeface="Aptos" pitchFamily="34" charset="0"/>
                <a:ea typeface="Aptos" pitchFamily="34" charset="-122"/>
                <a:cs typeface="Aptos" pitchFamily="34" charset="-120"/>
              </a:rPr>
              <a:t>• Paid social + YouTube cutdowns</a:t>
            </a:r>
            <a:endParaRPr lang="en-US" sz="1100" dirty="0"/>
          </a:p>
          <a:p>
            <a:pPr marL="0" indent="0">
              <a:buNone/>
            </a:pPr>
            <a:r>
              <a:rPr lang="en-US" sz="1100" dirty="0">
                <a:solidFill>
                  <a:srgbClr val="2C2C2C"/>
                </a:solidFill>
                <a:latin typeface="Aptos" pitchFamily="34" charset="0"/>
                <a:ea typeface="Aptos" pitchFamily="34" charset="-122"/>
                <a:cs typeface="Aptos" pitchFamily="34" charset="-120"/>
              </a:rPr>
              <a:t>• New bag roll-out</a:t>
            </a:r>
            <a:endParaRPr lang="en-US" sz="1100" dirty="0"/>
          </a:p>
          <a:p>
            <a:pPr marL="0" indent="0">
              <a:buNone/>
            </a:pPr>
            <a:r>
              <a:rPr lang="en-US" sz="1100" dirty="0">
                <a:solidFill>
                  <a:srgbClr val="2C2C2C"/>
                </a:solidFill>
                <a:latin typeface="Aptos" pitchFamily="34" charset="0"/>
                <a:ea typeface="Aptos" pitchFamily="34" charset="-122"/>
                <a:cs typeface="Aptos" pitchFamily="34" charset="-120"/>
              </a:rPr>
              <a:t>• Store windows and secondary site POS</a:t>
            </a:r>
            <a:endParaRPr lang="en-US" sz="1100" dirty="0"/>
          </a:p>
          <a:p>
            <a:pPr marL="0" indent="0">
              <a:buNone/>
            </a:pPr>
            <a:r>
              <a:rPr lang="en-US" sz="1100" dirty="0">
                <a:solidFill>
                  <a:srgbClr val="2C2C2C"/>
                </a:solidFill>
                <a:latin typeface="Aptos" pitchFamily="34" charset="0"/>
                <a:ea typeface="Aptos" pitchFamily="34" charset="-122"/>
                <a:cs typeface="Aptos" pitchFamily="34" charset="-120"/>
              </a:rPr>
              <a:t>• PR / creator seeding around the bag and the weekly “worth it” basket</a:t>
            </a:r>
            <a:endParaRPr lang="en-US" sz="1100" dirty="0"/>
          </a:p>
        </p:txBody>
      </p:sp>
      <p:sp>
        <p:nvSpPr>
          <p:cNvPr id="9" name="Shape 7"/>
          <p:cNvSpPr/>
          <p:nvPr/>
        </p:nvSpPr>
        <p:spPr>
          <a:xfrm>
            <a:off x="4453128" y="1417320"/>
            <a:ext cx="3291840" cy="3291840"/>
          </a:xfrm>
          <a:prstGeom prst="roundRect">
            <a:avLst>
              <a:gd name="adj" fmla="val 2222"/>
            </a:avLst>
          </a:prstGeom>
          <a:solidFill>
            <a:srgbClr val="FBF8F1"/>
          </a:solidFill>
          <a:ln w="12700">
            <a:solidFill>
              <a:srgbClr val="D8CDBA"/>
            </a:solidFill>
            <a:prstDash val="solid"/>
          </a:ln>
          <a:effectLst>
            <a:outerShdw blurRad="19050" dist="12700" dir="2700000" algn="bl" rotWithShape="0">
              <a:srgbClr val="000000">
                <a:alpha val="12000"/>
              </a:srgbClr>
            </a:outerShdw>
          </a:effectLst>
        </p:spPr>
        <p:txBody>
          <a:bodyPr/>
          <a:lstStyle/>
          <a:p>
            <a:endParaRPr lang="en-US"/>
          </a:p>
        </p:txBody>
      </p:sp>
      <p:sp>
        <p:nvSpPr>
          <p:cNvPr id="10" name="Text 8"/>
          <p:cNvSpPr/>
          <p:nvPr/>
        </p:nvSpPr>
        <p:spPr>
          <a:xfrm>
            <a:off x="4617720" y="1554480"/>
            <a:ext cx="2962656"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Phase 2  |  Sustain</a:t>
            </a:r>
            <a:endParaRPr lang="en-US" sz="1300" dirty="0"/>
          </a:p>
        </p:txBody>
      </p:sp>
      <p:sp>
        <p:nvSpPr>
          <p:cNvPr id="11" name="Text 9"/>
          <p:cNvSpPr/>
          <p:nvPr/>
        </p:nvSpPr>
        <p:spPr>
          <a:xfrm>
            <a:off x="4617720" y="1828800"/>
            <a:ext cx="2962656" cy="2761488"/>
          </a:xfrm>
          <a:prstGeom prst="rect">
            <a:avLst/>
          </a:prstGeom>
          <a:noFill/>
          <a:ln/>
        </p:spPr>
        <p:txBody>
          <a:bodyPr wrap="square" lIns="0" tIns="0" rIns="0" bIns="0" rtlCol="0" anchor="t"/>
          <a:lstStyle/>
          <a:p>
            <a:pPr marL="0" indent="0">
              <a:buNone/>
            </a:pPr>
            <a:r>
              <a:rPr lang="en-US" sz="1100" dirty="0">
                <a:solidFill>
                  <a:srgbClr val="2C2C2C"/>
                </a:solidFill>
                <a:latin typeface="Aptos" pitchFamily="34" charset="0"/>
                <a:ea typeface="Aptos" pitchFamily="34" charset="-122"/>
                <a:cs typeface="Aptos" pitchFamily="34" charset="-120"/>
              </a:rPr>
              <a:t>• Weekly organic edits across food, fashion and home</a:t>
            </a:r>
            <a:endParaRPr lang="en-US" sz="1100" dirty="0"/>
          </a:p>
          <a:p>
            <a:pPr marL="0" indent="0">
              <a:buNone/>
            </a:pPr>
            <a:r>
              <a:rPr lang="en-US" sz="1100" dirty="0">
                <a:solidFill>
                  <a:srgbClr val="2C2C2C"/>
                </a:solidFill>
                <a:latin typeface="Aptos" pitchFamily="34" charset="0"/>
                <a:ea typeface="Aptos" pitchFamily="34" charset="-122"/>
                <a:cs typeface="Aptos" pitchFamily="34" charset="-120"/>
              </a:rPr>
              <a:t>• TikTok / Instagram creator content</a:t>
            </a:r>
            <a:endParaRPr lang="en-US" sz="1100" dirty="0"/>
          </a:p>
          <a:p>
            <a:pPr marL="0" indent="0">
              <a:buNone/>
            </a:pPr>
            <a:r>
              <a:rPr lang="en-US" sz="1100" dirty="0">
                <a:solidFill>
                  <a:srgbClr val="2C2C2C"/>
                </a:solidFill>
                <a:latin typeface="Aptos" pitchFamily="34" charset="0"/>
                <a:ea typeface="Aptos" pitchFamily="34" charset="-122"/>
                <a:cs typeface="Aptos" pitchFamily="34" charset="-120"/>
              </a:rPr>
              <a:t>• App pushes and QR-linked content</a:t>
            </a:r>
            <a:endParaRPr lang="en-US" sz="1100" dirty="0"/>
          </a:p>
          <a:p>
            <a:pPr marL="0" indent="0">
              <a:buNone/>
            </a:pPr>
            <a:r>
              <a:rPr lang="en-US" sz="1100" dirty="0">
                <a:solidFill>
                  <a:srgbClr val="2C2C2C"/>
                </a:solidFill>
                <a:latin typeface="Aptos" pitchFamily="34" charset="0"/>
                <a:ea typeface="Aptos" pitchFamily="34" charset="-122"/>
                <a:cs typeface="Aptos" pitchFamily="34" charset="-120"/>
              </a:rPr>
              <a:t>• “Worth the Squeeze” fresh orange juice moments</a:t>
            </a:r>
            <a:endParaRPr lang="en-US" sz="1100" dirty="0"/>
          </a:p>
          <a:p>
            <a:pPr marL="0" indent="0">
              <a:buNone/>
            </a:pPr>
            <a:r>
              <a:rPr lang="en-US" sz="1100" dirty="0">
                <a:solidFill>
                  <a:srgbClr val="2C2C2C"/>
                </a:solidFill>
                <a:latin typeface="Aptos" pitchFamily="34" charset="0"/>
                <a:ea typeface="Aptos" pitchFamily="34" charset="-122"/>
                <a:cs typeface="Aptos" pitchFamily="34" charset="-120"/>
              </a:rPr>
              <a:t>• “Worth Bringing Back” Re-turn visibility</a:t>
            </a:r>
            <a:endParaRPr lang="en-US" sz="1100" dirty="0"/>
          </a:p>
        </p:txBody>
      </p:sp>
      <p:sp>
        <p:nvSpPr>
          <p:cNvPr id="12" name="Shape 10"/>
          <p:cNvSpPr/>
          <p:nvPr/>
        </p:nvSpPr>
        <p:spPr>
          <a:xfrm>
            <a:off x="8037576" y="1417320"/>
            <a:ext cx="3291840" cy="3291840"/>
          </a:xfrm>
          <a:prstGeom prst="roundRect">
            <a:avLst>
              <a:gd name="adj" fmla="val 2222"/>
            </a:avLst>
          </a:prstGeom>
          <a:solidFill>
            <a:srgbClr val="FBF8F1"/>
          </a:solidFill>
          <a:ln w="12700">
            <a:solidFill>
              <a:srgbClr val="D8CDBA"/>
            </a:solidFill>
            <a:prstDash val="solid"/>
          </a:ln>
          <a:effectLst>
            <a:outerShdw blurRad="19050" dist="12700" dir="2700000" algn="bl" rotWithShape="0">
              <a:srgbClr val="000000">
                <a:alpha val="12000"/>
              </a:srgbClr>
            </a:outerShdw>
          </a:effectLst>
        </p:spPr>
        <p:txBody>
          <a:bodyPr/>
          <a:lstStyle/>
          <a:p>
            <a:endParaRPr lang="en-US"/>
          </a:p>
        </p:txBody>
      </p:sp>
      <p:sp>
        <p:nvSpPr>
          <p:cNvPr id="13" name="Text 11"/>
          <p:cNvSpPr/>
          <p:nvPr/>
        </p:nvSpPr>
        <p:spPr>
          <a:xfrm>
            <a:off x="8202168" y="1554480"/>
            <a:ext cx="2962656" cy="228600"/>
          </a:xfrm>
          <a:prstGeom prst="rect">
            <a:avLst/>
          </a:prstGeom>
          <a:noFill/>
          <a:ln/>
        </p:spPr>
        <p:txBody>
          <a:bodyPr wrap="square" rtlCol="0" anchor="ctr"/>
          <a:lstStyle/>
          <a:p>
            <a:pPr marL="0" indent="0">
              <a:buNone/>
            </a:pPr>
            <a:r>
              <a:rPr lang="en-US" sz="1300" b="1" dirty="0">
                <a:solidFill>
                  <a:srgbClr val="113E36"/>
                </a:solidFill>
                <a:latin typeface="Aptos" pitchFamily="34" charset="0"/>
                <a:ea typeface="Aptos" pitchFamily="34" charset="-122"/>
                <a:cs typeface="Aptos" pitchFamily="34" charset="-120"/>
              </a:rPr>
              <a:t>Phase 3  |  Seasonal peaks</a:t>
            </a:r>
            <a:endParaRPr lang="en-US" sz="1300" dirty="0"/>
          </a:p>
        </p:txBody>
      </p:sp>
      <p:sp>
        <p:nvSpPr>
          <p:cNvPr id="14" name="Text 12"/>
          <p:cNvSpPr/>
          <p:nvPr/>
        </p:nvSpPr>
        <p:spPr>
          <a:xfrm>
            <a:off x="8202168" y="1828800"/>
            <a:ext cx="2962656" cy="2761488"/>
          </a:xfrm>
          <a:prstGeom prst="rect">
            <a:avLst/>
          </a:prstGeom>
          <a:noFill/>
          <a:ln/>
        </p:spPr>
        <p:txBody>
          <a:bodyPr wrap="square" lIns="0" tIns="0" rIns="0" bIns="0" rtlCol="0" anchor="t"/>
          <a:lstStyle/>
          <a:p>
            <a:pPr marL="0" indent="0">
              <a:buNone/>
            </a:pPr>
            <a:r>
              <a:rPr lang="en-US" sz="1100" dirty="0">
                <a:solidFill>
                  <a:srgbClr val="2C2C2C"/>
                </a:solidFill>
                <a:latin typeface="Aptos" pitchFamily="34" charset="0"/>
                <a:ea typeface="Aptos" pitchFamily="34" charset="-122"/>
                <a:cs typeface="Aptos" pitchFamily="34" charset="-120"/>
              </a:rPr>
              <a:t>• Summer picnic / hosting</a:t>
            </a:r>
            <a:endParaRPr lang="en-US" sz="1100" dirty="0"/>
          </a:p>
          <a:p>
            <a:pPr marL="0" indent="0">
              <a:buNone/>
            </a:pPr>
            <a:r>
              <a:rPr lang="en-US" sz="1100" dirty="0">
                <a:solidFill>
                  <a:srgbClr val="2C2C2C"/>
                </a:solidFill>
                <a:latin typeface="Aptos" pitchFamily="34" charset="0"/>
                <a:ea typeface="Aptos" pitchFamily="34" charset="-122"/>
                <a:cs typeface="Aptos" pitchFamily="34" charset="-120"/>
              </a:rPr>
              <a:t>• Back-to-school</a:t>
            </a:r>
            <a:endParaRPr lang="en-US" sz="1100" dirty="0"/>
          </a:p>
          <a:p>
            <a:pPr marL="0" indent="0">
              <a:buNone/>
            </a:pPr>
            <a:r>
              <a:rPr lang="en-US" sz="1100" dirty="0">
                <a:solidFill>
                  <a:srgbClr val="2C2C2C"/>
                </a:solidFill>
                <a:latin typeface="Aptos" pitchFamily="34" charset="0"/>
                <a:ea typeface="Aptos" pitchFamily="34" charset="-122"/>
                <a:cs typeface="Aptos" pitchFamily="34" charset="-120"/>
              </a:rPr>
              <a:t>• Autumn reset</a:t>
            </a:r>
            <a:endParaRPr lang="en-US" sz="1100" dirty="0"/>
          </a:p>
          <a:p>
            <a:pPr marL="0" indent="0">
              <a:buNone/>
            </a:pPr>
            <a:r>
              <a:rPr lang="en-US" sz="1100" dirty="0">
                <a:solidFill>
                  <a:srgbClr val="2C2C2C"/>
                </a:solidFill>
                <a:latin typeface="Aptos" pitchFamily="34" charset="0"/>
                <a:ea typeface="Aptos" pitchFamily="34" charset="-122"/>
                <a:cs typeface="Aptos" pitchFamily="34" charset="-120"/>
              </a:rPr>
              <a:t>• Christmas table + gifting</a:t>
            </a:r>
            <a:endParaRPr lang="en-US" sz="1100" dirty="0"/>
          </a:p>
          <a:p>
            <a:pPr marL="0" indent="0">
              <a:buNone/>
            </a:pPr>
            <a:r>
              <a:rPr lang="en-US" sz="1100" dirty="0">
                <a:solidFill>
                  <a:srgbClr val="2C2C2C"/>
                </a:solidFill>
                <a:latin typeface="Aptos" pitchFamily="34" charset="0"/>
                <a:ea typeface="Aptos" pitchFamily="34" charset="-122"/>
                <a:cs typeface="Aptos" pitchFamily="34" charset="-120"/>
              </a:rPr>
              <a:t>Every phase should reuse the same brand line so the idea compounds over time.</a:t>
            </a:r>
            <a:endParaRPr lang="en-US" sz="1100" dirty="0"/>
          </a:p>
        </p:txBody>
      </p:sp>
      <p:sp>
        <p:nvSpPr>
          <p:cNvPr id="15" name="Shape 13"/>
          <p:cNvSpPr/>
          <p:nvPr/>
        </p:nvSpPr>
        <p:spPr>
          <a:xfrm>
            <a:off x="868680" y="5067300"/>
            <a:ext cx="10460736" cy="914400"/>
          </a:xfrm>
          <a:prstGeom prst="roundRect">
            <a:avLst>
              <a:gd name="adj" fmla="val 8000"/>
            </a:avLst>
          </a:prstGeom>
          <a:solidFill>
            <a:srgbClr val="113E36"/>
          </a:solidFill>
          <a:ln w="12700">
            <a:solidFill>
              <a:srgbClr val="113E36"/>
            </a:solidFill>
            <a:prstDash val="solid"/>
          </a:ln>
        </p:spPr>
        <p:txBody>
          <a:bodyPr/>
          <a:lstStyle/>
          <a:p>
            <a:endParaRPr lang="en-US"/>
          </a:p>
        </p:txBody>
      </p:sp>
      <p:sp>
        <p:nvSpPr>
          <p:cNvPr id="16" name="Text 14"/>
          <p:cNvSpPr/>
          <p:nvPr/>
        </p:nvSpPr>
        <p:spPr>
          <a:xfrm>
            <a:off x="1097280" y="5128768"/>
            <a:ext cx="1920240" cy="164592"/>
          </a:xfrm>
          <a:prstGeom prst="rect">
            <a:avLst/>
          </a:prstGeom>
          <a:noFill/>
          <a:ln/>
        </p:spPr>
        <p:txBody>
          <a:bodyPr wrap="square" rtlCol="0" anchor="ctr"/>
          <a:lstStyle/>
          <a:p>
            <a:pPr marL="0" indent="0">
              <a:buNone/>
            </a:pPr>
            <a:r>
              <a:rPr lang="en-US" sz="1100" b="1" dirty="0">
                <a:solidFill>
                  <a:srgbClr val="D9E5DE"/>
                </a:solidFill>
                <a:latin typeface="Aptos" pitchFamily="34" charset="0"/>
                <a:ea typeface="Aptos" pitchFamily="34" charset="-122"/>
                <a:cs typeface="Aptos" pitchFamily="34" charset="-120"/>
              </a:rPr>
              <a:t>Final recommendation</a:t>
            </a:r>
            <a:endParaRPr lang="en-US" sz="1100" dirty="0"/>
          </a:p>
        </p:txBody>
      </p:sp>
      <p:sp>
        <p:nvSpPr>
          <p:cNvPr id="17" name="Text 15"/>
          <p:cNvSpPr/>
          <p:nvPr/>
        </p:nvSpPr>
        <p:spPr>
          <a:xfrm>
            <a:off x="1097280" y="5468112"/>
            <a:ext cx="9784080" cy="256032"/>
          </a:xfrm>
          <a:prstGeom prst="rect">
            <a:avLst/>
          </a:prstGeom>
          <a:noFill/>
          <a:ln/>
        </p:spPr>
        <p:txBody>
          <a:bodyPr wrap="square"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Dunnes should not try to sound like a cheaper Tesco. It should sound like the place where better everyday choices are worth bringing home.</a:t>
            </a:r>
            <a:endParaRPr lang="en-US" sz="2000" dirty="0"/>
          </a:p>
        </p:txBody>
      </p:sp>
      <p:sp>
        <p:nvSpPr>
          <p:cNvPr id="25" name="Slide Number Placeholder 0"/>
          <p:cNvSpPr>
            <a:spLocks noGrp="1"/>
          </p:cNvSpPr>
          <p:nvPr>
            <p:ph type="sldNum" sz="quarter" idx="4294967295"/>
          </p:nvPr>
        </p:nvSpPr>
        <p:spPr>
          <a:xfrm>
            <a:off x="11658600" y="109728"/>
            <a:ext cx="320040" cy="182880"/>
          </a:xfrm>
          <a:prstGeom prst="rect">
            <a:avLst/>
          </a:prstGeom>
          <a:extLst>
            <a:ext uri="{C572A759-6A51-4108-AA02-DFA0A04FC94B}">
              <ma14:wrappingTextBoxFlag xmlns="" xmlns:ma14="http://schemas.microsoft.com/office/mac/drawingml/2011/main" val="0"/>
            </a:ext>
          </a:extLst>
        </p:spPr>
        <p:txBody>
          <a:bodyPr/>
          <a:lstStyle>
            <a:lvl1pPr>
              <a:defRPr sz="900">
                <a:solidFill>
                  <a:srgbClr val="7D746A"/>
                </a:solidFill>
                <a:latin typeface="Aptos"/>
                <a:ea typeface="Aptos"/>
                <a:cs typeface="Aptos"/>
              </a:defRPr>
            </a:lvl1pPr>
          </a:lstStyle>
          <a:p>
            <a:pPr algn="r"/>
            <a:fld id="{F7021451-1387-4CA6-816F-3879F97B5CBC}" type="slidenum">
              <a:rPr lang="en-US" b="0"/>
              <a:t>14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3040</Words>
  <Application>Microsoft Macintosh PowerPoint</Application>
  <PresentationFormat>Widescreen</PresentationFormat>
  <Paragraphs>313</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Dunnes Stores – Worth Bringing Home</dc:title>
  <dc:subject>Dunnes Stores campaign and packaging strategy</dc:subject>
  <dc:creator>OpenAI</dc:creator>
  <cp:lastModifiedBy>pratyusha patra</cp:lastModifiedBy>
  <cp:revision>3</cp:revision>
  <dcterms:created xsi:type="dcterms:W3CDTF">2026-04-02T13:57:24Z</dcterms:created>
  <dcterms:modified xsi:type="dcterms:W3CDTF">2026-04-29T19:02:39Z</dcterms:modified>
</cp:coreProperties>
</file>